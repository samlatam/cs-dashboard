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E3A"/>
          </a:solidFill>
          <a:ln w="12700">
            <a:solidFill>
              <a:srgbClr val="0F1E3A"/>
            </a:solidFill>
            <a:prstDash val="solid"/>
          </a:ln>
        </p:spPr>
      </p:sp>
      <p:sp>
        <p:nvSpPr>
          <p:cNvPr id="3" name="Shape 1"/>
          <p:cNvSpPr/>
          <p:nvPr/>
        </p:nvSpPr>
        <p:spPr>
          <a:xfrm>
            <a:off x="8229600" y="0"/>
            <a:ext cx="3959352" cy="6858000"/>
          </a:xfrm>
          <a:prstGeom prst="rect">
            <a:avLst/>
          </a:prstGeom>
          <a:solidFill>
            <a:srgbClr val="0A1628"/>
          </a:solidFill>
          <a:ln w="12700">
            <a:solidFill>
              <a:srgbClr val="0A1628"/>
            </a:solidFill>
            <a:prstDash val="solid"/>
          </a:ln>
        </p:spPr>
      </p:sp>
      <p:sp>
        <p:nvSpPr>
          <p:cNvPr id="4" name="Shape 2"/>
          <p:cNvSpPr/>
          <p:nvPr/>
        </p:nvSpPr>
        <p:spPr>
          <a:xfrm>
            <a:off x="8119872" y="0"/>
            <a:ext cx="64008" cy="6858000"/>
          </a:xfrm>
          <a:prstGeom prst="rect">
            <a:avLst/>
          </a:prstGeom>
          <a:solidFill>
            <a:srgbClr val="E89000"/>
          </a:solidFill>
          <a:ln w="12700">
            <a:solidFill>
              <a:srgbClr val="E89000"/>
            </a:solidFill>
            <a:prstDash val="solid"/>
          </a:ln>
        </p:spPr>
      </p:sp>
      <p:sp>
        <p:nvSpPr>
          <p:cNvPr id="5" name="Text 3"/>
          <p:cNvSpPr/>
          <p:nvPr/>
        </p:nvSpPr>
        <p:spPr>
          <a:xfrm>
            <a:off x="457200" y="1371600"/>
            <a:ext cx="7406640" cy="246888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FLUJO DE</a:t>
            </a:r>
            <a:endParaRPr lang="en-US" sz="5400" dirty="0"/>
          </a:p>
          <a:p>
            <a:pPr indent="0" marL="0">
              <a:buNone/>
            </a:pPr>
            <a:r>
              <a:rPr lang="en-US" sz="5400" b="1" dirty="0">
                <a:solidFill>
                  <a:srgbClr val="FFFFFF"/>
                </a:solidFill>
                <a:latin typeface="Calibri" pitchFamily="34" charset="0"/>
                <a:ea typeface="Calibri" pitchFamily="34" charset="-122"/>
                <a:cs typeface="Calibri" pitchFamily="34" charset="-120"/>
              </a:rPr>
              <a:t>UP-SELLING</a:t>
            </a:r>
            <a:endParaRPr lang="en-US" sz="5400" dirty="0"/>
          </a:p>
        </p:txBody>
      </p:sp>
      <p:sp>
        <p:nvSpPr>
          <p:cNvPr id="6" name="Text 4"/>
          <p:cNvSpPr/>
          <p:nvPr/>
        </p:nvSpPr>
        <p:spPr>
          <a:xfrm>
            <a:off x="457200" y="3950208"/>
            <a:ext cx="7406640" cy="749808"/>
          </a:xfrm>
          <a:prstGeom prst="rect">
            <a:avLst/>
          </a:prstGeom>
          <a:noFill/>
          <a:ln/>
        </p:spPr>
        <p:txBody>
          <a:bodyPr wrap="square" rtlCol="0" anchor="ctr"/>
          <a:lstStyle/>
          <a:p>
            <a:pPr indent="0" marL="0">
              <a:buNone/>
            </a:pPr>
            <a:r>
              <a:rPr lang="en-US" sz="1500" i="1" dirty="0">
                <a:solidFill>
                  <a:srgbClr val="D0D8E8"/>
                </a:solidFill>
                <a:latin typeface="Calibri" pitchFamily="34" charset="0"/>
                <a:ea typeface="Calibri" pitchFamily="34" charset="-122"/>
                <a:cs typeface="Calibri" pitchFamily="34" charset="-120"/>
              </a:rPr>
              <a:t>Cómo el CS detecta que el cliente no está usando</a:t>
            </a:r>
            <a:endParaRPr lang="en-US" sz="1500" dirty="0"/>
          </a:p>
          <a:p>
            <a:pPr indent="0" marL="0">
              <a:buNone/>
            </a:pPr>
            <a:r>
              <a:rPr lang="en-US" sz="1500" i="1" dirty="0">
                <a:solidFill>
                  <a:srgbClr val="D0D8E8"/>
                </a:solidFill>
                <a:latin typeface="Calibri" pitchFamily="34" charset="0"/>
                <a:ea typeface="Calibri" pitchFamily="34" charset="-122"/>
                <a:cs typeface="Calibri" pitchFamily="34" charset="-120"/>
              </a:rPr>
              <a:t>todo lo que contrató — y cómo hacer crecer la cuenta</a:t>
            </a:r>
            <a:endParaRPr lang="en-US" sz="1500" dirty="0"/>
          </a:p>
        </p:txBody>
      </p:sp>
      <p:sp>
        <p:nvSpPr>
          <p:cNvPr id="7" name="Text 5"/>
          <p:cNvSpPr/>
          <p:nvPr/>
        </p:nvSpPr>
        <p:spPr>
          <a:xfrm>
            <a:off x="457200" y="4773168"/>
            <a:ext cx="7406640" cy="365760"/>
          </a:xfrm>
          <a:prstGeom prst="rect">
            <a:avLst/>
          </a:prstGeom>
          <a:noFill/>
          <a:ln/>
        </p:spPr>
        <p:txBody>
          <a:bodyPr wrap="square" rtlCol="0" anchor="ctr"/>
          <a:lstStyle/>
          <a:p>
            <a:pPr indent="0" marL="0">
              <a:buNone/>
            </a:pPr>
            <a:r>
              <a:rPr lang="en-US" sz="1400" b="1" dirty="0">
                <a:solidFill>
                  <a:srgbClr val="E89000"/>
                </a:solidFill>
                <a:latin typeface="Calibri" pitchFamily="34" charset="0"/>
                <a:ea typeface="Calibri" pitchFamily="34" charset="-122"/>
                <a:cs typeface="Calibri" pitchFamily="34" charset="-120"/>
              </a:rPr>
              <a:t>AnyMarket LATAM — Customer Success</a:t>
            </a:r>
            <a:endParaRPr lang="en-US" sz="1400" dirty="0"/>
          </a:p>
        </p:txBody>
      </p:sp>
      <p:sp>
        <p:nvSpPr>
          <p:cNvPr id="8" name="Shape 6"/>
          <p:cNvSpPr/>
          <p:nvPr/>
        </p:nvSpPr>
        <p:spPr>
          <a:xfrm>
            <a:off x="8412480" y="1463040"/>
            <a:ext cx="3474720" cy="1188720"/>
          </a:xfrm>
          <a:prstGeom prst="roundRect">
            <a:avLst>
              <a:gd name="adj" fmla="val 7692"/>
            </a:avLst>
          </a:prstGeom>
          <a:solidFill>
            <a:srgbClr val="1A2B4A"/>
          </a:solidFill>
          <a:ln w="12700">
            <a:solidFill>
              <a:srgbClr val="1A56A0"/>
            </a:solidFill>
            <a:prstDash val="solid"/>
          </a:ln>
        </p:spPr>
      </p:sp>
      <p:sp>
        <p:nvSpPr>
          <p:cNvPr id="9" name="Text 7"/>
          <p:cNvSpPr/>
          <p:nvPr/>
        </p:nvSpPr>
        <p:spPr>
          <a:xfrm>
            <a:off x="8412480" y="1508760"/>
            <a:ext cx="3474720" cy="658368"/>
          </a:xfrm>
          <a:prstGeom prst="rect">
            <a:avLst/>
          </a:prstGeom>
          <a:noFill/>
          <a:ln/>
        </p:spPr>
        <p:txBody>
          <a:bodyPr wrap="square" rtlCol="0" anchor="ctr"/>
          <a:lstStyle/>
          <a:p>
            <a:pPr algn="ctr" indent="0" marL="0">
              <a:buNone/>
            </a:pPr>
            <a:r>
              <a:rPr lang="en-US" sz="4000" b="1" dirty="0">
                <a:solidFill>
                  <a:srgbClr val="1A56A0"/>
                </a:solidFill>
                <a:latin typeface="Calibri" pitchFamily="34" charset="0"/>
                <a:ea typeface="Calibri" pitchFamily="34" charset="-122"/>
                <a:cs typeface="Calibri" pitchFamily="34" charset="-120"/>
              </a:rPr>
              <a:t>8</a:t>
            </a:r>
            <a:endParaRPr lang="en-US" sz="4000" dirty="0"/>
          </a:p>
        </p:txBody>
      </p:sp>
      <p:sp>
        <p:nvSpPr>
          <p:cNvPr id="10" name="Text 8"/>
          <p:cNvSpPr/>
          <p:nvPr/>
        </p:nvSpPr>
        <p:spPr>
          <a:xfrm>
            <a:off x="8412480" y="2139696"/>
            <a:ext cx="3474720" cy="384048"/>
          </a:xfrm>
          <a:prstGeom prst="rect">
            <a:avLst/>
          </a:prstGeom>
          <a:noFill/>
          <a:ln/>
        </p:spPr>
        <p:txBody>
          <a:bodyPr wrap="square" rtlCol="0" anchor="ctr"/>
          <a:lstStyle/>
          <a:p>
            <a:pPr algn="ctr" indent="0" marL="0">
              <a:buNone/>
            </a:pPr>
            <a:r>
              <a:rPr lang="en-US" sz="1200" dirty="0">
                <a:solidFill>
                  <a:srgbClr val="D0D8E8"/>
                </a:solidFill>
                <a:latin typeface="Calibri" pitchFamily="34" charset="0"/>
                <a:ea typeface="Calibri" pitchFamily="34" charset="-122"/>
                <a:cs typeface="Calibri" pitchFamily="34" charset="-120"/>
              </a:rPr>
              <a:t>MPs en el plan</a:t>
            </a:r>
            <a:endParaRPr lang="en-US" sz="1200" dirty="0"/>
          </a:p>
        </p:txBody>
      </p:sp>
      <p:sp>
        <p:nvSpPr>
          <p:cNvPr id="11" name="Shape 9"/>
          <p:cNvSpPr/>
          <p:nvPr/>
        </p:nvSpPr>
        <p:spPr>
          <a:xfrm>
            <a:off x="8412480" y="2880360"/>
            <a:ext cx="3474720" cy="1188720"/>
          </a:xfrm>
          <a:prstGeom prst="roundRect">
            <a:avLst>
              <a:gd name="adj" fmla="val 7692"/>
            </a:avLst>
          </a:prstGeom>
          <a:solidFill>
            <a:srgbClr val="1A2B4A"/>
          </a:solidFill>
          <a:ln w="12700">
            <a:solidFill>
              <a:srgbClr val="CC4000"/>
            </a:solidFill>
            <a:prstDash val="solid"/>
          </a:ln>
        </p:spPr>
      </p:sp>
      <p:sp>
        <p:nvSpPr>
          <p:cNvPr id="12" name="Text 10"/>
          <p:cNvSpPr/>
          <p:nvPr/>
        </p:nvSpPr>
        <p:spPr>
          <a:xfrm>
            <a:off x="8412480" y="2926080"/>
            <a:ext cx="3474720" cy="658368"/>
          </a:xfrm>
          <a:prstGeom prst="rect">
            <a:avLst/>
          </a:prstGeom>
          <a:noFill/>
          <a:ln/>
        </p:spPr>
        <p:txBody>
          <a:bodyPr wrap="square" rtlCol="0" anchor="ctr"/>
          <a:lstStyle/>
          <a:p>
            <a:pPr algn="ctr" indent="0" marL="0">
              <a:buNone/>
            </a:pPr>
            <a:r>
              <a:rPr lang="en-US" sz="4000" b="1" dirty="0">
                <a:solidFill>
                  <a:srgbClr val="CC4000"/>
                </a:solidFill>
                <a:latin typeface="Calibri" pitchFamily="34" charset="0"/>
                <a:ea typeface="Calibri" pitchFamily="34" charset="-122"/>
                <a:cs typeface="Calibri" pitchFamily="34" charset="-120"/>
              </a:rPr>
              <a:t>2</a:t>
            </a:r>
            <a:endParaRPr lang="en-US" sz="4000" dirty="0"/>
          </a:p>
        </p:txBody>
      </p:sp>
      <p:sp>
        <p:nvSpPr>
          <p:cNvPr id="13" name="Text 11"/>
          <p:cNvSpPr/>
          <p:nvPr/>
        </p:nvSpPr>
        <p:spPr>
          <a:xfrm>
            <a:off x="8412480" y="3557016"/>
            <a:ext cx="3474720" cy="384048"/>
          </a:xfrm>
          <a:prstGeom prst="rect">
            <a:avLst/>
          </a:prstGeom>
          <a:noFill/>
          <a:ln/>
        </p:spPr>
        <p:txBody>
          <a:bodyPr wrap="square" rtlCol="0" anchor="ctr"/>
          <a:lstStyle/>
          <a:p>
            <a:pPr algn="ctr" indent="0" marL="0">
              <a:buNone/>
            </a:pPr>
            <a:r>
              <a:rPr lang="en-US" sz="1200" dirty="0">
                <a:solidFill>
                  <a:srgbClr val="D0D8E8"/>
                </a:solidFill>
                <a:latin typeface="Calibri" pitchFamily="34" charset="0"/>
                <a:ea typeface="Calibri" pitchFamily="34" charset="-122"/>
                <a:cs typeface="Calibri" pitchFamily="34" charset="-120"/>
              </a:rPr>
              <a:t>MPs activos</a:t>
            </a:r>
            <a:endParaRPr lang="en-US" sz="1200" dirty="0"/>
          </a:p>
        </p:txBody>
      </p:sp>
      <p:sp>
        <p:nvSpPr>
          <p:cNvPr id="14" name="Shape 12"/>
          <p:cNvSpPr/>
          <p:nvPr/>
        </p:nvSpPr>
        <p:spPr>
          <a:xfrm>
            <a:off x="8412480" y="4297680"/>
            <a:ext cx="3474720" cy="1188720"/>
          </a:xfrm>
          <a:prstGeom prst="roundRect">
            <a:avLst>
              <a:gd name="adj" fmla="val 7692"/>
            </a:avLst>
          </a:prstGeom>
          <a:solidFill>
            <a:srgbClr val="1A2B4A"/>
          </a:solidFill>
          <a:ln w="12700">
            <a:solidFill>
              <a:srgbClr val="27AE60"/>
            </a:solidFill>
            <a:prstDash val="solid"/>
          </a:ln>
        </p:spPr>
      </p:sp>
      <p:sp>
        <p:nvSpPr>
          <p:cNvPr id="15" name="Text 13"/>
          <p:cNvSpPr/>
          <p:nvPr/>
        </p:nvSpPr>
        <p:spPr>
          <a:xfrm>
            <a:off x="8412480" y="4343400"/>
            <a:ext cx="3474720" cy="658368"/>
          </a:xfrm>
          <a:prstGeom prst="rect">
            <a:avLst/>
          </a:prstGeom>
          <a:noFill/>
          <a:ln/>
        </p:spPr>
        <p:txBody>
          <a:bodyPr wrap="square" rtlCol="0" anchor="ctr"/>
          <a:lstStyle/>
          <a:p>
            <a:pPr algn="ctr" indent="0" marL="0">
              <a:buNone/>
            </a:pPr>
            <a:r>
              <a:rPr lang="en-US" sz="4000" b="1" dirty="0">
                <a:solidFill>
                  <a:srgbClr val="27AE60"/>
                </a:solidFill>
                <a:latin typeface="Calibri" pitchFamily="34" charset="0"/>
                <a:ea typeface="Calibri" pitchFamily="34" charset="-122"/>
                <a:cs typeface="Calibri" pitchFamily="34" charset="-120"/>
              </a:rPr>
              <a:t>6</a:t>
            </a:r>
            <a:endParaRPr lang="en-US" sz="4000" dirty="0"/>
          </a:p>
        </p:txBody>
      </p:sp>
      <p:sp>
        <p:nvSpPr>
          <p:cNvPr id="16" name="Text 14"/>
          <p:cNvSpPr/>
          <p:nvPr/>
        </p:nvSpPr>
        <p:spPr>
          <a:xfrm>
            <a:off x="8412480" y="4974336"/>
            <a:ext cx="3474720" cy="384048"/>
          </a:xfrm>
          <a:prstGeom prst="rect">
            <a:avLst/>
          </a:prstGeom>
          <a:noFill/>
          <a:ln/>
        </p:spPr>
        <p:txBody>
          <a:bodyPr wrap="square" rtlCol="0" anchor="ctr"/>
          <a:lstStyle/>
          <a:p>
            <a:pPr algn="ctr" indent="0" marL="0">
              <a:buNone/>
            </a:pPr>
            <a:r>
              <a:rPr lang="en-US" sz="1200" dirty="0">
                <a:solidFill>
                  <a:srgbClr val="D0D8E8"/>
                </a:solidFill>
                <a:latin typeface="Calibri" pitchFamily="34" charset="0"/>
                <a:ea typeface="Calibri" pitchFamily="34" charset="-122"/>
                <a:cs typeface="Calibri" pitchFamily="34" charset="-120"/>
              </a:rPr>
              <a:t>Sin explotar</a:t>
            </a:r>
            <a:endParaRPr lang="en-US" sz="1200" dirty="0"/>
          </a:p>
        </p:txBody>
      </p:sp>
      <p:sp>
        <p:nvSpPr>
          <p:cNvPr id="17" name="Text 15"/>
          <p:cNvSpPr/>
          <p:nvPr/>
        </p:nvSpPr>
        <p:spPr>
          <a:xfrm>
            <a:off x="8412480" y="5989320"/>
            <a:ext cx="3474720" cy="347472"/>
          </a:xfrm>
          <a:prstGeom prst="rect">
            <a:avLst/>
          </a:prstGeom>
          <a:noFill/>
          <a:ln/>
        </p:spPr>
        <p:txBody>
          <a:bodyPr wrap="square" rtlCol="0" anchor="ctr"/>
          <a:lstStyle/>
          <a:p>
            <a:pPr algn="ctr" indent="0" marL="0">
              <a:buNone/>
            </a:pPr>
            <a:r>
              <a:rPr lang="en-US" sz="1200" dirty="0">
                <a:solidFill>
                  <a:srgbClr val="8899AA"/>
                </a:solidFill>
                <a:latin typeface="Calibri" pitchFamily="34" charset="0"/>
                <a:ea typeface="Calibri" pitchFamily="34" charset="-122"/>
                <a:cs typeface="Calibri" pitchFamily="34" charset="-120"/>
              </a:rPr>
              <a:t>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E3A"/>
          </a:solidFill>
          <a:ln w="12700">
            <a:solidFill>
              <a:srgbClr val="0F1E3A"/>
            </a:solidFill>
            <a:prstDash val="solid"/>
          </a:ln>
        </p:spPr>
      </p:sp>
      <p:sp>
        <p:nvSpPr>
          <p:cNvPr id="3" name="Shape 1"/>
          <p:cNvSpPr/>
          <p:nvPr/>
        </p:nvSpPr>
        <p:spPr>
          <a:xfrm>
            <a:off x="0" y="0"/>
            <a:ext cx="12188952" cy="512064"/>
          </a:xfrm>
          <a:prstGeom prst="rect">
            <a:avLst/>
          </a:prstGeom>
          <a:solidFill>
            <a:srgbClr val="E89000"/>
          </a:solidFill>
          <a:ln w="12700">
            <a:solidFill>
              <a:srgbClr val="E89000"/>
            </a:solidFill>
            <a:prstDash val="solid"/>
          </a:ln>
        </p:spPr>
      </p:sp>
      <p:sp>
        <p:nvSpPr>
          <p:cNvPr id="4" name="Text 2"/>
          <p:cNvSpPr/>
          <p:nvPr/>
        </p:nvSpPr>
        <p:spPr>
          <a:xfrm>
            <a:off x="182880" y="73152"/>
            <a:ext cx="10972800" cy="384048"/>
          </a:xfrm>
          <a:prstGeom prst="rect">
            <a:avLst/>
          </a:prstGeom>
          <a:noFill/>
          <a:ln/>
        </p:spPr>
        <p:txBody>
          <a:bodyPr wrap="square" rtlCol="0" anchor="ctr"/>
          <a:lstStyle/>
          <a:p>
            <a:pPr indent="0" marL="0">
              <a:buNone/>
            </a:pPr>
            <a:r>
              <a:rPr lang="en-US" sz="1800" b="1" dirty="0">
                <a:solidFill>
                  <a:srgbClr val="0F1E3A"/>
                </a:solidFill>
                <a:latin typeface="Calibri" pitchFamily="34" charset="0"/>
                <a:ea typeface="Calibri" pitchFamily="34" charset="-122"/>
                <a:cs typeface="Calibri" pitchFamily="34" charset="-120"/>
              </a:rPr>
              <a:t>¿Qué es Up-Selling en AnyMarket?</a:t>
            </a:r>
            <a:endParaRPr lang="en-US" sz="1800" dirty="0"/>
          </a:p>
        </p:txBody>
      </p:sp>
      <p:sp>
        <p:nvSpPr>
          <p:cNvPr id="5" name="Text 3"/>
          <p:cNvSpPr/>
          <p:nvPr/>
        </p:nvSpPr>
        <p:spPr>
          <a:xfrm>
            <a:off x="457200" y="640080"/>
            <a:ext cx="11247120" cy="402336"/>
          </a:xfrm>
          <a:prstGeom prst="rect">
            <a:avLst/>
          </a:prstGeom>
          <a:noFill/>
          <a:ln/>
        </p:spPr>
        <p:txBody>
          <a:bodyPr wrap="square" rtlCol="0" anchor="ctr"/>
          <a:lstStyle/>
          <a:p>
            <a:pPr algn="ctr" indent="0" marL="0">
              <a:buNone/>
            </a:pPr>
            <a:r>
              <a:rPr lang="en-US" sz="1500" b="1" dirty="0">
                <a:solidFill>
                  <a:srgbClr val="E8A000"/>
                </a:solidFill>
                <a:latin typeface="Calibri" pitchFamily="34" charset="0"/>
                <a:ea typeface="Calibri" pitchFamily="34" charset="-122"/>
                <a:cs typeface="Calibri" pitchFamily="34" charset="-120"/>
              </a:rPr>
              <a:t>El cliente ya tiene AnyMarket. El Up-Selling es hacer crecer el valor de lo que ya contrató.</a:t>
            </a:r>
            <a:endParaRPr lang="en-US" sz="1500" dirty="0"/>
          </a:p>
        </p:txBody>
      </p:sp>
      <p:sp>
        <p:nvSpPr>
          <p:cNvPr id="6" name="Shape 4"/>
          <p:cNvSpPr/>
          <p:nvPr/>
        </p:nvSpPr>
        <p:spPr>
          <a:xfrm>
            <a:off x="365760" y="1207008"/>
            <a:ext cx="2743200" cy="2724912"/>
          </a:xfrm>
          <a:prstGeom prst="roundRect">
            <a:avLst>
              <a:gd name="adj" fmla="val 4027"/>
            </a:avLst>
          </a:prstGeom>
          <a:solidFill>
            <a:srgbClr val="1A2B4A"/>
          </a:solidFill>
          <a:ln w="12700">
            <a:solidFill>
              <a:srgbClr val="1A56A0"/>
            </a:solidFill>
            <a:prstDash val="solid"/>
          </a:ln>
        </p:spPr>
      </p:sp>
      <p:sp>
        <p:nvSpPr>
          <p:cNvPr id="7" name="Text 5"/>
          <p:cNvSpPr/>
          <p:nvPr/>
        </p:nvSpPr>
        <p:spPr>
          <a:xfrm>
            <a:off x="365760" y="1280160"/>
            <a:ext cx="2743200" cy="621792"/>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457200" y="1883664"/>
            <a:ext cx="2560320" cy="65836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Más</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marketplaces</a:t>
            </a:r>
            <a:endParaRPr lang="en-US" sz="1600" dirty="0"/>
          </a:p>
        </p:txBody>
      </p:sp>
      <p:sp>
        <p:nvSpPr>
          <p:cNvPr id="9" name="Text 7"/>
          <p:cNvSpPr/>
          <p:nvPr/>
        </p:nvSpPr>
        <p:spPr>
          <a:xfrm>
            <a:off x="457200" y="2523744"/>
            <a:ext cx="2560320" cy="1298448"/>
          </a:xfrm>
          <a:prstGeom prst="rect">
            <a:avLst/>
          </a:prstGeom>
          <a:noFill/>
          <a:ln/>
        </p:spPr>
        <p:txBody>
          <a:bodyPr wrap="square" rtlCol="0" anchor="ctr"/>
          <a:lstStyle/>
          <a:p>
            <a:pPr algn="ctr" indent="0" marL="0">
              <a:buNone/>
            </a:pPr>
            <a:r>
              <a:rPr lang="en-US" sz="1200" dirty="0">
                <a:solidFill>
                  <a:srgbClr val="D0D8E8"/>
                </a:solidFill>
                <a:latin typeface="Calibri" pitchFamily="34" charset="0"/>
                <a:ea typeface="Calibri" pitchFamily="34" charset="-122"/>
                <a:cs typeface="Calibri" pitchFamily="34" charset="-120"/>
              </a:rPr>
              <a:t>Plan para 8 MPs, usa 2.</a:t>
            </a:r>
            <a:endParaRPr lang="en-US" sz="1200" dirty="0"/>
          </a:p>
          <a:p>
            <a:pPr algn="ctr" indent="0" marL="0">
              <a:buNone/>
            </a:pPr>
            <a:r>
              <a:rPr lang="en-US" sz="1200" dirty="0">
                <a:solidFill>
                  <a:srgbClr val="D0D8E8"/>
                </a:solidFill>
                <a:latin typeface="Calibri" pitchFamily="34" charset="0"/>
                <a:ea typeface="Calibri" pitchFamily="34" charset="-122"/>
                <a:cs typeface="Calibri" pitchFamily="34" charset="-120"/>
              </a:rPr>
              <a:t>6 canales disponibles</a:t>
            </a:r>
            <a:endParaRPr lang="en-US" sz="1200" dirty="0"/>
          </a:p>
          <a:p>
            <a:pPr algn="ctr" indent="0" marL="0">
              <a:buNone/>
            </a:pPr>
            <a:r>
              <a:rPr lang="en-US" sz="1200" dirty="0">
                <a:solidFill>
                  <a:srgbClr val="D0D8E8"/>
                </a:solidFill>
                <a:latin typeface="Calibri" pitchFamily="34" charset="0"/>
                <a:ea typeface="Calibri" pitchFamily="34" charset="-122"/>
                <a:cs typeface="Calibri" pitchFamily="34" charset="-120"/>
              </a:rPr>
              <a:t>sin activar.</a:t>
            </a:r>
            <a:endParaRPr lang="en-US" sz="1200" dirty="0"/>
          </a:p>
        </p:txBody>
      </p:sp>
      <p:sp>
        <p:nvSpPr>
          <p:cNvPr id="10" name="Shape 8"/>
          <p:cNvSpPr/>
          <p:nvPr/>
        </p:nvSpPr>
        <p:spPr>
          <a:xfrm>
            <a:off x="3310128" y="1207008"/>
            <a:ext cx="2743200" cy="2724912"/>
          </a:xfrm>
          <a:prstGeom prst="roundRect">
            <a:avLst>
              <a:gd name="adj" fmla="val 4027"/>
            </a:avLst>
          </a:prstGeom>
          <a:solidFill>
            <a:srgbClr val="1A2B4A"/>
          </a:solidFill>
          <a:ln w="12700">
            <a:solidFill>
              <a:srgbClr val="1E7A40"/>
            </a:solidFill>
            <a:prstDash val="solid"/>
          </a:ln>
        </p:spPr>
      </p:sp>
      <p:sp>
        <p:nvSpPr>
          <p:cNvPr id="11" name="Text 9"/>
          <p:cNvSpPr/>
          <p:nvPr/>
        </p:nvSpPr>
        <p:spPr>
          <a:xfrm>
            <a:off x="3310128" y="1280160"/>
            <a:ext cx="2743200" cy="621792"/>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3401568" y="1883664"/>
            <a:ext cx="2560320" cy="65836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Mayor</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adopción (UP%)</a:t>
            </a:r>
            <a:endParaRPr lang="en-US" sz="1600" dirty="0"/>
          </a:p>
        </p:txBody>
      </p:sp>
      <p:sp>
        <p:nvSpPr>
          <p:cNvPr id="13" name="Text 11"/>
          <p:cNvSpPr/>
          <p:nvPr/>
        </p:nvSpPr>
        <p:spPr>
          <a:xfrm>
            <a:off x="3401568" y="2523744"/>
            <a:ext cx="2560320" cy="1298448"/>
          </a:xfrm>
          <a:prstGeom prst="rect">
            <a:avLst/>
          </a:prstGeom>
          <a:noFill/>
          <a:ln/>
        </p:spPr>
        <p:txBody>
          <a:bodyPr wrap="square" rtlCol="0" anchor="ctr"/>
          <a:lstStyle/>
          <a:p>
            <a:pPr algn="ctr" indent="0" marL="0">
              <a:buNone/>
            </a:pPr>
            <a:r>
              <a:rPr lang="en-US" sz="1200" dirty="0">
                <a:solidFill>
                  <a:srgbClr val="D0D8E8"/>
                </a:solidFill>
                <a:latin typeface="Calibri" pitchFamily="34" charset="0"/>
                <a:ea typeface="Calibri" pitchFamily="34" charset="-122"/>
                <a:cs typeface="Calibri" pitchFamily="34" charset="-120"/>
              </a:rPr>
              <a:t>Use Points contratados</a:t>
            </a:r>
            <a:endParaRPr lang="en-US" sz="1200" dirty="0"/>
          </a:p>
          <a:p>
            <a:pPr algn="ctr" indent="0" marL="0">
              <a:buNone/>
            </a:pPr>
            <a:r>
              <a:rPr lang="en-US" sz="1200" dirty="0">
                <a:solidFill>
                  <a:srgbClr val="D0D8E8"/>
                </a:solidFill>
                <a:latin typeface="Calibri" pitchFamily="34" charset="0"/>
                <a:ea typeface="Calibri" pitchFamily="34" charset="-122"/>
                <a:cs typeface="Calibri" pitchFamily="34" charset="-120"/>
              </a:rPr>
              <a:t>pero solo el 30-40%</a:t>
            </a:r>
            <a:endParaRPr lang="en-US" sz="1200" dirty="0"/>
          </a:p>
          <a:p>
            <a:pPr algn="ctr" indent="0" marL="0">
              <a:buNone/>
            </a:pPr>
            <a:r>
              <a:rPr lang="en-US" sz="1200" dirty="0">
                <a:solidFill>
                  <a:srgbClr val="D0D8E8"/>
                </a:solidFill>
                <a:latin typeface="Calibri" pitchFamily="34" charset="0"/>
                <a:ea typeface="Calibri" pitchFamily="34" charset="-122"/>
                <a:cs typeface="Calibri" pitchFamily="34" charset="-120"/>
              </a:rPr>
              <a:t>consumido.</a:t>
            </a:r>
            <a:endParaRPr lang="en-US" sz="1200" dirty="0"/>
          </a:p>
        </p:txBody>
      </p:sp>
      <p:sp>
        <p:nvSpPr>
          <p:cNvPr id="14" name="Shape 12"/>
          <p:cNvSpPr/>
          <p:nvPr/>
        </p:nvSpPr>
        <p:spPr>
          <a:xfrm>
            <a:off x="6254496" y="1207008"/>
            <a:ext cx="2743200" cy="2724912"/>
          </a:xfrm>
          <a:prstGeom prst="roundRect">
            <a:avLst>
              <a:gd name="adj" fmla="val 4027"/>
            </a:avLst>
          </a:prstGeom>
          <a:solidFill>
            <a:srgbClr val="1A2B4A"/>
          </a:solidFill>
          <a:ln w="12700">
            <a:solidFill>
              <a:srgbClr val="C07000"/>
            </a:solidFill>
            <a:prstDash val="solid"/>
          </a:ln>
        </p:spPr>
      </p:sp>
      <p:sp>
        <p:nvSpPr>
          <p:cNvPr id="15" name="Text 13"/>
          <p:cNvSpPr/>
          <p:nvPr/>
        </p:nvSpPr>
        <p:spPr>
          <a:xfrm>
            <a:off x="6254496" y="1280160"/>
            <a:ext cx="2743200" cy="621792"/>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6" name="Text 14"/>
          <p:cNvSpPr/>
          <p:nvPr/>
        </p:nvSpPr>
        <p:spPr>
          <a:xfrm>
            <a:off x="6345936" y="1883664"/>
            <a:ext cx="2560320" cy="65836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Más</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SKUs / Catálogo</a:t>
            </a:r>
            <a:endParaRPr lang="en-US" sz="1600" dirty="0"/>
          </a:p>
        </p:txBody>
      </p:sp>
      <p:sp>
        <p:nvSpPr>
          <p:cNvPr id="17" name="Text 15"/>
          <p:cNvSpPr/>
          <p:nvPr/>
        </p:nvSpPr>
        <p:spPr>
          <a:xfrm>
            <a:off x="6345936" y="2523744"/>
            <a:ext cx="2560320" cy="1298448"/>
          </a:xfrm>
          <a:prstGeom prst="rect">
            <a:avLst/>
          </a:prstGeom>
          <a:noFill/>
          <a:ln/>
        </p:spPr>
        <p:txBody>
          <a:bodyPr wrap="square" rtlCol="0" anchor="ctr"/>
          <a:lstStyle/>
          <a:p>
            <a:pPr algn="ctr" indent="0" marL="0">
              <a:buNone/>
            </a:pPr>
            <a:r>
              <a:rPr lang="en-US" sz="1200" dirty="0">
                <a:solidFill>
                  <a:srgbClr val="D0D8E8"/>
                </a:solidFill>
                <a:latin typeface="Calibri" pitchFamily="34" charset="0"/>
                <a:ea typeface="Calibri" pitchFamily="34" charset="-122"/>
                <a:cs typeface="Calibri" pitchFamily="34" charset="-120"/>
              </a:rPr>
              <a:t>Catálogo con espacio</a:t>
            </a:r>
            <a:endParaRPr lang="en-US" sz="1200" dirty="0"/>
          </a:p>
          <a:p>
            <a:pPr algn="ctr" indent="0" marL="0">
              <a:buNone/>
            </a:pPr>
            <a:r>
              <a:rPr lang="en-US" sz="1200" dirty="0">
                <a:solidFill>
                  <a:srgbClr val="D0D8E8"/>
                </a:solidFill>
                <a:latin typeface="Calibri" pitchFamily="34" charset="0"/>
                <a:ea typeface="Calibri" pitchFamily="34" charset="-122"/>
                <a:cs typeface="Calibri" pitchFamily="34" charset="-120"/>
              </a:rPr>
              <a:t>para crecer pero</a:t>
            </a:r>
            <a:endParaRPr lang="en-US" sz="1200" dirty="0"/>
          </a:p>
          <a:p>
            <a:pPr algn="ctr" indent="0" marL="0">
              <a:buNone/>
            </a:pPr>
            <a:r>
              <a:rPr lang="en-US" sz="1200" dirty="0">
                <a:solidFill>
                  <a:srgbClr val="D0D8E8"/>
                </a:solidFill>
                <a:latin typeface="Calibri" pitchFamily="34" charset="0"/>
                <a:ea typeface="Calibri" pitchFamily="34" charset="-122"/>
                <a:cs typeface="Calibri" pitchFamily="34" charset="-120"/>
              </a:rPr>
              <a:t>productos sin publicar.</a:t>
            </a:r>
            <a:endParaRPr lang="en-US" sz="1200" dirty="0"/>
          </a:p>
        </p:txBody>
      </p:sp>
      <p:sp>
        <p:nvSpPr>
          <p:cNvPr id="18" name="Shape 16"/>
          <p:cNvSpPr/>
          <p:nvPr/>
        </p:nvSpPr>
        <p:spPr>
          <a:xfrm>
            <a:off x="9198864" y="1207008"/>
            <a:ext cx="2743200" cy="2724912"/>
          </a:xfrm>
          <a:prstGeom prst="roundRect">
            <a:avLst>
              <a:gd name="adj" fmla="val 4027"/>
            </a:avLst>
          </a:prstGeom>
          <a:solidFill>
            <a:srgbClr val="1A2B4A"/>
          </a:solidFill>
          <a:ln w="12700">
            <a:solidFill>
              <a:srgbClr val="6A35A0"/>
            </a:solidFill>
            <a:prstDash val="solid"/>
          </a:ln>
        </p:spPr>
      </p:sp>
      <p:sp>
        <p:nvSpPr>
          <p:cNvPr id="19" name="Text 17"/>
          <p:cNvSpPr/>
          <p:nvPr/>
        </p:nvSpPr>
        <p:spPr>
          <a:xfrm>
            <a:off x="9198864" y="1280160"/>
            <a:ext cx="2743200" cy="621792"/>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0" name="Text 18"/>
          <p:cNvSpPr/>
          <p:nvPr/>
        </p:nvSpPr>
        <p:spPr>
          <a:xfrm>
            <a:off x="9290304" y="1883664"/>
            <a:ext cx="2560320" cy="65836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Más</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automatización</a:t>
            </a:r>
            <a:endParaRPr lang="en-US" sz="1600" dirty="0"/>
          </a:p>
        </p:txBody>
      </p:sp>
      <p:sp>
        <p:nvSpPr>
          <p:cNvPr id="21" name="Text 19"/>
          <p:cNvSpPr/>
          <p:nvPr/>
        </p:nvSpPr>
        <p:spPr>
          <a:xfrm>
            <a:off x="9290304" y="2523744"/>
            <a:ext cx="2560320" cy="1298448"/>
          </a:xfrm>
          <a:prstGeom prst="rect">
            <a:avLst/>
          </a:prstGeom>
          <a:noFill/>
          <a:ln/>
        </p:spPr>
        <p:txBody>
          <a:bodyPr wrap="square" rtlCol="0" anchor="ctr"/>
          <a:lstStyle/>
          <a:p>
            <a:pPr algn="ctr" indent="0" marL="0">
              <a:buNone/>
            </a:pPr>
            <a:r>
              <a:rPr lang="en-US" sz="1200" dirty="0">
                <a:solidFill>
                  <a:srgbClr val="D0D8E8"/>
                </a:solidFill>
                <a:latin typeface="Calibri" pitchFamily="34" charset="0"/>
                <a:ea typeface="Calibri" pitchFamily="34" charset="-122"/>
                <a:cs typeface="Calibri" pitchFamily="34" charset="-120"/>
              </a:rPr>
              <a:t>Reglas, publicaciones</a:t>
            </a:r>
            <a:endParaRPr lang="en-US" sz="1200" dirty="0"/>
          </a:p>
          <a:p>
            <a:pPr algn="ctr" indent="0" marL="0">
              <a:buNone/>
            </a:pPr>
            <a:r>
              <a:rPr lang="en-US" sz="1200" dirty="0">
                <a:solidFill>
                  <a:srgbClr val="D0D8E8"/>
                </a:solidFill>
                <a:latin typeface="Calibri" pitchFamily="34" charset="0"/>
                <a:ea typeface="Calibri" pitchFamily="34" charset="-122"/>
                <a:cs typeface="Calibri" pitchFamily="34" charset="-120"/>
              </a:rPr>
              <a:t>y gestión aún</a:t>
            </a:r>
            <a:endParaRPr lang="en-US" sz="1200" dirty="0"/>
          </a:p>
          <a:p>
            <a:pPr algn="ctr" indent="0" marL="0">
              <a:buNone/>
            </a:pPr>
            <a:r>
              <a:rPr lang="en-US" sz="1200" dirty="0">
                <a:solidFill>
                  <a:srgbClr val="D0D8E8"/>
                </a:solidFill>
                <a:latin typeface="Calibri" pitchFamily="34" charset="0"/>
                <a:ea typeface="Calibri" pitchFamily="34" charset="-122"/>
                <a:cs typeface="Calibri" pitchFamily="34" charset="-120"/>
              </a:rPr>
              <a:t>manuales.</a:t>
            </a:r>
            <a:endParaRPr lang="en-US" sz="1200" dirty="0"/>
          </a:p>
        </p:txBody>
      </p:sp>
      <p:sp>
        <p:nvSpPr>
          <p:cNvPr id="22" name="Text 20"/>
          <p:cNvSpPr/>
          <p:nvPr/>
        </p:nvSpPr>
        <p:spPr>
          <a:xfrm>
            <a:off x="365760" y="4069080"/>
            <a:ext cx="7315200" cy="329184"/>
          </a:xfrm>
          <a:prstGeom prst="rect">
            <a:avLst/>
          </a:prstGeom>
          <a:noFill/>
          <a:ln/>
        </p:spPr>
        <p:txBody>
          <a:bodyPr wrap="square" rtlCol="0" anchor="ctr"/>
          <a:lstStyle/>
          <a:p>
            <a:pPr indent="0" marL="0">
              <a:buNone/>
            </a:pPr>
            <a:r>
              <a:rPr lang="en-US" sz="1300" b="1" dirty="0">
                <a:solidFill>
                  <a:srgbClr val="E89000"/>
                </a:solidFill>
                <a:latin typeface="Calibri" pitchFamily="34" charset="0"/>
                <a:ea typeface="Calibri" pitchFamily="34" charset="-122"/>
                <a:cs typeface="Calibri" pitchFamily="34" charset="-120"/>
              </a:rPr>
              <a:t>¿Cómo detecta el CSM la oportunidad?</a:t>
            </a:r>
            <a:endParaRPr lang="en-US" sz="1300" dirty="0"/>
          </a:p>
        </p:txBody>
      </p:sp>
      <p:sp>
        <p:nvSpPr>
          <p:cNvPr id="23" name="Shape 21"/>
          <p:cNvSpPr/>
          <p:nvPr/>
        </p:nvSpPr>
        <p:spPr>
          <a:xfrm>
            <a:off x="365760" y="4462272"/>
            <a:ext cx="3703320" cy="1234440"/>
          </a:xfrm>
          <a:prstGeom prst="roundRect">
            <a:avLst>
              <a:gd name="adj" fmla="val 8148"/>
            </a:avLst>
          </a:prstGeom>
          <a:solidFill>
            <a:srgbClr val="1A2B4A"/>
          </a:solidFill>
          <a:ln w="12700">
            <a:solidFill>
              <a:srgbClr val="E89000"/>
            </a:solidFill>
            <a:prstDash val="solid"/>
          </a:ln>
        </p:spPr>
      </p:sp>
      <p:sp>
        <p:nvSpPr>
          <p:cNvPr id="24" name="Text 22"/>
          <p:cNvSpPr/>
          <p:nvPr/>
        </p:nvSpPr>
        <p:spPr>
          <a:xfrm>
            <a:off x="475488" y="4535424"/>
            <a:ext cx="3474720" cy="274320"/>
          </a:xfrm>
          <a:prstGeom prst="rect">
            <a:avLst/>
          </a:prstGeom>
          <a:noFill/>
          <a:ln/>
        </p:spPr>
        <p:txBody>
          <a:bodyPr wrap="square" rtlCol="0" anchor="ctr"/>
          <a:lstStyle/>
          <a:p>
            <a:pPr indent="0" marL="0">
              <a:buNone/>
            </a:pPr>
            <a:r>
              <a:rPr lang="en-US" sz="1200" b="1" dirty="0">
                <a:solidFill>
                  <a:srgbClr val="E89000"/>
                </a:solidFill>
                <a:latin typeface="Calibri" pitchFamily="34" charset="0"/>
                <a:ea typeface="Calibri" pitchFamily="34" charset="-122"/>
                <a:cs typeface="Calibri" pitchFamily="34" charset="-120"/>
              </a:rPr>
              <a:t>AnyMarket</a:t>
            </a:r>
            <a:endParaRPr lang="en-US" sz="1200" dirty="0"/>
          </a:p>
        </p:txBody>
      </p:sp>
      <p:sp>
        <p:nvSpPr>
          <p:cNvPr id="25" name="Text 23"/>
          <p:cNvSpPr/>
          <p:nvPr/>
        </p:nvSpPr>
        <p:spPr>
          <a:xfrm>
            <a:off x="475488" y="4828032"/>
            <a:ext cx="3474720" cy="804672"/>
          </a:xfrm>
          <a:prstGeom prst="rect">
            <a:avLst/>
          </a:prstGeom>
          <a:noFill/>
          <a:ln/>
        </p:spPr>
        <p:txBody>
          <a:bodyPr wrap="square" rtlCol="0" anchor="ctr"/>
          <a:lstStyle/>
          <a:p>
            <a:pPr indent="0" marL="0">
              <a:buNone/>
            </a:pPr>
            <a:r>
              <a:rPr lang="en-US" sz="1100" dirty="0">
                <a:solidFill>
                  <a:srgbClr val="D0D8E8"/>
                </a:solidFill>
                <a:latin typeface="Calibri" pitchFamily="34" charset="0"/>
                <a:ea typeface="Calibri" pitchFamily="34" charset="-122"/>
                <a:cs typeface="Calibri" pitchFamily="34" charset="-120"/>
              </a:rPr>
              <a:t>MPs conectados vs. MPs disponibles en el plan. Volumen de catálogo y publicaciones activas.</a:t>
            </a:r>
            <a:endParaRPr lang="en-US" sz="1100" dirty="0"/>
          </a:p>
        </p:txBody>
      </p:sp>
      <p:sp>
        <p:nvSpPr>
          <p:cNvPr id="26" name="Shape 24"/>
          <p:cNvSpPr/>
          <p:nvPr/>
        </p:nvSpPr>
        <p:spPr>
          <a:xfrm>
            <a:off x="4279392" y="4462272"/>
            <a:ext cx="3703320" cy="1234440"/>
          </a:xfrm>
          <a:prstGeom prst="roundRect">
            <a:avLst>
              <a:gd name="adj" fmla="val 8148"/>
            </a:avLst>
          </a:prstGeom>
          <a:solidFill>
            <a:srgbClr val="1A2B4A"/>
          </a:solidFill>
          <a:ln w="12700">
            <a:solidFill>
              <a:srgbClr val="E89000"/>
            </a:solidFill>
            <a:prstDash val="solid"/>
          </a:ln>
        </p:spPr>
      </p:sp>
      <p:sp>
        <p:nvSpPr>
          <p:cNvPr id="27" name="Text 25"/>
          <p:cNvSpPr/>
          <p:nvPr/>
        </p:nvSpPr>
        <p:spPr>
          <a:xfrm>
            <a:off x="4389120" y="4535424"/>
            <a:ext cx="3474720" cy="274320"/>
          </a:xfrm>
          <a:prstGeom prst="rect">
            <a:avLst/>
          </a:prstGeom>
          <a:noFill/>
          <a:ln/>
        </p:spPr>
        <p:txBody>
          <a:bodyPr wrap="square" rtlCol="0" anchor="ctr"/>
          <a:lstStyle/>
          <a:p>
            <a:pPr indent="0" marL="0">
              <a:buNone/>
            </a:pPr>
            <a:r>
              <a:rPr lang="en-US" sz="1200" b="1" dirty="0">
                <a:solidFill>
                  <a:srgbClr val="E89000"/>
                </a:solidFill>
                <a:latin typeface="Calibri" pitchFamily="34" charset="0"/>
                <a:ea typeface="Calibri" pitchFamily="34" charset="-122"/>
                <a:cs typeface="Calibri" pitchFamily="34" charset="-120"/>
              </a:rPr>
              <a:t>Dashboard UP%</a:t>
            </a:r>
            <a:endParaRPr lang="en-US" sz="1200" dirty="0"/>
          </a:p>
        </p:txBody>
      </p:sp>
      <p:sp>
        <p:nvSpPr>
          <p:cNvPr id="28" name="Text 26"/>
          <p:cNvSpPr/>
          <p:nvPr/>
        </p:nvSpPr>
        <p:spPr>
          <a:xfrm>
            <a:off x="4389120" y="4828032"/>
            <a:ext cx="3474720" cy="804672"/>
          </a:xfrm>
          <a:prstGeom prst="rect">
            <a:avLst/>
          </a:prstGeom>
          <a:noFill/>
          <a:ln/>
        </p:spPr>
        <p:txBody>
          <a:bodyPr wrap="square" rtlCol="0" anchor="ctr"/>
          <a:lstStyle/>
          <a:p>
            <a:pPr indent="0" marL="0">
              <a:buNone/>
            </a:pPr>
            <a:r>
              <a:rPr lang="en-US" sz="1100" dirty="0">
                <a:solidFill>
                  <a:srgbClr val="D0D8E8"/>
                </a:solidFill>
                <a:latin typeface="Calibri" pitchFamily="34" charset="0"/>
                <a:ea typeface="Calibri" pitchFamily="34" charset="-122"/>
                <a:cs typeface="Calibri" pitchFamily="34" charset="-120"/>
              </a:rPr>
              <a:t>qtUp vs. upPlan. Si el cliente consume menos del 50% de sus Use Points — es una señal clara.</a:t>
            </a:r>
            <a:endParaRPr lang="en-US" sz="1100" dirty="0"/>
          </a:p>
        </p:txBody>
      </p:sp>
      <p:sp>
        <p:nvSpPr>
          <p:cNvPr id="29" name="Shape 27"/>
          <p:cNvSpPr/>
          <p:nvPr/>
        </p:nvSpPr>
        <p:spPr>
          <a:xfrm>
            <a:off x="8193024" y="4462272"/>
            <a:ext cx="3703320" cy="1234440"/>
          </a:xfrm>
          <a:prstGeom prst="roundRect">
            <a:avLst>
              <a:gd name="adj" fmla="val 8148"/>
            </a:avLst>
          </a:prstGeom>
          <a:solidFill>
            <a:srgbClr val="1A2B4A"/>
          </a:solidFill>
          <a:ln w="12700">
            <a:solidFill>
              <a:srgbClr val="E89000"/>
            </a:solidFill>
            <a:prstDash val="solid"/>
          </a:ln>
        </p:spPr>
      </p:sp>
      <p:sp>
        <p:nvSpPr>
          <p:cNvPr id="30" name="Text 28"/>
          <p:cNvSpPr/>
          <p:nvPr/>
        </p:nvSpPr>
        <p:spPr>
          <a:xfrm>
            <a:off x="8302752" y="4535424"/>
            <a:ext cx="3474720" cy="274320"/>
          </a:xfrm>
          <a:prstGeom prst="rect">
            <a:avLst/>
          </a:prstGeom>
          <a:noFill/>
          <a:ln/>
        </p:spPr>
        <p:txBody>
          <a:bodyPr wrap="square" rtlCol="0" anchor="ctr"/>
          <a:lstStyle/>
          <a:p>
            <a:pPr indent="0" marL="0">
              <a:buNone/>
            </a:pPr>
            <a:r>
              <a:rPr lang="en-US" sz="1200" b="1" dirty="0">
                <a:solidFill>
                  <a:srgbClr val="E89000"/>
                </a:solidFill>
                <a:latin typeface="Calibri" pitchFamily="34" charset="0"/>
                <a:ea typeface="Calibri" pitchFamily="34" charset="-122"/>
                <a:cs typeface="Calibri" pitchFamily="34" charset="-120"/>
              </a:rPr>
              <a:t>Parcerias</a:t>
            </a:r>
            <a:endParaRPr lang="en-US" sz="1200" dirty="0"/>
          </a:p>
        </p:txBody>
      </p:sp>
      <p:sp>
        <p:nvSpPr>
          <p:cNvPr id="31" name="Text 29"/>
          <p:cNvSpPr/>
          <p:nvPr/>
        </p:nvSpPr>
        <p:spPr>
          <a:xfrm>
            <a:off x="8302752" y="4828032"/>
            <a:ext cx="3474720" cy="804672"/>
          </a:xfrm>
          <a:prstGeom prst="rect">
            <a:avLst/>
          </a:prstGeom>
          <a:noFill/>
          <a:ln/>
        </p:spPr>
        <p:txBody>
          <a:bodyPr wrap="square" rtlCol="0" anchor="ctr"/>
          <a:lstStyle/>
          <a:p>
            <a:pPr indent="0" marL="0">
              <a:buNone/>
            </a:pPr>
            <a:r>
              <a:rPr lang="en-US" sz="1100" dirty="0">
                <a:solidFill>
                  <a:srgbClr val="D0D8E8"/>
                </a:solidFill>
                <a:latin typeface="Calibri" pitchFamily="34" charset="0"/>
                <a:ea typeface="Calibri" pitchFamily="34" charset="-122"/>
                <a:cs typeface="Calibri" pitchFamily="34" charset="-120"/>
              </a:rPr>
              <a:t>El marketplace detecta que un cliente de AnyMarket no tiene activa la integración para ese canal específico.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E3A"/>
          </a:solidFill>
          <a:ln w="12700">
            <a:solidFill>
              <a:srgbClr val="0F1E3A"/>
            </a:solidFill>
            <a:prstDash val="solid"/>
          </a:ln>
        </p:spPr>
      </p:sp>
      <p:sp>
        <p:nvSpPr>
          <p:cNvPr id="3" name="Shape 1"/>
          <p:cNvSpPr/>
          <p:nvPr/>
        </p:nvSpPr>
        <p:spPr>
          <a:xfrm>
            <a:off x="0" y="0"/>
            <a:ext cx="12188952" cy="512064"/>
          </a:xfrm>
          <a:prstGeom prst="rect">
            <a:avLst/>
          </a:prstGeom>
          <a:solidFill>
            <a:srgbClr val="C07000"/>
          </a:solidFill>
          <a:ln w="12700">
            <a:solidFill>
              <a:srgbClr val="C07000"/>
            </a:solidFill>
            <a:prstDash val="solid"/>
          </a:ln>
        </p:spPr>
      </p:sp>
      <p:sp>
        <p:nvSpPr>
          <p:cNvPr id="4" name="Text 2"/>
          <p:cNvSpPr/>
          <p:nvPr/>
        </p:nvSpPr>
        <p:spPr>
          <a:xfrm>
            <a:off x="182880" y="73152"/>
            <a:ext cx="10972800" cy="384048"/>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El caso más frecuente — Plan con 8 MPs, solo 2 activos</a:t>
            </a:r>
            <a:endParaRPr lang="en-US" sz="1800" dirty="0"/>
          </a:p>
        </p:txBody>
      </p:sp>
      <p:sp>
        <p:nvSpPr>
          <p:cNvPr id="5" name="Shape 3"/>
          <p:cNvSpPr/>
          <p:nvPr/>
        </p:nvSpPr>
        <p:spPr>
          <a:xfrm>
            <a:off x="457200" y="749808"/>
            <a:ext cx="3200400" cy="1463040"/>
          </a:xfrm>
          <a:prstGeom prst="roundRect">
            <a:avLst>
              <a:gd name="adj" fmla="val 6250"/>
            </a:avLst>
          </a:prstGeom>
          <a:solidFill>
            <a:srgbClr val="2A3A6A"/>
          </a:solidFill>
          <a:ln w="12700">
            <a:solidFill>
              <a:srgbClr val="2A3A6A"/>
            </a:solidFill>
            <a:prstDash val="solid"/>
          </a:ln>
        </p:spPr>
      </p:sp>
      <p:sp>
        <p:nvSpPr>
          <p:cNvPr id="6" name="Text 4"/>
          <p:cNvSpPr/>
          <p:nvPr/>
        </p:nvSpPr>
        <p:spPr>
          <a:xfrm>
            <a:off x="457200" y="822960"/>
            <a:ext cx="3200400" cy="804672"/>
          </a:xfrm>
          <a:prstGeom prst="rect">
            <a:avLst/>
          </a:prstGeom>
          <a:noFill/>
          <a:ln/>
        </p:spPr>
        <p:txBody>
          <a:bodyPr wrap="square"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8</a:t>
            </a:r>
            <a:endParaRPr lang="en-US" sz="5200" dirty="0"/>
          </a:p>
        </p:txBody>
      </p:sp>
      <p:sp>
        <p:nvSpPr>
          <p:cNvPr id="7" name="Text 5"/>
          <p:cNvSpPr/>
          <p:nvPr/>
        </p:nvSpPr>
        <p:spPr>
          <a:xfrm>
            <a:off x="457200" y="1645920"/>
            <a:ext cx="3200400" cy="475488"/>
          </a:xfrm>
          <a:prstGeom prst="rect">
            <a:avLst/>
          </a:prstGeom>
          <a:noFill/>
          <a:ln/>
        </p:spPr>
        <p:txBody>
          <a:bodyPr wrap="square" rtlCol="0" anchor="ctr"/>
          <a:lstStyle/>
          <a:p>
            <a:pPr algn="ctr" indent="0" marL="0">
              <a:buNone/>
            </a:pPr>
            <a:r>
              <a:rPr lang="en-US" sz="1300" dirty="0">
                <a:solidFill>
                  <a:srgbClr val="DDDDDD"/>
                </a:solidFill>
                <a:latin typeface="Calibri" pitchFamily="34" charset="0"/>
                <a:ea typeface="Calibri" pitchFamily="34" charset="-122"/>
                <a:cs typeface="Calibri" pitchFamily="34" charset="-120"/>
              </a:rPr>
              <a:t>MPs en el plan</a:t>
            </a:r>
            <a:endParaRPr lang="en-US" sz="1300" dirty="0"/>
          </a:p>
        </p:txBody>
      </p:sp>
      <p:sp>
        <p:nvSpPr>
          <p:cNvPr id="8" name="Shape 6"/>
          <p:cNvSpPr/>
          <p:nvPr/>
        </p:nvSpPr>
        <p:spPr>
          <a:xfrm>
            <a:off x="4389120" y="749808"/>
            <a:ext cx="3200400" cy="1463040"/>
          </a:xfrm>
          <a:prstGeom prst="roundRect">
            <a:avLst>
              <a:gd name="adj" fmla="val 6250"/>
            </a:avLst>
          </a:prstGeom>
          <a:solidFill>
            <a:srgbClr val="C0392B"/>
          </a:solidFill>
          <a:ln w="12700">
            <a:solidFill>
              <a:srgbClr val="C0392B"/>
            </a:solidFill>
            <a:prstDash val="solid"/>
          </a:ln>
        </p:spPr>
      </p:sp>
      <p:sp>
        <p:nvSpPr>
          <p:cNvPr id="9" name="Text 7"/>
          <p:cNvSpPr/>
          <p:nvPr/>
        </p:nvSpPr>
        <p:spPr>
          <a:xfrm>
            <a:off x="4389120" y="822960"/>
            <a:ext cx="3200400" cy="804672"/>
          </a:xfrm>
          <a:prstGeom prst="rect">
            <a:avLst/>
          </a:prstGeom>
          <a:noFill/>
          <a:ln/>
        </p:spPr>
        <p:txBody>
          <a:bodyPr wrap="square"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2</a:t>
            </a:r>
            <a:endParaRPr lang="en-US" sz="5200" dirty="0"/>
          </a:p>
        </p:txBody>
      </p:sp>
      <p:sp>
        <p:nvSpPr>
          <p:cNvPr id="10" name="Text 8"/>
          <p:cNvSpPr/>
          <p:nvPr/>
        </p:nvSpPr>
        <p:spPr>
          <a:xfrm>
            <a:off x="4389120" y="1645920"/>
            <a:ext cx="3200400" cy="475488"/>
          </a:xfrm>
          <a:prstGeom prst="rect">
            <a:avLst/>
          </a:prstGeom>
          <a:noFill/>
          <a:ln/>
        </p:spPr>
        <p:txBody>
          <a:bodyPr wrap="square" rtlCol="0" anchor="ctr"/>
          <a:lstStyle/>
          <a:p>
            <a:pPr algn="ctr" indent="0" marL="0">
              <a:buNone/>
            </a:pPr>
            <a:r>
              <a:rPr lang="en-US" sz="1300" dirty="0">
                <a:solidFill>
                  <a:srgbClr val="DDDDDD"/>
                </a:solidFill>
                <a:latin typeface="Calibri" pitchFamily="34" charset="0"/>
                <a:ea typeface="Calibri" pitchFamily="34" charset="-122"/>
                <a:cs typeface="Calibri" pitchFamily="34" charset="-120"/>
              </a:rPr>
              <a:t>MPs activos</a:t>
            </a:r>
            <a:endParaRPr lang="en-US" sz="1300" dirty="0"/>
          </a:p>
        </p:txBody>
      </p:sp>
      <p:sp>
        <p:nvSpPr>
          <p:cNvPr id="11" name="Shape 9"/>
          <p:cNvSpPr/>
          <p:nvPr/>
        </p:nvSpPr>
        <p:spPr>
          <a:xfrm>
            <a:off x="8321040" y="749808"/>
            <a:ext cx="3200400" cy="1463040"/>
          </a:xfrm>
          <a:prstGeom prst="roundRect">
            <a:avLst>
              <a:gd name="adj" fmla="val 6250"/>
            </a:avLst>
          </a:prstGeom>
          <a:solidFill>
            <a:srgbClr val="27AE60"/>
          </a:solidFill>
          <a:ln w="12700">
            <a:solidFill>
              <a:srgbClr val="27AE60"/>
            </a:solidFill>
            <a:prstDash val="solid"/>
          </a:ln>
        </p:spPr>
      </p:sp>
      <p:sp>
        <p:nvSpPr>
          <p:cNvPr id="12" name="Text 10"/>
          <p:cNvSpPr/>
          <p:nvPr/>
        </p:nvSpPr>
        <p:spPr>
          <a:xfrm>
            <a:off x="8321040" y="822960"/>
            <a:ext cx="3200400" cy="804672"/>
          </a:xfrm>
          <a:prstGeom prst="rect">
            <a:avLst/>
          </a:prstGeom>
          <a:noFill/>
          <a:ln/>
        </p:spPr>
        <p:txBody>
          <a:bodyPr wrap="square"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6</a:t>
            </a:r>
            <a:endParaRPr lang="en-US" sz="5200" dirty="0"/>
          </a:p>
        </p:txBody>
      </p:sp>
      <p:sp>
        <p:nvSpPr>
          <p:cNvPr id="13" name="Text 11"/>
          <p:cNvSpPr/>
          <p:nvPr/>
        </p:nvSpPr>
        <p:spPr>
          <a:xfrm>
            <a:off x="8321040" y="1645920"/>
            <a:ext cx="3200400" cy="475488"/>
          </a:xfrm>
          <a:prstGeom prst="rect">
            <a:avLst/>
          </a:prstGeom>
          <a:noFill/>
          <a:ln/>
        </p:spPr>
        <p:txBody>
          <a:bodyPr wrap="square" rtlCol="0" anchor="ctr"/>
          <a:lstStyle/>
          <a:p>
            <a:pPr algn="ctr" indent="0" marL="0">
              <a:buNone/>
            </a:pPr>
            <a:r>
              <a:rPr lang="en-US" sz="1300" dirty="0">
                <a:solidFill>
                  <a:srgbClr val="DDDDDD"/>
                </a:solidFill>
                <a:latin typeface="Calibri" pitchFamily="34" charset="0"/>
                <a:ea typeface="Calibri" pitchFamily="34" charset="-122"/>
                <a:cs typeface="Calibri" pitchFamily="34" charset="-120"/>
              </a:rPr>
              <a:t>Sin explotar</a:t>
            </a:r>
            <a:endParaRPr lang="en-US" sz="1300" dirty="0"/>
          </a:p>
        </p:txBody>
      </p:sp>
      <p:sp>
        <p:nvSpPr>
          <p:cNvPr id="14" name="Text 12"/>
          <p:cNvSpPr/>
          <p:nvPr/>
        </p:nvSpPr>
        <p:spPr>
          <a:xfrm>
            <a:off x="3703320" y="1152144"/>
            <a:ext cx="594360" cy="640080"/>
          </a:xfrm>
          <a:prstGeom prst="rect">
            <a:avLst/>
          </a:prstGeom>
          <a:noFill/>
          <a:ln/>
        </p:spPr>
        <p:txBody>
          <a:bodyPr wrap="square" rtlCol="0" anchor="ctr"/>
          <a:lstStyle/>
          <a:p>
            <a:pPr algn="ctr" indent="0" marL="0">
              <a:buNone/>
            </a:pPr>
            <a:r>
              <a:rPr lang="en-US" sz="2800" b="1" dirty="0">
                <a:solidFill>
                  <a:srgbClr val="E8A000"/>
                </a:solidFill>
                <a:latin typeface="Calibri" pitchFamily="34" charset="0"/>
                <a:ea typeface="Calibri" pitchFamily="34" charset="-122"/>
                <a:cs typeface="Calibri" pitchFamily="34" charset="-120"/>
              </a:rPr>
              <a:t>→</a:t>
            </a:r>
            <a:endParaRPr lang="en-US" sz="2800" dirty="0"/>
          </a:p>
        </p:txBody>
      </p:sp>
      <p:sp>
        <p:nvSpPr>
          <p:cNvPr id="15" name="Text 13"/>
          <p:cNvSpPr/>
          <p:nvPr/>
        </p:nvSpPr>
        <p:spPr>
          <a:xfrm>
            <a:off x="7909560" y="1152144"/>
            <a:ext cx="594360" cy="640080"/>
          </a:xfrm>
          <a:prstGeom prst="rect">
            <a:avLst/>
          </a:prstGeom>
          <a:noFill/>
          <a:ln/>
        </p:spPr>
        <p:txBody>
          <a:bodyPr wrap="square" rtlCol="0" anchor="ctr"/>
          <a:lstStyle/>
          <a:p>
            <a:pPr algn="ctr" indent="0" marL="0">
              <a:buNone/>
            </a:pPr>
            <a:r>
              <a:rPr lang="en-US" sz="2800" b="1" dirty="0">
                <a:solidFill>
                  <a:srgbClr val="E8A000"/>
                </a:solidFill>
                <a:latin typeface="Calibri" pitchFamily="34" charset="0"/>
                <a:ea typeface="Calibri" pitchFamily="34" charset="-122"/>
                <a:cs typeface="Calibri" pitchFamily="34" charset="-120"/>
              </a:rPr>
              <a:t>=</a:t>
            </a:r>
            <a:endParaRPr lang="en-US" sz="2800" dirty="0"/>
          </a:p>
        </p:txBody>
      </p:sp>
      <p:sp>
        <p:nvSpPr>
          <p:cNvPr id="16" name="Shape 14"/>
          <p:cNvSpPr/>
          <p:nvPr/>
        </p:nvSpPr>
        <p:spPr>
          <a:xfrm>
            <a:off x="365760" y="2377440"/>
            <a:ext cx="11475720" cy="658368"/>
          </a:xfrm>
          <a:prstGeom prst="roundRect">
            <a:avLst>
              <a:gd name="adj" fmla="val 15278"/>
            </a:avLst>
          </a:prstGeom>
          <a:solidFill>
            <a:srgbClr val="1A1400"/>
          </a:solidFill>
          <a:ln w="12700">
            <a:solidFill>
              <a:srgbClr val="E8A000"/>
            </a:solidFill>
            <a:prstDash val="solid"/>
          </a:ln>
        </p:spPr>
      </p:sp>
      <p:sp>
        <p:nvSpPr>
          <p:cNvPr id="17" name="Text 15"/>
          <p:cNvSpPr/>
          <p:nvPr/>
        </p:nvSpPr>
        <p:spPr>
          <a:xfrm>
            <a:off x="548640" y="2404872"/>
            <a:ext cx="11155680" cy="603504"/>
          </a:xfrm>
          <a:prstGeom prst="rect">
            <a:avLst/>
          </a:prstGeom>
          <a:noFill/>
          <a:ln/>
        </p:spPr>
        <p:txBody>
          <a:bodyPr wrap="square" rtlCol="0" anchor="ctr"/>
          <a:lstStyle/>
          <a:p>
            <a:pPr indent="0" marL="0">
              <a:buNone/>
            </a:pPr>
            <a:r>
              <a:rPr lang="en-US" sz="1250" dirty="0">
                <a:solidFill>
                  <a:srgbClr val="D0D8E8"/>
                </a:solidFill>
                <a:latin typeface="Calibri" pitchFamily="34" charset="0"/>
                <a:ea typeface="Calibri" pitchFamily="34" charset="-122"/>
                <a:cs typeface="Calibri" pitchFamily="34" charset="-120"/>
              </a:rPr>
              <a:t>⚠️  REGLA CLAVE: que el cliente use solo 2 de 8 MPs no es necesariamente un problema — puede ser una decisión estratégica. El trabajo del CSM es verificar si esa decisión fue consciente.</a:t>
            </a:r>
            <a:endParaRPr lang="en-US" sz="1250" dirty="0"/>
          </a:p>
        </p:txBody>
      </p:sp>
      <p:sp>
        <p:nvSpPr>
          <p:cNvPr id="18" name="Text 16"/>
          <p:cNvSpPr/>
          <p:nvPr/>
        </p:nvSpPr>
        <p:spPr>
          <a:xfrm>
            <a:off x="365760" y="3200400"/>
            <a:ext cx="10972800" cy="329184"/>
          </a:xfrm>
          <a:prstGeom prst="rect">
            <a:avLst/>
          </a:prstGeom>
          <a:noFill/>
          <a:ln/>
        </p:spPr>
        <p:txBody>
          <a:bodyPr wrap="square" rtlCol="0" anchor="ctr"/>
          <a:lstStyle/>
          <a:p>
            <a:pPr indent="0" marL="0">
              <a:buNone/>
            </a:pPr>
            <a:r>
              <a:rPr lang="en-US" sz="1300" b="1" dirty="0">
                <a:solidFill>
                  <a:srgbClr val="E89000"/>
                </a:solidFill>
                <a:latin typeface="Calibri" pitchFamily="34" charset="0"/>
                <a:ea typeface="Calibri" pitchFamily="34" charset="-122"/>
                <a:cs typeface="Calibri" pitchFamily="34" charset="-120"/>
              </a:rPr>
              <a:t>Las 6 razones más frecuentes por las que el cliente no activa los otros marketplaces:</a:t>
            </a:r>
            <a:endParaRPr lang="en-US" sz="1300" dirty="0"/>
          </a:p>
        </p:txBody>
      </p:sp>
      <p:sp>
        <p:nvSpPr>
          <p:cNvPr id="19" name="Shape 17"/>
          <p:cNvSpPr/>
          <p:nvPr/>
        </p:nvSpPr>
        <p:spPr>
          <a:xfrm>
            <a:off x="365760" y="3639312"/>
            <a:ext cx="3703320" cy="658368"/>
          </a:xfrm>
          <a:prstGeom prst="roundRect">
            <a:avLst>
              <a:gd name="adj" fmla="val 15278"/>
            </a:avLst>
          </a:prstGeom>
          <a:solidFill>
            <a:srgbClr val="1A2B4A"/>
          </a:solidFill>
          <a:ln w="12700">
            <a:solidFill>
              <a:srgbClr val="1A56A0"/>
            </a:solidFill>
            <a:prstDash val="solid"/>
          </a:ln>
        </p:spPr>
      </p:sp>
      <p:sp>
        <p:nvSpPr>
          <p:cNvPr id="20" name="Shape 18"/>
          <p:cNvSpPr/>
          <p:nvPr/>
        </p:nvSpPr>
        <p:spPr>
          <a:xfrm>
            <a:off x="365760" y="3639312"/>
            <a:ext cx="530352" cy="658368"/>
          </a:xfrm>
          <a:prstGeom prst="roundRect">
            <a:avLst>
              <a:gd name="adj" fmla="val 13793"/>
            </a:avLst>
          </a:prstGeom>
          <a:solidFill>
            <a:srgbClr val="1A56A0"/>
          </a:solidFill>
          <a:ln w="12700">
            <a:solidFill>
              <a:srgbClr val="1A56A0"/>
            </a:solidFill>
            <a:prstDash val="solid"/>
          </a:ln>
        </p:spPr>
      </p:sp>
      <p:sp>
        <p:nvSpPr>
          <p:cNvPr id="21" name="Text 19"/>
          <p:cNvSpPr/>
          <p:nvPr/>
        </p:nvSpPr>
        <p:spPr>
          <a:xfrm>
            <a:off x="365760" y="3639312"/>
            <a:ext cx="530352" cy="65836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2" name="Text 20"/>
          <p:cNvSpPr/>
          <p:nvPr/>
        </p:nvSpPr>
        <p:spPr>
          <a:xfrm>
            <a:off x="969264" y="3639312"/>
            <a:ext cx="2999232"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sabe que los tiene</a:t>
            </a:r>
            <a:endParaRPr lang="en-US" sz="1300" dirty="0"/>
          </a:p>
        </p:txBody>
      </p:sp>
      <p:sp>
        <p:nvSpPr>
          <p:cNvPr id="23" name="Shape 21"/>
          <p:cNvSpPr/>
          <p:nvPr/>
        </p:nvSpPr>
        <p:spPr>
          <a:xfrm>
            <a:off x="4279392" y="3639312"/>
            <a:ext cx="3703320" cy="658368"/>
          </a:xfrm>
          <a:prstGeom prst="roundRect">
            <a:avLst>
              <a:gd name="adj" fmla="val 15278"/>
            </a:avLst>
          </a:prstGeom>
          <a:solidFill>
            <a:srgbClr val="1A2B4A"/>
          </a:solidFill>
          <a:ln w="12700">
            <a:solidFill>
              <a:srgbClr val="1A56A0"/>
            </a:solidFill>
            <a:prstDash val="solid"/>
          </a:ln>
        </p:spPr>
      </p:sp>
      <p:sp>
        <p:nvSpPr>
          <p:cNvPr id="24" name="Shape 22"/>
          <p:cNvSpPr/>
          <p:nvPr/>
        </p:nvSpPr>
        <p:spPr>
          <a:xfrm>
            <a:off x="4279392" y="3639312"/>
            <a:ext cx="530352" cy="658368"/>
          </a:xfrm>
          <a:prstGeom prst="roundRect">
            <a:avLst>
              <a:gd name="adj" fmla="val 13793"/>
            </a:avLst>
          </a:prstGeom>
          <a:solidFill>
            <a:srgbClr val="1A56A0"/>
          </a:solidFill>
          <a:ln w="12700">
            <a:solidFill>
              <a:srgbClr val="1A56A0"/>
            </a:solidFill>
            <a:prstDash val="solid"/>
          </a:ln>
        </p:spPr>
      </p:sp>
      <p:sp>
        <p:nvSpPr>
          <p:cNvPr id="25" name="Text 23"/>
          <p:cNvSpPr/>
          <p:nvPr/>
        </p:nvSpPr>
        <p:spPr>
          <a:xfrm>
            <a:off x="4279392" y="3639312"/>
            <a:ext cx="530352" cy="65836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6" name="Text 24"/>
          <p:cNvSpPr/>
          <p:nvPr/>
        </p:nvSpPr>
        <p:spPr>
          <a:xfrm>
            <a:off x="4882896" y="3639312"/>
            <a:ext cx="2999232"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Barrera técnica</a:t>
            </a:r>
            <a:endParaRPr lang="en-US" sz="1300" dirty="0"/>
          </a:p>
        </p:txBody>
      </p:sp>
      <p:sp>
        <p:nvSpPr>
          <p:cNvPr id="27" name="Shape 25"/>
          <p:cNvSpPr/>
          <p:nvPr/>
        </p:nvSpPr>
        <p:spPr>
          <a:xfrm>
            <a:off x="8193024" y="3639312"/>
            <a:ext cx="3703320" cy="658368"/>
          </a:xfrm>
          <a:prstGeom prst="roundRect">
            <a:avLst>
              <a:gd name="adj" fmla="val 15278"/>
            </a:avLst>
          </a:prstGeom>
          <a:solidFill>
            <a:srgbClr val="1A2B4A"/>
          </a:solidFill>
          <a:ln w="12700">
            <a:solidFill>
              <a:srgbClr val="1E7A40"/>
            </a:solidFill>
            <a:prstDash val="solid"/>
          </a:ln>
        </p:spPr>
      </p:sp>
      <p:sp>
        <p:nvSpPr>
          <p:cNvPr id="28" name="Shape 26"/>
          <p:cNvSpPr/>
          <p:nvPr/>
        </p:nvSpPr>
        <p:spPr>
          <a:xfrm>
            <a:off x="8193024" y="3639312"/>
            <a:ext cx="530352" cy="658368"/>
          </a:xfrm>
          <a:prstGeom prst="roundRect">
            <a:avLst>
              <a:gd name="adj" fmla="val 13793"/>
            </a:avLst>
          </a:prstGeom>
          <a:solidFill>
            <a:srgbClr val="1E7A40"/>
          </a:solidFill>
          <a:ln w="12700">
            <a:solidFill>
              <a:srgbClr val="1E7A40"/>
            </a:solidFill>
            <a:prstDash val="solid"/>
          </a:ln>
        </p:spPr>
      </p:sp>
      <p:sp>
        <p:nvSpPr>
          <p:cNvPr id="29" name="Text 27"/>
          <p:cNvSpPr/>
          <p:nvPr/>
        </p:nvSpPr>
        <p:spPr>
          <a:xfrm>
            <a:off x="8193024" y="3639312"/>
            <a:ext cx="530352" cy="65836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Text 28"/>
          <p:cNvSpPr/>
          <p:nvPr/>
        </p:nvSpPr>
        <p:spPr>
          <a:xfrm>
            <a:off x="8796528" y="3639312"/>
            <a:ext cx="2999232"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Sin equipo para gestionarlo</a:t>
            </a:r>
            <a:endParaRPr lang="en-US" sz="1300" dirty="0"/>
          </a:p>
        </p:txBody>
      </p:sp>
      <p:sp>
        <p:nvSpPr>
          <p:cNvPr id="31" name="Shape 29"/>
          <p:cNvSpPr/>
          <p:nvPr/>
        </p:nvSpPr>
        <p:spPr>
          <a:xfrm>
            <a:off x="365760" y="4416552"/>
            <a:ext cx="3703320" cy="658368"/>
          </a:xfrm>
          <a:prstGeom prst="roundRect">
            <a:avLst>
              <a:gd name="adj" fmla="val 15278"/>
            </a:avLst>
          </a:prstGeom>
          <a:solidFill>
            <a:srgbClr val="1A2B4A"/>
          </a:solidFill>
          <a:ln w="12700">
            <a:solidFill>
              <a:srgbClr val="1E7A40"/>
            </a:solidFill>
            <a:prstDash val="solid"/>
          </a:ln>
        </p:spPr>
      </p:sp>
      <p:sp>
        <p:nvSpPr>
          <p:cNvPr id="32" name="Shape 30"/>
          <p:cNvSpPr/>
          <p:nvPr/>
        </p:nvSpPr>
        <p:spPr>
          <a:xfrm>
            <a:off x="365760" y="4416552"/>
            <a:ext cx="530352" cy="658368"/>
          </a:xfrm>
          <a:prstGeom prst="roundRect">
            <a:avLst>
              <a:gd name="adj" fmla="val 13793"/>
            </a:avLst>
          </a:prstGeom>
          <a:solidFill>
            <a:srgbClr val="1E7A40"/>
          </a:solidFill>
          <a:ln w="12700">
            <a:solidFill>
              <a:srgbClr val="1E7A40"/>
            </a:solidFill>
            <a:prstDash val="solid"/>
          </a:ln>
        </p:spPr>
      </p:sp>
      <p:sp>
        <p:nvSpPr>
          <p:cNvPr id="33" name="Text 31"/>
          <p:cNvSpPr/>
          <p:nvPr/>
        </p:nvSpPr>
        <p:spPr>
          <a:xfrm>
            <a:off x="365760" y="4416552"/>
            <a:ext cx="530352" cy="65836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4" name="Text 32"/>
          <p:cNvSpPr/>
          <p:nvPr/>
        </p:nvSpPr>
        <p:spPr>
          <a:xfrm>
            <a:off x="969264" y="4416552"/>
            <a:ext cx="2999232"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Mala experiencia previa</a:t>
            </a:r>
            <a:endParaRPr lang="en-US" sz="1300" dirty="0"/>
          </a:p>
        </p:txBody>
      </p:sp>
      <p:sp>
        <p:nvSpPr>
          <p:cNvPr id="35" name="Shape 33"/>
          <p:cNvSpPr/>
          <p:nvPr/>
        </p:nvSpPr>
        <p:spPr>
          <a:xfrm>
            <a:off x="4279392" y="4416552"/>
            <a:ext cx="3703320" cy="658368"/>
          </a:xfrm>
          <a:prstGeom prst="roundRect">
            <a:avLst>
              <a:gd name="adj" fmla="val 15278"/>
            </a:avLst>
          </a:prstGeom>
          <a:solidFill>
            <a:srgbClr val="1A2B4A"/>
          </a:solidFill>
          <a:ln w="12700">
            <a:solidFill>
              <a:srgbClr val="C07000"/>
            </a:solidFill>
            <a:prstDash val="solid"/>
          </a:ln>
        </p:spPr>
      </p:sp>
      <p:sp>
        <p:nvSpPr>
          <p:cNvPr id="36" name="Shape 34"/>
          <p:cNvSpPr/>
          <p:nvPr/>
        </p:nvSpPr>
        <p:spPr>
          <a:xfrm>
            <a:off x="4279392" y="4416552"/>
            <a:ext cx="530352" cy="658368"/>
          </a:xfrm>
          <a:prstGeom prst="roundRect">
            <a:avLst>
              <a:gd name="adj" fmla="val 13793"/>
            </a:avLst>
          </a:prstGeom>
          <a:solidFill>
            <a:srgbClr val="C07000"/>
          </a:solidFill>
          <a:ln w="12700">
            <a:solidFill>
              <a:srgbClr val="C07000"/>
            </a:solidFill>
            <a:prstDash val="solid"/>
          </a:ln>
        </p:spPr>
      </p:sp>
      <p:sp>
        <p:nvSpPr>
          <p:cNvPr id="37" name="Text 35"/>
          <p:cNvSpPr/>
          <p:nvPr/>
        </p:nvSpPr>
        <p:spPr>
          <a:xfrm>
            <a:off x="4279392" y="4416552"/>
            <a:ext cx="530352" cy="65836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8" name="Text 36"/>
          <p:cNvSpPr/>
          <p:nvPr/>
        </p:nvSpPr>
        <p:spPr>
          <a:xfrm>
            <a:off x="4882896" y="4416552"/>
            <a:ext cx="2999232"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Decisión de marca</a:t>
            </a:r>
            <a:endParaRPr lang="en-US" sz="1300" dirty="0"/>
          </a:p>
        </p:txBody>
      </p:sp>
      <p:sp>
        <p:nvSpPr>
          <p:cNvPr id="39" name="Shape 37"/>
          <p:cNvSpPr/>
          <p:nvPr/>
        </p:nvSpPr>
        <p:spPr>
          <a:xfrm>
            <a:off x="8193024" y="4416552"/>
            <a:ext cx="3703320" cy="658368"/>
          </a:xfrm>
          <a:prstGeom prst="roundRect">
            <a:avLst>
              <a:gd name="adj" fmla="val 15278"/>
            </a:avLst>
          </a:prstGeom>
          <a:solidFill>
            <a:srgbClr val="1A2B4A"/>
          </a:solidFill>
          <a:ln w="12700">
            <a:solidFill>
              <a:srgbClr val="C07000"/>
            </a:solidFill>
            <a:prstDash val="solid"/>
          </a:ln>
        </p:spPr>
      </p:sp>
      <p:sp>
        <p:nvSpPr>
          <p:cNvPr id="40" name="Shape 38"/>
          <p:cNvSpPr/>
          <p:nvPr/>
        </p:nvSpPr>
        <p:spPr>
          <a:xfrm>
            <a:off x="8193024" y="4416552"/>
            <a:ext cx="530352" cy="658368"/>
          </a:xfrm>
          <a:prstGeom prst="roundRect">
            <a:avLst>
              <a:gd name="adj" fmla="val 13793"/>
            </a:avLst>
          </a:prstGeom>
          <a:solidFill>
            <a:srgbClr val="C07000"/>
          </a:solidFill>
          <a:ln w="12700">
            <a:solidFill>
              <a:srgbClr val="C07000"/>
            </a:solidFill>
            <a:prstDash val="solid"/>
          </a:ln>
        </p:spPr>
      </p:sp>
      <p:sp>
        <p:nvSpPr>
          <p:cNvPr id="41" name="Text 39"/>
          <p:cNvSpPr/>
          <p:nvPr/>
        </p:nvSpPr>
        <p:spPr>
          <a:xfrm>
            <a:off x="8193024" y="4416552"/>
            <a:ext cx="530352" cy="65836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42" name="Text 40"/>
          <p:cNvSpPr/>
          <p:nvPr/>
        </p:nvSpPr>
        <p:spPr>
          <a:xfrm>
            <a:off x="8796528" y="4416552"/>
            <a:ext cx="2999232" cy="65836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conoce el potencial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E3A"/>
          </a:solidFill>
          <a:ln w="12700">
            <a:solidFill>
              <a:srgbClr val="0F1E3A"/>
            </a:solidFill>
            <a:prstDash val="solid"/>
          </a:ln>
        </p:spPr>
      </p:sp>
      <p:sp>
        <p:nvSpPr>
          <p:cNvPr id="3" name="Shape 1"/>
          <p:cNvSpPr/>
          <p:nvPr/>
        </p:nvSpPr>
        <p:spPr>
          <a:xfrm>
            <a:off x="0" y="0"/>
            <a:ext cx="12188952" cy="512064"/>
          </a:xfrm>
          <a:prstGeom prst="rect">
            <a:avLst/>
          </a:prstGeom>
          <a:solidFill>
            <a:srgbClr val="E89000"/>
          </a:solidFill>
          <a:ln w="12700">
            <a:solidFill>
              <a:srgbClr val="E89000"/>
            </a:solidFill>
            <a:prstDash val="solid"/>
          </a:ln>
        </p:spPr>
      </p:sp>
      <p:sp>
        <p:nvSpPr>
          <p:cNvPr id="4" name="Text 2"/>
          <p:cNvSpPr/>
          <p:nvPr/>
        </p:nvSpPr>
        <p:spPr>
          <a:xfrm>
            <a:off x="182880" y="73152"/>
            <a:ext cx="10972800" cy="384048"/>
          </a:xfrm>
          <a:prstGeom prst="rect">
            <a:avLst/>
          </a:prstGeom>
          <a:noFill/>
          <a:ln/>
        </p:spPr>
        <p:txBody>
          <a:bodyPr wrap="square" rtlCol="0" anchor="ctr"/>
          <a:lstStyle/>
          <a:p>
            <a:pPr indent="0" marL="0">
              <a:buNone/>
            </a:pPr>
            <a:r>
              <a:rPr lang="en-US" sz="1800" b="1" dirty="0">
                <a:solidFill>
                  <a:srgbClr val="0F1E3A"/>
                </a:solidFill>
                <a:latin typeface="Calibri" pitchFamily="34" charset="0"/>
                <a:ea typeface="Calibri" pitchFamily="34" charset="-122"/>
                <a:cs typeface="Calibri" pitchFamily="34" charset="-120"/>
              </a:rPr>
              <a:t>Flujo de conversación — Cómo ofrecer los MPs sin usar</a:t>
            </a:r>
            <a:endParaRPr lang="en-US" sz="1800" dirty="0"/>
          </a:p>
        </p:txBody>
      </p:sp>
      <p:sp>
        <p:nvSpPr>
          <p:cNvPr id="5" name="Shape 3"/>
          <p:cNvSpPr/>
          <p:nvPr/>
        </p:nvSpPr>
        <p:spPr>
          <a:xfrm>
            <a:off x="274320" y="658368"/>
            <a:ext cx="5760720" cy="1783080"/>
          </a:xfrm>
          <a:prstGeom prst="roundRect">
            <a:avLst>
              <a:gd name="adj" fmla="val 5641"/>
            </a:avLst>
          </a:prstGeom>
          <a:solidFill>
            <a:srgbClr val="1A2B4A"/>
          </a:solidFill>
          <a:ln w="12700">
            <a:solidFill>
              <a:srgbClr val="1A56A0"/>
            </a:solidFill>
            <a:prstDash val="solid"/>
          </a:ln>
        </p:spPr>
      </p:sp>
      <p:sp>
        <p:nvSpPr>
          <p:cNvPr id="6" name="Shape 4"/>
          <p:cNvSpPr/>
          <p:nvPr/>
        </p:nvSpPr>
        <p:spPr>
          <a:xfrm>
            <a:off x="274320" y="658368"/>
            <a:ext cx="621792" cy="1783080"/>
          </a:xfrm>
          <a:prstGeom prst="roundRect">
            <a:avLst>
              <a:gd name="adj" fmla="val 13235"/>
            </a:avLst>
          </a:prstGeom>
          <a:solidFill>
            <a:srgbClr val="1A56A0"/>
          </a:solidFill>
          <a:ln w="12700">
            <a:solidFill>
              <a:srgbClr val="1A56A0"/>
            </a:solidFill>
            <a:prstDash val="solid"/>
          </a:ln>
        </p:spPr>
      </p:sp>
      <p:sp>
        <p:nvSpPr>
          <p:cNvPr id="7" name="Text 5"/>
          <p:cNvSpPr/>
          <p:nvPr/>
        </p:nvSpPr>
        <p:spPr>
          <a:xfrm>
            <a:off x="274320" y="658368"/>
            <a:ext cx="621792" cy="1783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969264" y="749808"/>
            <a:ext cx="4956048"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Verificar el estado de la cuenta primero</a:t>
            </a:r>
            <a:endParaRPr lang="en-US" sz="1300" dirty="0"/>
          </a:p>
        </p:txBody>
      </p:sp>
      <p:sp>
        <p:nvSpPr>
          <p:cNvPr id="9" name="Text 7"/>
          <p:cNvSpPr/>
          <p:nvPr/>
        </p:nvSpPr>
        <p:spPr>
          <a:xfrm>
            <a:off x="969264" y="1078992"/>
            <a:ext cx="4956048" cy="1280160"/>
          </a:xfrm>
          <a:prstGeom prst="rect">
            <a:avLst/>
          </a:prstGeom>
          <a:noFill/>
          <a:ln/>
        </p:spPr>
        <p:txBody>
          <a:bodyPr wrap="square" rtlCol="0" anchor="ctr"/>
          <a:lstStyle/>
          <a:p>
            <a:pPr indent="0" marL="0">
              <a:buNone/>
            </a:pPr>
            <a:r>
              <a:rPr lang="en-US" sz="1100" dirty="0">
                <a:solidFill>
                  <a:srgbClr val="D0D8E8"/>
                </a:solidFill>
                <a:latin typeface="Calibri" pitchFamily="34" charset="0"/>
                <a:ea typeface="Calibri" pitchFamily="34" charset="-122"/>
                <a:cs typeface="Calibri" pitchFamily="34" charset="-120"/>
              </a:rPr>
              <a:t>Antes de hablar de expansión: ¿hay tickets abiertos? ¿NPS negativo? ¿Health Score &lt; 60?</a:t>
            </a:r>
            <a:endParaRPr lang="en-US" sz="1100" dirty="0"/>
          </a:p>
          <a:p>
            <a:pPr indent="0" marL="0">
              <a:buNone/>
            </a:pPr>
            <a:r>
              <a:rPr lang="en-US" sz="1100" dirty="0">
                <a:solidFill>
                  <a:srgbClr val="D0D8E8"/>
                </a:solidFill>
                <a:latin typeface="Calibri" pitchFamily="34" charset="0"/>
                <a:ea typeface="Calibri" pitchFamily="34" charset="-122"/>
                <a:cs typeface="Calibri" pitchFamily="34" charset="-120"/>
              </a:rPr>
              <a:t>Si la cuenta tiene problemas activos → resolver primero. No ofrecer expansión cuando el cliente está frustrado.</a:t>
            </a:r>
            <a:endParaRPr lang="en-US" sz="1100" dirty="0"/>
          </a:p>
        </p:txBody>
      </p:sp>
      <p:sp>
        <p:nvSpPr>
          <p:cNvPr id="10" name="Shape 8"/>
          <p:cNvSpPr/>
          <p:nvPr/>
        </p:nvSpPr>
        <p:spPr>
          <a:xfrm>
            <a:off x="274320" y="2560320"/>
            <a:ext cx="5760720" cy="1783080"/>
          </a:xfrm>
          <a:prstGeom prst="roundRect">
            <a:avLst>
              <a:gd name="adj" fmla="val 5641"/>
            </a:avLst>
          </a:prstGeom>
          <a:solidFill>
            <a:srgbClr val="1A2B4A"/>
          </a:solidFill>
          <a:ln w="12700">
            <a:solidFill>
              <a:srgbClr val="1A56A0"/>
            </a:solidFill>
            <a:prstDash val="solid"/>
          </a:ln>
        </p:spPr>
      </p:sp>
      <p:sp>
        <p:nvSpPr>
          <p:cNvPr id="11" name="Shape 9"/>
          <p:cNvSpPr/>
          <p:nvPr/>
        </p:nvSpPr>
        <p:spPr>
          <a:xfrm>
            <a:off x="274320" y="2560320"/>
            <a:ext cx="621792" cy="1783080"/>
          </a:xfrm>
          <a:prstGeom prst="roundRect">
            <a:avLst>
              <a:gd name="adj" fmla="val 13235"/>
            </a:avLst>
          </a:prstGeom>
          <a:solidFill>
            <a:srgbClr val="1A56A0"/>
          </a:solidFill>
          <a:ln w="12700">
            <a:solidFill>
              <a:srgbClr val="1A56A0"/>
            </a:solidFill>
            <a:prstDash val="solid"/>
          </a:ln>
        </p:spPr>
      </p:sp>
      <p:sp>
        <p:nvSpPr>
          <p:cNvPr id="12" name="Text 10"/>
          <p:cNvSpPr/>
          <p:nvPr/>
        </p:nvSpPr>
        <p:spPr>
          <a:xfrm>
            <a:off x="274320" y="2560320"/>
            <a:ext cx="621792" cy="1783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969264" y="2651760"/>
            <a:ext cx="4956048"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Diagnóstico en AnyMarket</a:t>
            </a:r>
            <a:endParaRPr lang="en-US" sz="1300" dirty="0"/>
          </a:p>
        </p:txBody>
      </p:sp>
      <p:sp>
        <p:nvSpPr>
          <p:cNvPr id="14" name="Text 12"/>
          <p:cNvSpPr/>
          <p:nvPr/>
        </p:nvSpPr>
        <p:spPr>
          <a:xfrm>
            <a:off x="969264" y="2980944"/>
            <a:ext cx="4956048" cy="1280160"/>
          </a:xfrm>
          <a:prstGeom prst="rect">
            <a:avLst/>
          </a:prstGeom>
          <a:noFill/>
          <a:ln/>
        </p:spPr>
        <p:txBody>
          <a:bodyPr wrap="square" rtlCol="0" anchor="ctr"/>
          <a:lstStyle/>
          <a:p>
            <a:pPr indent="0" marL="0">
              <a:buNone/>
            </a:pPr>
            <a:r>
              <a:rPr lang="en-US" sz="1100" dirty="0">
                <a:solidFill>
                  <a:srgbClr val="D0D8E8"/>
                </a:solidFill>
                <a:latin typeface="Calibri" pitchFamily="34" charset="0"/>
                <a:ea typeface="Calibri" pitchFamily="34" charset="-122"/>
                <a:cs typeface="Calibri" pitchFamily="34" charset="-120"/>
              </a:rPr>
              <a:t>Revisar: MPs disponibles en su plan vs. MPs con pedidos en los últimos 30 días. ¿Qué catálogo tiene? ¿Podría publicar en los MPs sin activar? ¿Cuál es el de mayor potencial para su categoría?</a:t>
            </a:r>
            <a:endParaRPr lang="en-US" sz="1100" dirty="0"/>
          </a:p>
        </p:txBody>
      </p:sp>
      <p:sp>
        <p:nvSpPr>
          <p:cNvPr id="15" name="Shape 13"/>
          <p:cNvSpPr/>
          <p:nvPr/>
        </p:nvSpPr>
        <p:spPr>
          <a:xfrm>
            <a:off x="274320" y="4462272"/>
            <a:ext cx="5760720" cy="1783080"/>
          </a:xfrm>
          <a:prstGeom prst="roundRect">
            <a:avLst>
              <a:gd name="adj" fmla="val 5641"/>
            </a:avLst>
          </a:prstGeom>
          <a:solidFill>
            <a:srgbClr val="1A2B4A"/>
          </a:solidFill>
          <a:ln w="12700">
            <a:solidFill>
              <a:srgbClr val="C07000"/>
            </a:solidFill>
            <a:prstDash val="solid"/>
          </a:ln>
        </p:spPr>
      </p:sp>
      <p:sp>
        <p:nvSpPr>
          <p:cNvPr id="16" name="Shape 14"/>
          <p:cNvSpPr/>
          <p:nvPr/>
        </p:nvSpPr>
        <p:spPr>
          <a:xfrm>
            <a:off x="274320" y="4462272"/>
            <a:ext cx="621792" cy="1783080"/>
          </a:xfrm>
          <a:prstGeom prst="roundRect">
            <a:avLst>
              <a:gd name="adj" fmla="val 13235"/>
            </a:avLst>
          </a:prstGeom>
          <a:solidFill>
            <a:srgbClr val="C07000"/>
          </a:solidFill>
          <a:ln w="12700">
            <a:solidFill>
              <a:srgbClr val="C07000"/>
            </a:solidFill>
            <a:prstDash val="solid"/>
          </a:ln>
        </p:spPr>
      </p:sp>
      <p:sp>
        <p:nvSpPr>
          <p:cNvPr id="17" name="Text 15"/>
          <p:cNvSpPr/>
          <p:nvPr/>
        </p:nvSpPr>
        <p:spPr>
          <a:xfrm>
            <a:off x="274320" y="4462272"/>
            <a:ext cx="621792" cy="1783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969264" y="4553712"/>
            <a:ext cx="4956048"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Priorizar — ofrecer solo 1 MP a la vez</a:t>
            </a:r>
            <a:endParaRPr lang="en-US" sz="1300" dirty="0"/>
          </a:p>
        </p:txBody>
      </p:sp>
      <p:sp>
        <p:nvSpPr>
          <p:cNvPr id="19" name="Text 17"/>
          <p:cNvSpPr/>
          <p:nvPr/>
        </p:nvSpPr>
        <p:spPr>
          <a:xfrm>
            <a:off x="969264" y="4882896"/>
            <a:ext cx="4956048" cy="1280160"/>
          </a:xfrm>
          <a:prstGeom prst="rect">
            <a:avLst/>
          </a:prstGeom>
          <a:noFill/>
          <a:ln/>
        </p:spPr>
        <p:txBody>
          <a:bodyPr wrap="square" rtlCol="0" anchor="ctr"/>
          <a:lstStyle/>
          <a:p>
            <a:pPr indent="0" marL="0">
              <a:buNone/>
            </a:pPr>
            <a:r>
              <a:rPr lang="en-US" sz="1100" dirty="0">
                <a:solidFill>
                  <a:srgbClr val="D0D8E8"/>
                </a:solidFill>
                <a:latin typeface="Calibri" pitchFamily="34" charset="0"/>
                <a:ea typeface="Calibri" pitchFamily="34" charset="-122"/>
                <a:cs typeface="Calibri" pitchFamily="34" charset="-120"/>
              </a:rPr>
              <a:t>Nunca ofrecer los 6 al mismo tiempo. Elegir el de mayor impacto en GMV y menor fricción técnica.</a:t>
            </a:r>
            <a:endParaRPr lang="en-US" sz="1100" dirty="0"/>
          </a:p>
          <a:p>
            <a:pPr indent="0" marL="0">
              <a:buNone/>
            </a:pPr>
            <a:r>
              <a:rPr lang="en-US" sz="1100" dirty="0">
                <a:solidFill>
                  <a:srgbClr val="D0D8E8"/>
                </a:solidFill>
                <a:latin typeface="Calibri" pitchFamily="34" charset="0"/>
                <a:ea typeface="Calibri" pitchFamily="34" charset="-122"/>
                <a:cs typeface="Calibri" pitchFamily="34" charset="-120"/>
              </a:rPr>
              <a:t>Criterio: (1) ¿tiene catálogo listo? (2) ¿Cuál tiene más volumen en su categoría? (3) ¿Cuál es más fácil de activar con su ERP?</a:t>
            </a:r>
            <a:endParaRPr lang="en-US" sz="1100" dirty="0"/>
          </a:p>
        </p:txBody>
      </p:sp>
      <p:sp>
        <p:nvSpPr>
          <p:cNvPr id="20" name="Shape 18"/>
          <p:cNvSpPr/>
          <p:nvPr/>
        </p:nvSpPr>
        <p:spPr>
          <a:xfrm>
            <a:off x="6263640" y="658368"/>
            <a:ext cx="5760720" cy="1783080"/>
          </a:xfrm>
          <a:prstGeom prst="roundRect">
            <a:avLst>
              <a:gd name="adj" fmla="val 5641"/>
            </a:avLst>
          </a:prstGeom>
          <a:solidFill>
            <a:srgbClr val="1A2B4A"/>
          </a:solidFill>
          <a:ln w="12700">
            <a:solidFill>
              <a:srgbClr val="C07000"/>
            </a:solidFill>
            <a:prstDash val="solid"/>
          </a:ln>
        </p:spPr>
      </p:sp>
      <p:sp>
        <p:nvSpPr>
          <p:cNvPr id="21" name="Shape 19"/>
          <p:cNvSpPr/>
          <p:nvPr/>
        </p:nvSpPr>
        <p:spPr>
          <a:xfrm>
            <a:off x="6263640" y="658368"/>
            <a:ext cx="621792" cy="1783080"/>
          </a:xfrm>
          <a:prstGeom prst="roundRect">
            <a:avLst>
              <a:gd name="adj" fmla="val 13235"/>
            </a:avLst>
          </a:prstGeom>
          <a:solidFill>
            <a:srgbClr val="C07000"/>
          </a:solidFill>
          <a:ln w="12700">
            <a:solidFill>
              <a:srgbClr val="C07000"/>
            </a:solidFill>
            <a:prstDash val="solid"/>
          </a:ln>
        </p:spPr>
      </p:sp>
      <p:sp>
        <p:nvSpPr>
          <p:cNvPr id="22" name="Text 20"/>
          <p:cNvSpPr/>
          <p:nvPr/>
        </p:nvSpPr>
        <p:spPr>
          <a:xfrm>
            <a:off x="6263640" y="658368"/>
            <a:ext cx="621792" cy="1783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3" name="Text 21"/>
          <p:cNvSpPr/>
          <p:nvPr/>
        </p:nvSpPr>
        <p:spPr>
          <a:xfrm>
            <a:off x="6958584" y="749808"/>
            <a:ext cx="4956048"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Apertura consultiva — no afirmativa</a:t>
            </a:r>
            <a:endParaRPr lang="en-US" sz="1300" dirty="0"/>
          </a:p>
        </p:txBody>
      </p:sp>
      <p:sp>
        <p:nvSpPr>
          <p:cNvPr id="24" name="Text 22"/>
          <p:cNvSpPr/>
          <p:nvPr/>
        </p:nvSpPr>
        <p:spPr>
          <a:xfrm>
            <a:off x="6958584" y="1078992"/>
            <a:ext cx="4956048" cy="1280160"/>
          </a:xfrm>
          <a:prstGeom prst="rect">
            <a:avLst/>
          </a:prstGeom>
          <a:noFill/>
          <a:ln/>
        </p:spPr>
        <p:txBody>
          <a:bodyPr wrap="square" rtlCol="0" anchor="ctr"/>
          <a:lstStyle/>
          <a:p>
            <a:pPr indent="0" marL="0">
              <a:buNone/>
            </a:pPr>
            <a:r>
              <a:rPr lang="en-US" sz="1100" i="1" dirty="0">
                <a:solidFill>
                  <a:srgbClr val="D0D8E8"/>
                </a:solidFill>
                <a:latin typeface="Calibri" pitchFamily="34" charset="0"/>
                <a:ea typeface="Calibri" pitchFamily="34" charset="-122"/>
                <a:cs typeface="Calibri" pitchFamily="34" charset="-120"/>
              </a:rPr>
              <a:t>"[Nombre], revisando tu operación en AnyMarket veo que tienes [N] marketplaces disponibles en tu plan pero solo estás activo en [X]. Quería entender si es una decisión estratégica o si hay algo que los está limitando."</a:t>
            </a:r>
            <a:endParaRPr lang="en-US" sz="1100" dirty="0"/>
          </a:p>
        </p:txBody>
      </p:sp>
      <p:sp>
        <p:nvSpPr>
          <p:cNvPr id="25" name="Shape 23"/>
          <p:cNvSpPr/>
          <p:nvPr/>
        </p:nvSpPr>
        <p:spPr>
          <a:xfrm>
            <a:off x="6263640" y="2560320"/>
            <a:ext cx="5760720" cy="1783080"/>
          </a:xfrm>
          <a:prstGeom prst="roundRect">
            <a:avLst>
              <a:gd name="adj" fmla="val 5641"/>
            </a:avLst>
          </a:prstGeom>
          <a:solidFill>
            <a:srgbClr val="1A2B4A"/>
          </a:solidFill>
          <a:ln w="12700">
            <a:solidFill>
              <a:srgbClr val="27AE60"/>
            </a:solidFill>
            <a:prstDash val="solid"/>
          </a:ln>
        </p:spPr>
      </p:sp>
      <p:sp>
        <p:nvSpPr>
          <p:cNvPr id="26" name="Shape 24"/>
          <p:cNvSpPr/>
          <p:nvPr/>
        </p:nvSpPr>
        <p:spPr>
          <a:xfrm>
            <a:off x="6263640" y="2560320"/>
            <a:ext cx="621792" cy="1783080"/>
          </a:xfrm>
          <a:prstGeom prst="roundRect">
            <a:avLst>
              <a:gd name="adj" fmla="val 13235"/>
            </a:avLst>
          </a:prstGeom>
          <a:solidFill>
            <a:srgbClr val="27AE60"/>
          </a:solidFill>
          <a:ln w="12700">
            <a:solidFill>
              <a:srgbClr val="27AE60"/>
            </a:solidFill>
            <a:prstDash val="solid"/>
          </a:ln>
        </p:spPr>
      </p:sp>
      <p:sp>
        <p:nvSpPr>
          <p:cNvPr id="27" name="Text 25"/>
          <p:cNvSpPr/>
          <p:nvPr/>
        </p:nvSpPr>
        <p:spPr>
          <a:xfrm>
            <a:off x="6263640" y="2560320"/>
            <a:ext cx="621792" cy="1783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8" name="Text 26"/>
          <p:cNvSpPr/>
          <p:nvPr/>
        </p:nvSpPr>
        <p:spPr>
          <a:xfrm>
            <a:off x="6958584" y="2651760"/>
            <a:ext cx="4956048"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Escuchar el motivo y responder con precisión</a:t>
            </a:r>
            <a:endParaRPr lang="en-US" sz="1300" dirty="0"/>
          </a:p>
        </p:txBody>
      </p:sp>
      <p:sp>
        <p:nvSpPr>
          <p:cNvPr id="29" name="Text 27"/>
          <p:cNvSpPr/>
          <p:nvPr/>
        </p:nvSpPr>
        <p:spPr>
          <a:xfrm>
            <a:off x="6958584" y="2980944"/>
            <a:ext cx="4956048" cy="1280160"/>
          </a:xfrm>
          <a:prstGeom prst="rect">
            <a:avLst/>
          </a:prstGeom>
          <a:noFill/>
          <a:ln/>
        </p:spPr>
        <p:txBody>
          <a:bodyPr wrap="square" rtlCol="0" anchor="ctr"/>
          <a:lstStyle/>
          <a:p>
            <a:pPr indent="0" marL="0">
              <a:buNone/>
            </a:pPr>
            <a:r>
              <a:rPr lang="en-US" sz="1100" dirty="0">
                <a:solidFill>
                  <a:srgbClr val="D0D8E8"/>
                </a:solidFill>
                <a:latin typeface="Calibri" pitchFamily="34" charset="0"/>
                <a:ea typeface="Calibri" pitchFamily="34" charset="-122"/>
                <a:cs typeface="Calibri" pitchFamily="34" charset="-120"/>
              </a:rPr>
              <a:t>No usar el mismo speech para todos. Cada motivo de no-activación tiene una respuesta distinta. Ver slide siguiente para las respuestas por motivo.</a:t>
            </a:r>
            <a:endParaRPr lang="en-US" sz="1100" dirty="0"/>
          </a:p>
        </p:txBody>
      </p:sp>
      <p:sp>
        <p:nvSpPr>
          <p:cNvPr id="30" name="Shape 28"/>
          <p:cNvSpPr/>
          <p:nvPr/>
        </p:nvSpPr>
        <p:spPr>
          <a:xfrm>
            <a:off x="6263640" y="4462272"/>
            <a:ext cx="5760720" cy="1783080"/>
          </a:xfrm>
          <a:prstGeom prst="roundRect">
            <a:avLst>
              <a:gd name="adj" fmla="val 5641"/>
            </a:avLst>
          </a:prstGeom>
          <a:solidFill>
            <a:srgbClr val="1A2B4A"/>
          </a:solidFill>
          <a:ln w="12700">
            <a:solidFill>
              <a:srgbClr val="27AE60"/>
            </a:solidFill>
            <a:prstDash val="solid"/>
          </a:ln>
        </p:spPr>
      </p:sp>
      <p:sp>
        <p:nvSpPr>
          <p:cNvPr id="31" name="Shape 29"/>
          <p:cNvSpPr/>
          <p:nvPr/>
        </p:nvSpPr>
        <p:spPr>
          <a:xfrm>
            <a:off x="6263640" y="4462272"/>
            <a:ext cx="621792" cy="1783080"/>
          </a:xfrm>
          <a:prstGeom prst="roundRect">
            <a:avLst>
              <a:gd name="adj" fmla="val 13235"/>
            </a:avLst>
          </a:prstGeom>
          <a:solidFill>
            <a:srgbClr val="27AE60"/>
          </a:solidFill>
          <a:ln w="12700">
            <a:solidFill>
              <a:srgbClr val="27AE60"/>
            </a:solidFill>
            <a:prstDash val="solid"/>
          </a:ln>
        </p:spPr>
      </p:sp>
      <p:sp>
        <p:nvSpPr>
          <p:cNvPr id="32" name="Text 30"/>
          <p:cNvSpPr/>
          <p:nvPr/>
        </p:nvSpPr>
        <p:spPr>
          <a:xfrm>
            <a:off x="6263640" y="4462272"/>
            <a:ext cx="621792" cy="1783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3" name="Text 31"/>
          <p:cNvSpPr/>
          <p:nvPr/>
        </p:nvSpPr>
        <p:spPr>
          <a:xfrm>
            <a:off x="6958584" y="4553712"/>
            <a:ext cx="4956048"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Cerrar con una acción concreta</a:t>
            </a:r>
            <a:endParaRPr lang="en-US" sz="1300" dirty="0"/>
          </a:p>
        </p:txBody>
      </p:sp>
      <p:sp>
        <p:nvSpPr>
          <p:cNvPr id="34" name="Text 32"/>
          <p:cNvSpPr/>
          <p:nvPr/>
        </p:nvSpPr>
        <p:spPr>
          <a:xfrm>
            <a:off x="6958584" y="4882896"/>
            <a:ext cx="4956048" cy="1280160"/>
          </a:xfrm>
          <a:prstGeom prst="rect">
            <a:avLst/>
          </a:prstGeom>
          <a:noFill/>
          <a:ln/>
        </p:spPr>
        <p:txBody>
          <a:bodyPr wrap="square" rtlCol="0" anchor="ctr"/>
          <a:lstStyle/>
          <a:p>
            <a:pPr indent="0" marL="0">
              <a:buNone/>
            </a:pPr>
            <a:r>
              <a:rPr lang="en-US" sz="1100" dirty="0">
                <a:solidFill>
                  <a:srgbClr val="D0D8E8"/>
                </a:solidFill>
                <a:latin typeface="Calibri" pitchFamily="34" charset="0"/>
                <a:ea typeface="Calibri" pitchFamily="34" charset="-122"/>
                <a:cs typeface="Calibri" pitchFamily="34" charset="-120"/>
              </a:rPr>
              <a:t>Si activa: coordinar con Soporte + seguimiento semanal hasta el primer pedido.</a:t>
            </a:r>
            <a:endParaRPr lang="en-US" sz="1100" dirty="0"/>
          </a:p>
          <a:p>
            <a:pPr indent="0" marL="0">
              <a:buNone/>
            </a:pPr>
            <a:r>
              <a:rPr lang="en-US" sz="1100" dirty="0">
                <a:solidFill>
                  <a:srgbClr val="D0D8E8"/>
                </a:solidFill>
                <a:latin typeface="Calibri" pitchFamily="34" charset="0"/>
                <a:ea typeface="Calibri" pitchFamily="34" charset="-122"/>
                <a:cs typeface="Calibri" pitchFamily="34" charset="-120"/>
              </a:rPr>
              <a:t>Si no ahora: acordar fecha concreta — no dejar abierto sin fecha.</a:t>
            </a:r>
            <a:endParaRPr lang="en-US" sz="1100" dirty="0"/>
          </a:p>
          <a:p>
            <a:pPr indent="0" marL="0">
              <a:buNone/>
            </a:pPr>
            <a:r>
              <a:rPr lang="en-US" sz="1100" dirty="0">
                <a:solidFill>
                  <a:srgbClr val="D0D8E8"/>
                </a:solidFill>
                <a:latin typeface="Calibri" pitchFamily="34" charset="0"/>
                <a:ea typeface="Calibri" pitchFamily="34" charset="-122"/>
                <a:cs typeface="Calibri" pitchFamily="34" charset="-120"/>
              </a:rPr>
              <a:t>Si no le interesa ninguno: documentar motivo y reportar a Parcerias.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E3A"/>
          </a:solidFill>
          <a:ln w="12700">
            <a:solidFill>
              <a:srgbClr val="0F1E3A"/>
            </a:solidFill>
            <a:prstDash val="solid"/>
          </a:ln>
        </p:spPr>
      </p:sp>
      <p:sp>
        <p:nvSpPr>
          <p:cNvPr id="3" name="Shape 1"/>
          <p:cNvSpPr/>
          <p:nvPr/>
        </p:nvSpPr>
        <p:spPr>
          <a:xfrm>
            <a:off x="0" y="0"/>
            <a:ext cx="12188952" cy="512064"/>
          </a:xfrm>
          <a:prstGeom prst="rect">
            <a:avLst/>
          </a:prstGeom>
          <a:solidFill>
            <a:srgbClr val="C07000"/>
          </a:solidFill>
          <a:ln w="12700">
            <a:solidFill>
              <a:srgbClr val="C07000"/>
            </a:solidFill>
            <a:prstDash val="solid"/>
          </a:ln>
        </p:spPr>
      </p:sp>
      <p:sp>
        <p:nvSpPr>
          <p:cNvPr id="4" name="Text 2"/>
          <p:cNvSpPr/>
          <p:nvPr/>
        </p:nvSpPr>
        <p:spPr>
          <a:xfrm>
            <a:off x="182880" y="73152"/>
            <a:ext cx="10972800" cy="384048"/>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Cómo responder según el motivo de no-activación</a:t>
            </a:r>
            <a:endParaRPr lang="en-US" sz="1800" dirty="0"/>
          </a:p>
        </p:txBody>
      </p:sp>
      <p:sp>
        <p:nvSpPr>
          <p:cNvPr id="5" name="Text 3"/>
          <p:cNvSpPr/>
          <p:nvPr/>
        </p:nvSpPr>
        <p:spPr>
          <a:xfrm>
            <a:off x="365760" y="594360"/>
            <a:ext cx="11247120" cy="329184"/>
          </a:xfrm>
          <a:prstGeom prst="rect">
            <a:avLst/>
          </a:prstGeom>
          <a:noFill/>
          <a:ln/>
        </p:spPr>
        <p:txBody>
          <a:bodyPr wrap="square" rtlCol="0" anchor="ctr"/>
          <a:lstStyle/>
          <a:p>
            <a:pPr indent="0" marL="0">
              <a:buNone/>
            </a:pPr>
            <a:r>
              <a:rPr lang="en-US" sz="1300" i="1" dirty="0">
                <a:solidFill>
                  <a:srgbClr val="D0D8E8"/>
                </a:solidFill>
                <a:latin typeface="Calibri" pitchFamily="34" charset="0"/>
                <a:ea typeface="Calibri" pitchFamily="34" charset="-122"/>
                <a:cs typeface="Calibri" pitchFamily="34" charset="-120"/>
              </a:rPr>
              <a:t>La respuesta correcta depende del motivo real — no usar el mismo speech para todos.</a:t>
            </a:r>
            <a:endParaRPr lang="en-US" sz="1300" dirty="0"/>
          </a:p>
        </p:txBody>
      </p:sp>
      <p:sp>
        <p:nvSpPr>
          <p:cNvPr id="6" name="Shape 4"/>
          <p:cNvSpPr/>
          <p:nvPr/>
        </p:nvSpPr>
        <p:spPr>
          <a:xfrm>
            <a:off x="365760" y="1051560"/>
            <a:ext cx="3794760" cy="1371600"/>
          </a:xfrm>
          <a:prstGeom prst="roundRect">
            <a:avLst>
              <a:gd name="adj" fmla="val 7333"/>
            </a:avLst>
          </a:prstGeom>
          <a:solidFill>
            <a:srgbClr val="1A2B4A"/>
          </a:solidFill>
          <a:ln w="12700">
            <a:solidFill>
              <a:srgbClr val="1A56A0"/>
            </a:solidFill>
            <a:prstDash val="solid"/>
          </a:ln>
        </p:spPr>
      </p:sp>
      <p:sp>
        <p:nvSpPr>
          <p:cNvPr id="7" name="Shape 5"/>
          <p:cNvSpPr/>
          <p:nvPr/>
        </p:nvSpPr>
        <p:spPr>
          <a:xfrm>
            <a:off x="365760" y="1051560"/>
            <a:ext cx="530352" cy="1371600"/>
          </a:xfrm>
          <a:prstGeom prst="roundRect">
            <a:avLst>
              <a:gd name="adj" fmla="val 13793"/>
            </a:avLst>
          </a:prstGeom>
          <a:solidFill>
            <a:srgbClr val="1A56A0"/>
          </a:solidFill>
          <a:ln w="12700">
            <a:solidFill>
              <a:srgbClr val="1A56A0"/>
            </a:solidFill>
            <a:prstDash val="solid"/>
          </a:ln>
        </p:spPr>
      </p:sp>
      <p:sp>
        <p:nvSpPr>
          <p:cNvPr id="8" name="Text 6"/>
          <p:cNvSpPr/>
          <p:nvPr/>
        </p:nvSpPr>
        <p:spPr>
          <a:xfrm>
            <a:off x="365760" y="1051560"/>
            <a:ext cx="530352" cy="13716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969264" y="1124712"/>
            <a:ext cx="3090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sabe que los tiene</a:t>
            </a:r>
            <a:endParaRPr lang="en-US" sz="1200" dirty="0"/>
          </a:p>
        </p:txBody>
      </p:sp>
      <p:sp>
        <p:nvSpPr>
          <p:cNvPr id="10" name="Text 8"/>
          <p:cNvSpPr/>
          <p:nvPr/>
        </p:nvSpPr>
        <p:spPr>
          <a:xfrm>
            <a:off x="969264" y="1453896"/>
            <a:ext cx="3090672" cy="896112"/>
          </a:xfrm>
          <a:prstGeom prst="rect">
            <a:avLst/>
          </a:prstGeom>
          <a:noFill/>
          <a:ln/>
        </p:spPr>
        <p:txBody>
          <a:bodyPr wrap="square" rtlCol="0" anchor="ctr"/>
          <a:lstStyle/>
          <a:p>
            <a:pPr indent="0" marL="0">
              <a:buNone/>
            </a:pPr>
            <a:r>
              <a:rPr lang="en-US" sz="1050" i="1" dirty="0">
                <a:solidFill>
                  <a:srgbClr val="D0D8E8"/>
                </a:solidFill>
                <a:latin typeface="Calibri" pitchFamily="34" charset="0"/>
                <a:ea typeface="Calibri" pitchFamily="34" charset="-122"/>
                <a:cs typeface="Calibri" pitchFamily="34" charset="-120"/>
              </a:rPr>
              <a:t>"Perfecto — vamos a revisar juntos qué MPs tiene tu plan. Te muestro cuáles tienes disponibles y cómo activarlos en menos de una semana."</a:t>
            </a:r>
            <a:endParaRPr lang="en-US" sz="1050" dirty="0"/>
          </a:p>
        </p:txBody>
      </p:sp>
      <p:sp>
        <p:nvSpPr>
          <p:cNvPr id="11" name="Shape 9"/>
          <p:cNvSpPr/>
          <p:nvPr/>
        </p:nvSpPr>
        <p:spPr>
          <a:xfrm>
            <a:off x="7955280" y="1051560"/>
            <a:ext cx="3794760" cy="1371600"/>
          </a:xfrm>
          <a:prstGeom prst="roundRect">
            <a:avLst>
              <a:gd name="adj" fmla="val 7333"/>
            </a:avLst>
          </a:prstGeom>
          <a:solidFill>
            <a:srgbClr val="1A2B4A"/>
          </a:solidFill>
          <a:ln w="12700">
            <a:solidFill>
              <a:srgbClr val="1A56A0"/>
            </a:solidFill>
            <a:prstDash val="solid"/>
          </a:ln>
        </p:spPr>
      </p:sp>
      <p:sp>
        <p:nvSpPr>
          <p:cNvPr id="12" name="Shape 10"/>
          <p:cNvSpPr/>
          <p:nvPr/>
        </p:nvSpPr>
        <p:spPr>
          <a:xfrm>
            <a:off x="7955280" y="1051560"/>
            <a:ext cx="530352" cy="1371600"/>
          </a:xfrm>
          <a:prstGeom prst="roundRect">
            <a:avLst>
              <a:gd name="adj" fmla="val 13793"/>
            </a:avLst>
          </a:prstGeom>
          <a:solidFill>
            <a:srgbClr val="1A56A0"/>
          </a:solidFill>
          <a:ln w="12700">
            <a:solidFill>
              <a:srgbClr val="1A56A0"/>
            </a:solidFill>
            <a:prstDash val="solid"/>
          </a:ln>
        </p:spPr>
      </p:sp>
      <p:sp>
        <p:nvSpPr>
          <p:cNvPr id="13" name="Text 11"/>
          <p:cNvSpPr/>
          <p:nvPr/>
        </p:nvSpPr>
        <p:spPr>
          <a:xfrm>
            <a:off x="7955280" y="1051560"/>
            <a:ext cx="530352" cy="13716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8558784" y="1124712"/>
            <a:ext cx="3090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"Perfecto — vamos a revisar juntos qué MPs tiene tu plan. Te muestro cuáles tienes disponibles y cómo activarlos en menos de una semana."</a:t>
            </a:r>
            <a:endParaRPr lang="en-US" sz="1200" dirty="0"/>
          </a:p>
        </p:txBody>
      </p:sp>
      <p:sp>
        <p:nvSpPr>
          <p:cNvPr id="15" name="Text 13"/>
          <p:cNvSpPr/>
          <p:nvPr/>
        </p:nvSpPr>
        <p:spPr>
          <a:xfrm>
            <a:off x="8558784" y="1453896"/>
            <a:ext cx="3090672" cy="896112"/>
          </a:xfrm>
          <a:prstGeom prst="rect">
            <a:avLst/>
          </a:prstGeom>
          <a:noFill/>
          <a:ln/>
        </p:spPr>
        <p:txBody>
          <a:bodyPr wrap="square" rtlCol="0" anchor="ctr"/>
          <a:lstStyle/>
          <a:p>
            <a:pPr indent="0" marL="0">
              <a:buNone/>
            </a:pPr>
            <a:endParaRPr lang="en-US" sz="1050" dirty="0"/>
          </a:p>
        </p:txBody>
      </p:sp>
      <p:sp>
        <p:nvSpPr>
          <p:cNvPr id="16" name="Shape 14"/>
          <p:cNvSpPr/>
          <p:nvPr/>
        </p:nvSpPr>
        <p:spPr>
          <a:xfrm>
            <a:off x="365760" y="1051560"/>
            <a:ext cx="3794760" cy="731520"/>
          </a:xfrm>
          <a:prstGeom prst="roundRect">
            <a:avLst>
              <a:gd name="adj" fmla="val 13750"/>
            </a:avLst>
          </a:prstGeom>
          <a:solidFill>
            <a:srgbClr val="1A2B4A"/>
          </a:solidFill>
          <a:ln w="12700">
            <a:solidFill>
              <a:srgbClr val="1A56A0"/>
            </a:solidFill>
            <a:prstDash val="solid"/>
          </a:ln>
        </p:spPr>
      </p:sp>
      <p:sp>
        <p:nvSpPr>
          <p:cNvPr id="17" name="Shape 15"/>
          <p:cNvSpPr/>
          <p:nvPr/>
        </p:nvSpPr>
        <p:spPr>
          <a:xfrm>
            <a:off x="365760" y="1051560"/>
            <a:ext cx="502920" cy="731520"/>
          </a:xfrm>
          <a:prstGeom prst="roundRect">
            <a:avLst>
              <a:gd name="adj" fmla="val 14545"/>
            </a:avLst>
          </a:prstGeom>
          <a:solidFill>
            <a:srgbClr val="1A56A0"/>
          </a:solidFill>
          <a:ln w="12700">
            <a:solidFill>
              <a:srgbClr val="1A56A0"/>
            </a:solidFill>
            <a:prstDash val="solid"/>
          </a:ln>
        </p:spPr>
      </p:sp>
      <p:sp>
        <p:nvSpPr>
          <p:cNvPr id="18" name="Text 16"/>
          <p:cNvSpPr/>
          <p:nvPr/>
        </p:nvSpPr>
        <p:spPr>
          <a:xfrm>
            <a:off x="365760" y="1051560"/>
            <a:ext cx="502920" cy="7315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9" name="Text 17"/>
          <p:cNvSpPr/>
          <p:nvPr/>
        </p:nvSpPr>
        <p:spPr>
          <a:xfrm>
            <a:off x="941832" y="1051560"/>
            <a:ext cx="3108960" cy="7315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sabe que los tiene</a:t>
            </a:r>
            <a:endParaRPr lang="en-US" sz="1200" dirty="0"/>
          </a:p>
        </p:txBody>
      </p:sp>
      <p:sp>
        <p:nvSpPr>
          <p:cNvPr id="20" name="Text 18"/>
          <p:cNvSpPr/>
          <p:nvPr/>
        </p:nvSpPr>
        <p:spPr>
          <a:xfrm>
            <a:off x="4224528" y="1051560"/>
            <a:ext cx="411480" cy="731520"/>
          </a:xfrm>
          <a:prstGeom prst="rect">
            <a:avLst/>
          </a:prstGeom>
          <a:noFill/>
          <a:ln/>
        </p:spPr>
        <p:txBody>
          <a:bodyPr wrap="square" rtlCol="0" anchor="ctr"/>
          <a:lstStyle/>
          <a:p>
            <a:pPr algn="ctr" indent="0" marL="0">
              <a:buNone/>
            </a:pPr>
            <a:r>
              <a:rPr lang="en-US" sz="2000" b="1" dirty="0">
                <a:solidFill>
                  <a:srgbClr val="E8A000"/>
                </a:solidFill>
                <a:latin typeface="Calibri" pitchFamily="34" charset="0"/>
                <a:ea typeface="Calibri" pitchFamily="34" charset="-122"/>
                <a:cs typeface="Calibri" pitchFamily="34" charset="-120"/>
              </a:rPr>
              <a:t>→</a:t>
            </a:r>
            <a:endParaRPr lang="en-US" sz="2000" dirty="0"/>
          </a:p>
        </p:txBody>
      </p:sp>
      <p:sp>
        <p:nvSpPr>
          <p:cNvPr id="21" name="Shape 19"/>
          <p:cNvSpPr/>
          <p:nvPr/>
        </p:nvSpPr>
        <p:spPr>
          <a:xfrm>
            <a:off x="4663440" y="1051560"/>
            <a:ext cx="7315200" cy="731520"/>
          </a:xfrm>
          <a:prstGeom prst="roundRect">
            <a:avLst>
              <a:gd name="adj" fmla="val 13750"/>
            </a:avLst>
          </a:prstGeom>
          <a:solidFill>
            <a:srgbClr val="1A2B4A"/>
          </a:solidFill>
          <a:ln w="12700">
            <a:solidFill>
              <a:srgbClr val="1A56A0"/>
            </a:solidFill>
            <a:prstDash val="solid"/>
          </a:ln>
        </p:spPr>
      </p:sp>
      <p:sp>
        <p:nvSpPr>
          <p:cNvPr id="22" name="Text 20"/>
          <p:cNvSpPr/>
          <p:nvPr/>
        </p:nvSpPr>
        <p:spPr>
          <a:xfrm>
            <a:off x="4773168" y="1051560"/>
            <a:ext cx="7095744" cy="731520"/>
          </a:xfrm>
          <a:prstGeom prst="rect">
            <a:avLst/>
          </a:prstGeom>
          <a:noFill/>
          <a:ln/>
        </p:spPr>
        <p:txBody>
          <a:bodyPr wrap="square" rtlCol="0" anchor="ctr"/>
          <a:lstStyle/>
          <a:p>
            <a:pPr indent="0" marL="0">
              <a:buNone/>
            </a:pPr>
            <a:r>
              <a:rPr lang="en-US" sz="1100" i="1" dirty="0">
                <a:solidFill>
                  <a:srgbClr val="D0D8E8"/>
                </a:solidFill>
                <a:latin typeface="Calibri" pitchFamily="34" charset="0"/>
                <a:ea typeface="Calibri" pitchFamily="34" charset="-122"/>
                <a:cs typeface="Calibri" pitchFamily="34" charset="-120"/>
              </a:rPr>
              <a:t>"Perfecto — vamos a revisar juntos qué MPs tiene tu plan. Te muestro cuáles tienes disponibles y cómo activarlos en menos de una semana."</a:t>
            </a:r>
            <a:endParaRPr lang="en-US" sz="1100" dirty="0"/>
          </a:p>
        </p:txBody>
      </p:sp>
      <p:sp>
        <p:nvSpPr>
          <p:cNvPr id="23" name="Shape 21"/>
          <p:cNvSpPr/>
          <p:nvPr/>
        </p:nvSpPr>
        <p:spPr>
          <a:xfrm>
            <a:off x="365760" y="1856232"/>
            <a:ext cx="3794760" cy="1371600"/>
          </a:xfrm>
          <a:prstGeom prst="roundRect">
            <a:avLst>
              <a:gd name="adj" fmla="val 7333"/>
            </a:avLst>
          </a:prstGeom>
          <a:solidFill>
            <a:srgbClr val="1A2B4A"/>
          </a:solidFill>
          <a:ln w="12700">
            <a:solidFill>
              <a:srgbClr val="1A56A0"/>
            </a:solidFill>
            <a:prstDash val="solid"/>
          </a:ln>
        </p:spPr>
      </p:sp>
      <p:sp>
        <p:nvSpPr>
          <p:cNvPr id="24" name="Shape 22"/>
          <p:cNvSpPr/>
          <p:nvPr/>
        </p:nvSpPr>
        <p:spPr>
          <a:xfrm>
            <a:off x="365760" y="1856232"/>
            <a:ext cx="530352" cy="1371600"/>
          </a:xfrm>
          <a:prstGeom prst="roundRect">
            <a:avLst>
              <a:gd name="adj" fmla="val 13793"/>
            </a:avLst>
          </a:prstGeom>
          <a:solidFill>
            <a:srgbClr val="1A56A0"/>
          </a:solidFill>
          <a:ln w="12700">
            <a:solidFill>
              <a:srgbClr val="1A56A0"/>
            </a:solidFill>
            <a:prstDash val="solid"/>
          </a:ln>
        </p:spPr>
      </p:sp>
      <p:sp>
        <p:nvSpPr>
          <p:cNvPr id="25" name="Text 23"/>
          <p:cNvSpPr/>
          <p:nvPr/>
        </p:nvSpPr>
        <p:spPr>
          <a:xfrm>
            <a:off x="365760" y="1856232"/>
            <a:ext cx="530352" cy="13716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6" name="Text 24"/>
          <p:cNvSpPr/>
          <p:nvPr/>
        </p:nvSpPr>
        <p:spPr>
          <a:xfrm>
            <a:off x="969264" y="1929384"/>
            <a:ext cx="3090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Barrera técnica (catálogo, ERP)</a:t>
            </a:r>
            <a:endParaRPr lang="en-US" sz="1200" dirty="0"/>
          </a:p>
        </p:txBody>
      </p:sp>
      <p:sp>
        <p:nvSpPr>
          <p:cNvPr id="27" name="Text 25"/>
          <p:cNvSpPr/>
          <p:nvPr/>
        </p:nvSpPr>
        <p:spPr>
          <a:xfrm>
            <a:off x="969264" y="2258568"/>
            <a:ext cx="3090672" cy="896112"/>
          </a:xfrm>
          <a:prstGeom prst="rect">
            <a:avLst/>
          </a:prstGeom>
          <a:noFill/>
          <a:ln/>
        </p:spPr>
        <p:txBody>
          <a:bodyPr wrap="square" rtlCol="0" anchor="ctr"/>
          <a:lstStyle/>
          <a:p>
            <a:pPr indent="0" marL="0">
              <a:buNone/>
            </a:pPr>
            <a:r>
              <a:rPr lang="en-US" sz="1050" i="1" dirty="0">
                <a:solidFill>
                  <a:srgbClr val="D0D8E8"/>
                </a:solidFill>
                <a:latin typeface="Calibri" pitchFamily="34" charset="0"/>
                <a:ea typeface="Calibri" pitchFamily="34" charset="-122"/>
                <a:cs typeface="Calibri" pitchFamily="34" charset="-120"/>
              </a:rPr>
              <a:t>"Entiendo. ¿Cuándo tienes 30 minutos para una sesión técnica? Puedo coordinar con nuestro equipo de soporte para guiarte en la activación paso a paso."</a:t>
            </a:r>
            <a:endParaRPr lang="en-US" sz="1050" dirty="0"/>
          </a:p>
        </p:txBody>
      </p:sp>
      <p:sp>
        <p:nvSpPr>
          <p:cNvPr id="28" name="Shape 26"/>
          <p:cNvSpPr/>
          <p:nvPr/>
        </p:nvSpPr>
        <p:spPr>
          <a:xfrm>
            <a:off x="7955280" y="1856232"/>
            <a:ext cx="3794760" cy="1371600"/>
          </a:xfrm>
          <a:prstGeom prst="roundRect">
            <a:avLst>
              <a:gd name="adj" fmla="val 7333"/>
            </a:avLst>
          </a:prstGeom>
          <a:solidFill>
            <a:srgbClr val="1A2B4A"/>
          </a:solidFill>
          <a:ln w="12700">
            <a:solidFill>
              <a:srgbClr val="1A56A0"/>
            </a:solidFill>
            <a:prstDash val="solid"/>
          </a:ln>
        </p:spPr>
      </p:sp>
      <p:sp>
        <p:nvSpPr>
          <p:cNvPr id="29" name="Shape 27"/>
          <p:cNvSpPr/>
          <p:nvPr/>
        </p:nvSpPr>
        <p:spPr>
          <a:xfrm>
            <a:off x="7955280" y="1856232"/>
            <a:ext cx="530352" cy="1371600"/>
          </a:xfrm>
          <a:prstGeom prst="roundRect">
            <a:avLst>
              <a:gd name="adj" fmla="val 13793"/>
            </a:avLst>
          </a:prstGeom>
          <a:solidFill>
            <a:srgbClr val="1A56A0"/>
          </a:solidFill>
          <a:ln w="12700">
            <a:solidFill>
              <a:srgbClr val="1A56A0"/>
            </a:solidFill>
            <a:prstDash val="solid"/>
          </a:ln>
        </p:spPr>
      </p:sp>
      <p:sp>
        <p:nvSpPr>
          <p:cNvPr id="30" name="Text 28"/>
          <p:cNvSpPr/>
          <p:nvPr/>
        </p:nvSpPr>
        <p:spPr>
          <a:xfrm>
            <a:off x="7955280" y="1856232"/>
            <a:ext cx="530352" cy="13716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1" name="Text 29"/>
          <p:cNvSpPr/>
          <p:nvPr/>
        </p:nvSpPr>
        <p:spPr>
          <a:xfrm>
            <a:off x="8558784" y="1929384"/>
            <a:ext cx="3090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"Entiendo. ¿Cuándo tienes 30 minutos para una sesión técnica? Puedo coordinar con nuestro equipo de soporte para guiarte en la activación paso a paso."</a:t>
            </a:r>
            <a:endParaRPr lang="en-US" sz="1200" dirty="0"/>
          </a:p>
        </p:txBody>
      </p:sp>
      <p:sp>
        <p:nvSpPr>
          <p:cNvPr id="32" name="Text 30"/>
          <p:cNvSpPr/>
          <p:nvPr/>
        </p:nvSpPr>
        <p:spPr>
          <a:xfrm>
            <a:off x="8558784" y="2258568"/>
            <a:ext cx="3090672" cy="896112"/>
          </a:xfrm>
          <a:prstGeom prst="rect">
            <a:avLst/>
          </a:prstGeom>
          <a:noFill/>
          <a:ln/>
        </p:spPr>
        <p:txBody>
          <a:bodyPr wrap="square" rtlCol="0" anchor="ctr"/>
          <a:lstStyle/>
          <a:p>
            <a:pPr indent="0" marL="0">
              <a:buNone/>
            </a:pPr>
            <a:endParaRPr lang="en-US" sz="1050" dirty="0"/>
          </a:p>
        </p:txBody>
      </p:sp>
      <p:sp>
        <p:nvSpPr>
          <p:cNvPr id="33" name="Shape 31"/>
          <p:cNvSpPr/>
          <p:nvPr/>
        </p:nvSpPr>
        <p:spPr>
          <a:xfrm>
            <a:off x="365760" y="1856232"/>
            <a:ext cx="3794760" cy="731520"/>
          </a:xfrm>
          <a:prstGeom prst="roundRect">
            <a:avLst>
              <a:gd name="adj" fmla="val 13750"/>
            </a:avLst>
          </a:prstGeom>
          <a:solidFill>
            <a:srgbClr val="1A2B4A"/>
          </a:solidFill>
          <a:ln w="12700">
            <a:solidFill>
              <a:srgbClr val="1A56A0"/>
            </a:solidFill>
            <a:prstDash val="solid"/>
          </a:ln>
        </p:spPr>
      </p:sp>
      <p:sp>
        <p:nvSpPr>
          <p:cNvPr id="34" name="Shape 32"/>
          <p:cNvSpPr/>
          <p:nvPr/>
        </p:nvSpPr>
        <p:spPr>
          <a:xfrm>
            <a:off x="365760" y="1856232"/>
            <a:ext cx="502920" cy="731520"/>
          </a:xfrm>
          <a:prstGeom prst="roundRect">
            <a:avLst>
              <a:gd name="adj" fmla="val 14545"/>
            </a:avLst>
          </a:prstGeom>
          <a:solidFill>
            <a:srgbClr val="1A56A0"/>
          </a:solidFill>
          <a:ln w="12700">
            <a:solidFill>
              <a:srgbClr val="1A56A0"/>
            </a:solidFill>
            <a:prstDash val="solid"/>
          </a:ln>
        </p:spPr>
      </p:sp>
      <p:sp>
        <p:nvSpPr>
          <p:cNvPr id="35" name="Text 33"/>
          <p:cNvSpPr/>
          <p:nvPr/>
        </p:nvSpPr>
        <p:spPr>
          <a:xfrm>
            <a:off x="365760" y="1856232"/>
            <a:ext cx="502920" cy="7315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6" name="Text 34"/>
          <p:cNvSpPr/>
          <p:nvPr/>
        </p:nvSpPr>
        <p:spPr>
          <a:xfrm>
            <a:off x="941832" y="1856232"/>
            <a:ext cx="3108960" cy="7315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Barrera técnica (catálogo, ERP)</a:t>
            </a:r>
            <a:endParaRPr lang="en-US" sz="1200" dirty="0"/>
          </a:p>
        </p:txBody>
      </p:sp>
      <p:sp>
        <p:nvSpPr>
          <p:cNvPr id="37" name="Text 35"/>
          <p:cNvSpPr/>
          <p:nvPr/>
        </p:nvSpPr>
        <p:spPr>
          <a:xfrm>
            <a:off x="4224528" y="1856232"/>
            <a:ext cx="411480" cy="731520"/>
          </a:xfrm>
          <a:prstGeom prst="rect">
            <a:avLst/>
          </a:prstGeom>
          <a:noFill/>
          <a:ln/>
        </p:spPr>
        <p:txBody>
          <a:bodyPr wrap="square" rtlCol="0" anchor="ctr"/>
          <a:lstStyle/>
          <a:p>
            <a:pPr algn="ctr" indent="0" marL="0">
              <a:buNone/>
            </a:pPr>
            <a:r>
              <a:rPr lang="en-US" sz="2000" b="1" dirty="0">
                <a:solidFill>
                  <a:srgbClr val="E8A000"/>
                </a:solidFill>
                <a:latin typeface="Calibri" pitchFamily="34" charset="0"/>
                <a:ea typeface="Calibri" pitchFamily="34" charset="-122"/>
                <a:cs typeface="Calibri" pitchFamily="34" charset="-120"/>
              </a:rPr>
              <a:t>→</a:t>
            </a:r>
            <a:endParaRPr lang="en-US" sz="2000" dirty="0"/>
          </a:p>
        </p:txBody>
      </p:sp>
      <p:sp>
        <p:nvSpPr>
          <p:cNvPr id="38" name="Shape 36"/>
          <p:cNvSpPr/>
          <p:nvPr/>
        </p:nvSpPr>
        <p:spPr>
          <a:xfrm>
            <a:off x="4663440" y="1856232"/>
            <a:ext cx="7315200" cy="731520"/>
          </a:xfrm>
          <a:prstGeom prst="roundRect">
            <a:avLst>
              <a:gd name="adj" fmla="val 13750"/>
            </a:avLst>
          </a:prstGeom>
          <a:solidFill>
            <a:srgbClr val="1A2B4A"/>
          </a:solidFill>
          <a:ln w="12700">
            <a:solidFill>
              <a:srgbClr val="1A56A0"/>
            </a:solidFill>
            <a:prstDash val="solid"/>
          </a:ln>
        </p:spPr>
      </p:sp>
      <p:sp>
        <p:nvSpPr>
          <p:cNvPr id="39" name="Text 37"/>
          <p:cNvSpPr/>
          <p:nvPr/>
        </p:nvSpPr>
        <p:spPr>
          <a:xfrm>
            <a:off x="4773168" y="1856232"/>
            <a:ext cx="7095744" cy="731520"/>
          </a:xfrm>
          <a:prstGeom prst="rect">
            <a:avLst/>
          </a:prstGeom>
          <a:noFill/>
          <a:ln/>
        </p:spPr>
        <p:txBody>
          <a:bodyPr wrap="square" rtlCol="0" anchor="ctr"/>
          <a:lstStyle/>
          <a:p>
            <a:pPr indent="0" marL="0">
              <a:buNone/>
            </a:pPr>
            <a:r>
              <a:rPr lang="en-US" sz="1100" i="1" dirty="0">
                <a:solidFill>
                  <a:srgbClr val="D0D8E8"/>
                </a:solidFill>
                <a:latin typeface="Calibri" pitchFamily="34" charset="0"/>
                <a:ea typeface="Calibri" pitchFamily="34" charset="-122"/>
                <a:cs typeface="Calibri" pitchFamily="34" charset="-120"/>
              </a:rPr>
              <a:t>"Entiendo. ¿Cuándo tienes 30 minutos para una sesión técnica? Puedo coordinar con nuestro equipo de soporte para guiarte en la activación paso a paso."</a:t>
            </a:r>
            <a:endParaRPr lang="en-US" sz="1100" dirty="0"/>
          </a:p>
        </p:txBody>
      </p:sp>
      <p:sp>
        <p:nvSpPr>
          <p:cNvPr id="40" name="Shape 38"/>
          <p:cNvSpPr/>
          <p:nvPr/>
        </p:nvSpPr>
        <p:spPr>
          <a:xfrm>
            <a:off x="365760" y="2660904"/>
            <a:ext cx="3794760" cy="1371600"/>
          </a:xfrm>
          <a:prstGeom prst="roundRect">
            <a:avLst>
              <a:gd name="adj" fmla="val 7333"/>
            </a:avLst>
          </a:prstGeom>
          <a:solidFill>
            <a:srgbClr val="1A2B4A"/>
          </a:solidFill>
          <a:ln w="12700">
            <a:solidFill>
              <a:srgbClr val="1E7A40"/>
            </a:solidFill>
            <a:prstDash val="solid"/>
          </a:ln>
        </p:spPr>
      </p:sp>
      <p:sp>
        <p:nvSpPr>
          <p:cNvPr id="41" name="Shape 39"/>
          <p:cNvSpPr/>
          <p:nvPr/>
        </p:nvSpPr>
        <p:spPr>
          <a:xfrm>
            <a:off x="365760" y="2660904"/>
            <a:ext cx="530352" cy="1371600"/>
          </a:xfrm>
          <a:prstGeom prst="roundRect">
            <a:avLst>
              <a:gd name="adj" fmla="val 13793"/>
            </a:avLst>
          </a:prstGeom>
          <a:solidFill>
            <a:srgbClr val="1E7A40"/>
          </a:solidFill>
          <a:ln w="12700">
            <a:solidFill>
              <a:srgbClr val="1E7A40"/>
            </a:solidFill>
            <a:prstDash val="solid"/>
          </a:ln>
        </p:spPr>
      </p:sp>
      <p:sp>
        <p:nvSpPr>
          <p:cNvPr id="42" name="Text 40"/>
          <p:cNvSpPr/>
          <p:nvPr/>
        </p:nvSpPr>
        <p:spPr>
          <a:xfrm>
            <a:off x="365760" y="2660904"/>
            <a:ext cx="530352" cy="13716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3" name="Text 41"/>
          <p:cNvSpPr/>
          <p:nvPr/>
        </p:nvSpPr>
        <p:spPr>
          <a:xfrm>
            <a:off x="969264" y="2734056"/>
            <a:ext cx="3090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Sin equipo para gestionarlo</a:t>
            </a:r>
            <a:endParaRPr lang="en-US" sz="1200" dirty="0"/>
          </a:p>
        </p:txBody>
      </p:sp>
      <p:sp>
        <p:nvSpPr>
          <p:cNvPr id="44" name="Text 42"/>
          <p:cNvSpPr/>
          <p:nvPr/>
        </p:nvSpPr>
        <p:spPr>
          <a:xfrm>
            <a:off x="969264" y="3063240"/>
            <a:ext cx="3090672" cy="896112"/>
          </a:xfrm>
          <a:prstGeom prst="rect">
            <a:avLst/>
          </a:prstGeom>
          <a:noFill/>
          <a:ln/>
        </p:spPr>
        <p:txBody>
          <a:bodyPr wrap="square" rtlCol="0" anchor="ctr"/>
          <a:lstStyle/>
          <a:p>
            <a:pPr indent="0" marL="0">
              <a:buNone/>
            </a:pPr>
            <a:r>
              <a:rPr lang="en-US" sz="1050" i="1" dirty="0">
                <a:solidFill>
                  <a:srgbClr val="D0D8E8"/>
                </a:solidFill>
                <a:latin typeface="Calibri" pitchFamily="34" charset="0"/>
                <a:ea typeface="Calibri" pitchFamily="34" charset="-122"/>
                <a:cs typeface="Calibri" pitchFamily="34" charset="-120"/>
              </a:rPr>
              <a:t>"¿Cuál sería el canal de menor fricción para empezar? Podríamos activar solo uno primero y evaluar el resultado antes de ir a los demás."</a:t>
            </a:r>
            <a:endParaRPr lang="en-US" sz="1050" dirty="0"/>
          </a:p>
        </p:txBody>
      </p:sp>
      <p:sp>
        <p:nvSpPr>
          <p:cNvPr id="45" name="Shape 43"/>
          <p:cNvSpPr/>
          <p:nvPr/>
        </p:nvSpPr>
        <p:spPr>
          <a:xfrm>
            <a:off x="7955280" y="2660904"/>
            <a:ext cx="3794760" cy="1371600"/>
          </a:xfrm>
          <a:prstGeom prst="roundRect">
            <a:avLst>
              <a:gd name="adj" fmla="val 7333"/>
            </a:avLst>
          </a:prstGeom>
          <a:solidFill>
            <a:srgbClr val="1A2B4A"/>
          </a:solidFill>
          <a:ln w="12700">
            <a:solidFill>
              <a:srgbClr val="1E7A40"/>
            </a:solidFill>
            <a:prstDash val="solid"/>
          </a:ln>
        </p:spPr>
      </p:sp>
      <p:sp>
        <p:nvSpPr>
          <p:cNvPr id="46" name="Shape 44"/>
          <p:cNvSpPr/>
          <p:nvPr/>
        </p:nvSpPr>
        <p:spPr>
          <a:xfrm>
            <a:off x="7955280" y="2660904"/>
            <a:ext cx="530352" cy="1371600"/>
          </a:xfrm>
          <a:prstGeom prst="roundRect">
            <a:avLst>
              <a:gd name="adj" fmla="val 13793"/>
            </a:avLst>
          </a:prstGeom>
          <a:solidFill>
            <a:srgbClr val="1E7A40"/>
          </a:solidFill>
          <a:ln w="12700">
            <a:solidFill>
              <a:srgbClr val="1E7A40"/>
            </a:solidFill>
            <a:prstDash val="solid"/>
          </a:ln>
        </p:spPr>
      </p:sp>
      <p:sp>
        <p:nvSpPr>
          <p:cNvPr id="47" name="Text 45"/>
          <p:cNvSpPr/>
          <p:nvPr/>
        </p:nvSpPr>
        <p:spPr>
          <a:xfrm>
            <a:off x="7955280" y="2660904"/>
            <a:ext cx="530352" cy="13716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8" name="Text 46"/>
          <p:cNvSpPr/>
          <p:nvPr/>
        </p:nvSpPr>
        <p:spPr>
          <a:xfrm>
            <a:off x="8558784" y="2734056"/>
            <a:ext cx="3090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"¿Cuál sería el canal de menor fricción para empezar? Podríamos activar solo uno primero y evaluar el resultado antes de ir a los demás."</a:t>
            </a:r>
            <a:endParaRPr lang="en-US" sz="1200" dirty="0"/>
          </a:p>
        </p:txBody>
      </p:sp>
      <p:sp>
        <p:nvSpPr>
          <p:cNvPr id="49" name="Text 47"/>
          <p:cNvSpPr/>
          <p:nvPr/>
        </p:nvSpPr>
        <p:spPr>
          <a:xfrm>
            <a:off x="8558784" y="3063240"/>
            <a:ext cx="3090672" cy="896112"/>
          </a:xfrm>
          <a:prstGeom prst="rect">
            <a:avLst/>
          </a:prstGeom>
          <a:noFill/>
          <a:ln/>
        </p:spPr>
        <p:txBody>
          <a:bodyPr wrap="square" rtlCol="0" anchor="ctr"/>
          <a:lstStyle/>
          <a:p>
            <a:pPr indent="0" marL="0">
              <a:buNone/>
            </a:pPr>
            <a:endParaRPr lang="en-US" sz="1050" dirty="0"/>
          </a:p>
        </p:txBody>
      </p:sp>
      <p:sp>
        <p:nvSpPr>
          <p:cNvPr id="50" name="Shape 48"/>
          <p:cNvSpPr/>
          <p:nvPr/>
        </p:nvSpPr>
        <p:spPr>
          <a:xfrm>
            <a:off x="365760" y="2660904"/>
            <a:ext cx="3794760" cy="731520"/>
          </a:xfrm>
          <a:prstGeom prst="roundRect">
            <a:avLst>
              <a:gd name="adj" fmla="val 13750"/>
            </a:avLst>
          </a:prstGeom>
          <a:solidFill>
            <a:srgbClr val="1A2B4A"/>
          </a:solidFill>
          <a:ln w="12700">
            <a:solidFill>
              <a:srgbClr val="1E7A40"/>
            </a:solidFill>
            <a:prstDash val="solid"/>
          </a:ln>
        </p:spPr>
      </p:sp>
      <p:sp>
        <p:nvSpPr>
          <p:cNvPr id="51" name="Shape 49"/>
          <p:cNvSpPr/>
          <p:nvPr/>
        </p:nvSpPr>
        <p:spPr>
          <a:xfrm>
            <a:off x="365760" y="2660904"/>
            <a:ext cx="502920" cy="731520"/>
          </a:xfrm>
          <a:prstGeom prst="roundRect">
            <a:avLst>
              <a:gd name="adj" fmla="val 14545"/>
            </a:avLst>
          </a:prstGeom>
          <a:solidFill>
            <a:srgbClr val="1E7A40"/>
          </a:solidFill>
          <a:ln w="12700">
            <a:solidFill>
              <a:srgbClr val="1E7A40"/>
            </a:solidFill>
            <a:prstDash val="solid"/>
          </a:ln>
        </p:spPr>
      </p:sp>
      <p:sp>
        <p:nvSpPr>
          <p:cNvPr id="52" name="Text 50"/>
          <p:cNvSpPr/>
          <p:nvPr/>
        </p:nvSpPr>
        <p:spPr>
          <a:xfrm>
            <a:off x="365760" y="2660904"/>
            <a:ext cx="502920" cy="7315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53" name="Text 51"/>
          <p:cNvSpPr/>
          <p:nvPr/>
        </p:nvSpPr>
        <p:spPr>
          <a:xfrm>
            <a:off x="941832" y="2660904"/>
            <a:ext cx="3108960" cy="7315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Sin equipo para gestionarlo</a:t>
            </a:r>
            <a:endParaRPr lang="en-US" sz="1200" dirty="0"/>
          </a:p>
        </p:txBody>
      </p:sp>
      <p:sp>
        <p:nvSpPr>
          <p:cNvPr id="54" name="Text 52"/>
          <p:cNvSpPr/>
          <p:nvPr/>
        </p:nvSpPr>
        <p:spPr>
          <a:xfrm>
            <a:off x="4224528" y="2660904"/>
            <a:ext cx="411480" cy="731520"/>
          </a:xfrm>
          <a:prstGeom prst="rect">
            <a:avLst/>
          </a:prstGeom>
          <a:noFill/>
          <a:ln/>
        </p:spPr>
        <p:txBody>
          <a:bodyPr wrap="square" rtlCol="0" anchor="ctr"/>
          <a:lstStyle/>
          <a:p>
            <a:pPr algn="ctr" indent="0" marL="0">
              <a:buNone/>
            </a:pPr>
            <a:r>
              <a:rPr lang="en-US" sz="2000" b="1" dirty="0">
                <a:solidFill>
                  <a:srgbClr val="E8A000"/>
                </a:solidFill>
                <a:latin typeface="Calibri" pitchFamily="34" charset="0"/>
                <a:ea typeface="Calibri" pitchFamily="34" charset="-122"/>
                <a:cs typeface="Calibri" pitchFamily="34" charset="-120"/>
              </a:rPr>
              <a:t>→</a:t>
            </a:r>
            <a:endParaRPr lang="en-US" sz="2000" dirty="0"/>
          </a:p>
        </p:txBody>
      </p:sp>
      <p:sp>
        <p:nvSpPr>
          <p:cNvPr id="55" name="Shape 53"/>
          <p:cNvSpPr/>
          <p:nvPr/>
        </p:nvSpPr>
        <p:spPr>
          <a:xfrm>
            <a:off x="4663440" y="2660904"/>
            <a:ext cx="7315200" cy="731520"/>
          </a:xfrm>
          <a:prstGeom prst="roundRect">
            <a:avLst>
              <a:gd name="adj" fmla="val 13750"/>
            </a:avLst>
          </a:prstGeom>
          <a:solidFill>
            <a:srgbClr val="1A2B4A"/>
          </a:solidFill>
          <a:ln w="12700">
            <a:solidFill>
              <a:srgbClr val="1E7A40"/>
            </a:solidFill>
            <a:prstDash val="solid"/>
          </a:ln>
        </p:spPr>
      </p:sp>
      <p:sp>
        <p:nvSpPr>
          <p:cNvPr id="56" name="Text 54"/>
          <p:cNvSpPr/>
          <p:nvPr/>
        </p:nvSpPr>
        <p:spPr>
          <a:xfrm>
            <a:off x="4773168" y="2660904"/>
            <a:ext cx="7095744" cy="731520"/>
          </a:xfrm>
          <a:prstGeom prst="rect">
            <a:avLst/>
          </a:prstGeom>
          <a:noFill/>
          <a:ln/>
        </p:spPr>
        <p:txBody>
          <a:bodyPr wrap="square" rtlCol="0" anchor="ctr"/>
          <a:lstStyle/>
          <a:p>
            <a:pPr indent="0" marL="0">
              <a:buNone/>
            </a:pPr>
            <a:r>
              <a:rPr lang="en-US" sz="1100" i="1" dirty="0">
                <a:solidFill>
                  <a:srgbClr val="D0D8E8"/>
                </a:solidFill>
                <a:latin typeface="Calibri" pitchFamily="34" charset="0"/>
                <a:ea typeface="Calibri" pitchFamily="34" charset="-122"/>
                <a:cs typeface="Calibri" pitchFamily="34" charset="-120"/>
              </a:rPr>
              <a:t>"¿Cuál sería el canal de menor fricción para empezar? Podríamos activar solo uno primero y evaluar el resultado antes de ir a los demás."</a:t>
            </a:r>
            <a:endParaRPr lang="en-US" sz="1100" dirty="0"/>
          </a:p>
        </p:txBody>
      </p:sp>
      <p:sp>
        <p:nvSpPr>
          <p:cNvPr id="57" name="Shape 55"/>
          <p:cNvSpPr/>
          <p:nvPr/>
        </p:nvSpPr>
        <p:spPr>
          <a:xfrm>
            <a:off x="365760" y="3465576"/>
            <a:ext cx="3794760" cy="1371600"/>
          </a:xfrm>
          <a:prstGeom prst="roundRect">
            <a:avLst>
              <a:gd name="adj" fmla="val 7333"/>
            </a:avLst>
          </a:prstGeom>
          <a:solidFill>
            <a:srgbClr val="1A2B4A"/>
          </a:solidFill>
          <a:ln w="12700">
            <a:solidFill>
              <a:srgbClr val="1E7A40"/>
            </a:solidFill>
            <a:prstDash val="solid"/>
          </a:ln>
        </p:spPr>
      </p:sp>
      <p:sp>
        <p:nvSpPr>
          <p:cNvPr id="58" name="Shape 56"/>
          <p:cNvSpPr/>
          <p:nvPr/>
        </p:nvSpPr>
        <p:spPr>
          <a:xfrm>
            <a:off x="365760" y="3465576"/>
            <a:ext cx="530352" cy="1371600"/>
          </a:xfrm>
          <a:prstGeom prst="roundRect">
            <a:avLst>
              <a:gd name="adj" fmla="val 13793"/>
            </a:avLst>
          </a:prstGeom>
          <a:solidFill>
            <a:srgbClr val="1E7A40"/>
          </a:solidFill>
          <a:ln w="12700">
            <a:solidFill>
              <a:srgbClr val="1E7A40"/>
            </a:solidFill>
            <a:prstDash val="solid"/>
          </a:ln>
        </p:spPr>
      </p:sp>
      <p:sp>
        <p:nvSpPr>
          <p:cNvPr id="59" name="Text 57"/>
          <p:cNvSpPr/>
          <p:nvPr/>
        </p:nvSpPr>
        <p:spPr>
          <a:xfrm>
            <a:off x="365760" y="3465576"/>
            <a:ext cx="530352" cy="13716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60" name="Text 58"/>
          <p:cNvSpPr/>
          <p:nvPr/>
        </p:nvSpPr>
        <p:spPr>
          <a:xfrm>
            <a:off x="969264" y="3538728"/>
            <a:ext cx="3090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Mala experiencia previa con ese MP</a:t>
            </a:r>
            <a:endParaRPr lang="en-US" sz="1200" dirty="0"/>
          </a:p>
        </p:txBody>
      </p:sp>
      <p:sp>
        <p:nvSpPr>
          <p:cNvPr id="61" name="Text 59"/>
          <p:cNvSpPr/>
          <p:nvPr/>
        </p:nvSpPr>
        <p:spPr>
          <a:xfrm>
            <a:off x="969264" y="3867912"/>
            <a:ext cx="3090672" cy="896112"/>
          </a:xfrm>
          <a:prstGeom prst="rect">
            <a:avLst/>
          </a:prstGeom>
          <a:noFill/>
          <a:ln/>
        </p:spPr>
        <p:txBody>
          <a:bodyPr wrap="square" rtlCol="0" anchor="ctr"/>
          <a:lstStyle/>
          <a:p>
            <a:pPr indent="0" marL="0">
              <a:buNone/>
            </a:pPr>
            <a:r>
              <a:rPr lang="en-US" sz="1050" i="1" dirty="0">
                <a:solidFill>
                  <a:srgbClr val="D0D8E8"/>
                </a:solidFill>
                <a:latin typeface="Calibri" pitchFamily="34" charset="0"/>
                <a:ea typeface="Calibri" pitchFamily="34" charset="-122"/>
                <a:cs typeface="Calibri" pitchFamily="34" charset="-120"/>
              </a:rPr>
              <a:t>"Cuéntame qué pasó — quiero entender qué fue diferente entonces y cómo podemos evitarlo esta vez. No empezaríamos igual."</a:t>
            </a:r>
            <a:endParaRPr lang="en-US" sz="1050" dirty="0"/>
          </a:p>
        </p:txBody>
      </p:sp>
      <p:sp>
        <p:nvSpPr>
          <p:cNvPr id="62" name="Shape 60"/>
          <p:cNvSpPr/>
          <p:nvPr/>
        </p:nvSpPr>
        <p:spPr>
          <a:xfrm>
            <a:off x="7955280" y="3465576"/>
            <a:ext cx="3794760" cy="1371600"/>
          </a:xfrm>
          <a:prstGeom prst="roundRect">
            <a:avLst>
              <a:gd name="adj" fmla="val 7333"/>
            </a:avLst>
          </a:prstGeom>
          <a:solidFill>
            <a:srgbClr val="1A2B4A"/>
          </a:solidFill>
          <a:ln w="12700">
            <a:solidFill>
              <a:srgbClr val="1E7A40"/>
            </a:solidFill>
            <a:prstDash val="solid"/>
          </a:ln>
        </p:spPr>
      </p:sp>
      <p:sp>
        <p:nvSpPr>
          <p:cNvPr id="63" name="Shape 61"/>
          <p:cNvSpPr/>
          <p:nvPr/>
        </p:nvSpPr>
        <p:spPr>
          <a:xfrm>
            <a:off x="7955280" y="3465576"/>
            <a:ext cx="530352" cy="1371600"/>
          </a:xfrm>
          <a:prstGeom prst="roundRect">
            <a:avLst>
              <a:gd name="adj" fmla="val 13793"/>
            </a:avLst>
          </a:prstGeom>
          <a:solidFill>
            <a:srgbClr val="1E7A40"/>
          </a:solidFill>
          <a:ln w="12700">
            <a:solidFill>
              <a:srgbClr val="1E7A40"/>
            </a:solidFill>
            <a:prstDash val="solid"/>
          </a:ln>
        </p:spPr>
      </p:sp>
      <p:sp>
        <p:nvSpPr>
          <p:cNvPr id="64" name="Text 62"/>
          <p:cNvSpPr/>
          <p:nvPr/>
        </p:nvSpPr>
        <p:spPr>
          <a:xfrm>
            <a:off x="7955280" y="3465576"/>
            <a:ext cx="530352" cy="13716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5" name="Text 63"/>
          <p:cNvSpPr/>
          <p:nvPr/>
        </p:nvSpPr>
        <p:spPr>
          <a:xfrm>
            <a:off x="8558784" y="3538728"/>
            <a:ext cx="3090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"Cuéntame qué pasó — quiero entender qué fue diferente entonces y cómo podemos evitarlo esta vez. No empezaríamos igual."</a:t>
            </a:r>
            <a:endParaRPr lang="en-US" sz="1200" dirty="0"/>
          </a:p>
        </p:txBody>
      </p:sp>
      <p:sp>
        <p:nvSpPr>
          <p:cNvPr id="66" name="Text 64"/>
          <p:cNvSpPr/>
          <p:nvPr/>
        </p:nvSpPr>
        <p:spPr>
          <a:xfrm>
            <a:off x="8558784" y="3867912"/>
            <a:ext cx="3090672" cy="896112"/>
          </a:xfrm>
          <a:prstGeom prst="rect">
            <a:avLst/>
          </a:prstGeom>
          <a:noFill/>
          <a:ln/>
        </p:spPr>
        <p:txBody>
          <a:bodyPr wrap="square" rtlCol="0" anchor="ctr"/>
          <a:lstStyle/>
          <a:p>
            <a:pPr indent="0" marL="0">
              <a:buNone/>
            </a:pPr>
            <a:endParaRPr lang="en-US" sz="1050" dirty="0"/>
          </a:p>
        </p:txBody>
      </p:sp>
      <p:sp>
        <p:nvSpPr>
          <p:cNvPr id="67" name="Shape 65"/>
          <p:cNvSpPr/>
          <p:nvPr/>
        </p:nvSpPr>
        <p:spPr>
          <a:xfrm>
            <a:off x="365760" y="3465576"/>
            <a:ext cx="3794760" cy="731520"/>
          </a:xfrm>
          <a:prstGeom prst="roundRect">
            <a:avLst>
              <a:gd name="adj" fmla="val 13750"/>
            </a:avLst>
          </a:prstGeom>
          <a:solidFill>
            <a:srgbClr val="1A2B4A"/>
          </a:solidFill>
          <a:ln w="12700">
            <a:solidFill>
              <a:srgbClr val="1E7A40"/>
            </a:solidFill>
            <a:prstDash val="solid"/>
          </a:ln>
        </p:spPr>
      </p:sp>
      <p:sp>
        <p:nvSpPr>
          <p:cNvPr id="68" name="Shape 66"/>
          <p:cNvSpPr/>
          <p:nvPr/>
        </p:nvSpPr>
        <p:spPr>
          <a:xfrm>
            <a:off x="365760" y="3465576"/>
            <a:ext cx="502920" cy="731520"/>
          </a:xfrm>
          <a:prstGeom prst="roundRect">
            <a:avLst>
              <a:gd name="adj" fmla="val 14545"/>
            </a:avLst>
          </a:prstGeom>
          <a:solidFill>
            <a:srgbClr val="1E7A40"/>
          </a:solidFill>
          <a:ln w="12700">
            <a:solidFill>
              <a:srgbClr val="1E7A40"/>
            </a:solidFill>
            <a:prstDash val="solid"/>
          </a:ln>
        </p:spPr>
      </p:sp>
      <p:sp>
        <p:nvSpPr>
          <p:cNvPr id="69" name="Text 67"/>
          <p:cNvSpPr/>
          <p:nvPr/>
        </p:nvSpPr>
        <p:spPr>
          <a:xfrm>
            <a:off x="365760" y="3465576"/>
            <a:ext cx="502920" cy="7315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70" name="Text 68"/>
          <p:cNvSpPr/>
          <p:nvPr/>
        </p:nvSpPr>
        <p:spPr>
          <a:xfrm>
            <a:off x="941832" y="3465576"/>
            <a:ext cx="3108960" cy="7315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Mala experiencia previa con ese MP</a:t>
            </a:r>
            <a:endParaRPr lang="en-US" sz="1200" dirty="0"/>
          </a:p>
        </p:txBody>
      </p:sp>
      <p:sp>
        <p:nvSpPr>
          <p:cNvPr id="71" name="Text 69"/>
          <p:cNvSpPr/>
          <p:nvPr/>
        </p:nvSpPr>
        <p:spPr>
          <a:xfrm>
            <a:off x="4224528" y="3465576"/>
            <a:ext cx="411480" cy="731520"/>
          </a:xfrm>
          <a:prstGeom prst="rect">
            <a:avLst/>
          </a:prstGeom>
          <a:noFill/>
          <a:ln/>
        </p:spPr>
        <p:txBody>
          <a:bodyPr wrap="square" rtlCol="0" anchor="ctr"/>
          <a:lstStyle/>
          <a:p>
            <a:pPr algn="ctr" indent="0" marL="0">
              <a:buNone/>
            </a:pPr>
            <a:r>
              <a:rPr lang="en-US" sz="2000" b="1" dirty="0">
                <a:solidFill>
                  <a:srgbClr val="E8A000"/>
                </a:solidFill>
                <a:latin typeface="Calibri" pitchFamily="34" charset="0"/>
                <a:ea typeface="Calibri" pitchFamily="34" charset="-122"/>
                <a:cs typeface="Calibri" pitchFamily="34" charset="-120"/>
              </a:rPr>
              <a:t>→</a:t>
            </a:r>
            <a:endParaRPr lang="en-US" sz="2000" dirty="0"/>
          </a:p>
        </p:txBody>
      </p:sp>
      <p:sp>
        <p:nvSpPr>
          <p:cNvPr id="72" name="Shape 70"/>
          <p:cNvSpPr/>
          <p:nvPr/>
        </p:nvSpPr>
        <p:spPr>
          <a:xfrm>
            <a:off x="4663440" y="3465576"/>
            <a:ext cx="7315200" cy="731520"/>
          </a:xfrm>
          <a:prstGeom prst="roundRect">
            <a:avLst>
              <a:gd name="adj" fmla="val 13750"/>
            </a:avLst>
          </a:prstGeom>
          <a:solidFill>
            <a:srgbClr val="1A2B4A"/>
          </a:solidFill>
          <a:ln w="12700">
            <a:solidFill>
              <a:srgbClr val="1E7A40"/>
            </a:solidFill>
            <a:prstDash val="solid"/>
          </a:ln>
        </p:spPr>
      </p:sp>
      <p:sp>
        <p:nvSpPr>
          <p:cNvPr id="73" name="Text 71"/>
          <p:cNvSpPr/>
          <p:nvPr/>
        </p:nvSpPr>
        <p:spPr>
          <a:xfrm>
            <a:off x="4773168" y="3465576"/>
            <a:ext cx="7095744" cy="731520"/>
          </a:xfrm>
          <a:prstGeom prst="rect">
            <a:avLst/>
          </a:prstGeom>
          <a:noFill/>
          <a:ln/>
        </p:spPr>
        <p:txBody>
          <a:bodyPr wrap="square" rtlCol="0" anchor="ctr"/>
          <a:lstStyle/>
          <a:p>
            <a:pPr indent="0" marL="0">
              <a:buNone/>
            </a:pPr>
            <a:r>
              <a:rPr lang="en-US" sz="1100" i="1" dirty="0">
                <a:solidFill>
                  <a:srgbClr val="D0D8E8"/>
                </a:solidFill>
                <a:latin typeface="Calibri" pitchFamily="34" charset="0"/>
                <a:ea typeface="Calibri" pitchFamily="34" charset="-122"/>
                <a:cs typeface="Calibri" pitchFamily="34" charset="-120"/>
              </a:rPr>
              <a:t>"Cuéntame qué pasó — quiero entender qué fue diferente entonces y cómo podemos evitarlo esta vez. No empezaríamos igual."</a:t>
            </a:r>
            <a:endParaRPr lang="en-US" sz="1100" dirty="0"/>
          </a:p>
        </p:txBody>
      </p:sp>
      <p:sp>
        <p:nvSpPr>
          <p:cNvPr id="74" name="Shape 72"/>
          <p:cNvSpPr/>
          <p:nvPr/>
        </p:nvSpPr>
        <p:spPr>
          <a:xfrm>
            <a:off x="365760" y="4270248"/>
            <a:ext cx="3794760" cy="1371600"/>
          </a:xfrm>
          <a:prstGeom prst="roundRect">
            <a:avLst>
              <a:gd name="adj" fmla="val 7333"/>
            </a:avLst>
          </a:prstGeom>
          <a:solidFill>
            <a:srgbClr val="1A2B4A"/>
          </a:solidFill>
          <a:ln w="12700">
            <a:solidFill>
              <a:srgbClr val="C07000"/>
            </a:solidFill>
            <a:prstDash val="solid"/>
          </a:ln>
        </p:spPr>
      </p:sp>
      <p:sp>
        <p:nvSpPr>
          <p:cNvPr id="75" name="Shape 73"/>
          <p:cNvSpPr/>
          <p:nvPr/>
        </p:nvSpPr>
        <p:spPr>
          <a:xfrm>
            <a:off x="365760" y="4270248"/>
            <a:ext cx="530352" cy="1371600"/>
          </a:xfrm>
          <a:prstGeom prst="roundRect">
            <a:avLst>
              <a:gd name="adj" fmla="val 13793"/>
            </a:avLst>
          </a:prstGeom>
          <a:solidFill>
            <a:srgbClr val="C07000"/>
          </a:solidFill>
          <a:ln w="12700">
            <a:solidFill>
              <a:srgbClr val="C07000"/>
            </a:solidFill>
            <a:prstDash val="solid"/>
          </a:ln>
        </p:spPr>
      </p:sp>
      <p:sp>
        <p:nvSpPr>
          <p:cNvPr id="76" name="Text 74"/>
          <p:cNvSpPr/>
          <p:nvPr/>
        </p:nvSpPr>
        <p:spPr>
          <a:xfrm>
            <a:off x="365760" y="4270248"/>
            <a:ext cx="530352" cy="13716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77" name="Text 75"/>
          <p:cNvSpPr/>
          <p:nvPr/>
        </p:nvSpPr>
        <p:spPr>
          <a:xfrm>
            <a:off x="969264" y="4343400"/>
            <a:ext cx="3090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Decisión de marca / acuerdo exclusivo</a:t>
            </a:r>
            <a:endParaRPr lang="en-US" sz="1200" dirty="0"/>
          </a:p>
        </p:txBody>
      </p:sp>
      <p:sp>
        <p:nvSpPr>
          <p:cNvPr id="78" name="Text 76"/>
          <p:cNvSpPr/>
          <p:nvPr/>
        </p:nvSpPr>
        <p:spPr>
          <a:xfrm>
            <a:off x="969264" y="4672584"/>
            <a:ext cx="3090672" cy="896112"/>
          </a:xfrm>
          <a:prstGeom prst="rect">
            <a:avLst/>
          </a:prstGeom>
          <a:noFill/>
          <a:ln/>
        </p:spPr>
        <p:txBody>
          <a:bodyPr wrap="square" rtlCol="0" anchor="ctr"/>
          <a:lstStyle/>
          <a:p>
            <a:pPr indent="0" marL="0">
              <a:buNone/>
            </a:pPr>
            <a:r>
              <a:rPr lang="en-US" sz="1050" i="1" dirty="0">
                <a:solidFill>
                  <a:srgbClr val="D0D8E8"/>
                </a:solidFill>
                <a:latin typeface="Calibri" pitchFamily="34" charset="0"/>
                <a:ea typeface="Calibri" pitchFamily="34" charset="-122"/>
                <a:cs typeface="Calibri" pitchFamily="34" charset="-120"/>
              </a:rPr>
              <a:t>"Perfecto, lo registro y lo respeto. ¿Hay algún otro MP de los disponibles en tu plan que sí quieras explorar?"</a:t>
            </a:r>
            <a:endParaRPr lang="en-US" sz="1050" dirty="0"/>
          </a:p>
        </p:txBody>
      </p:sp>
      <p:sp>
        <p:nvSpPr>
          <p:cNvPr id="79" name="Shape 77"/>
          <p:cNvSpPr/>
          <p:nvPr/>
        </p:nvSpPr>
        <p:spPr>
          <a:xfrm>
            <a:off x="7955280" y="4270248"/>
            <a:ext cx="3794760" cy="1371600"/>
          </a:xfrm>
          <a:prstGeom prst="roundRect">
            <a:avLst>
              <a:gd name="adj" fmla="val 7333"/>
            </a:avLst>
          </a:prstGeom>
          <a:solidFill>
            <a:srgbClr val="1A2B4A"/>
          </a:solidFill>
          <a:ln w="12700">
            <a:solidFill>
              <a:srgbClr val="C07000"/>
            </a:solidFill>
            <a:prstDash val="solid"/>
          </a:ln>
        </p:spPr>
      </p:sp>
      <p:sp>
        <p:nvSpPr>
          <p:cNvPr id="80" name="Shape 78"/>
          <p:cNvSpPr/>
          <p:nvPr/>
        </p:nvSpPr>
        <p:spPr>
          <a:xfrm>
            <a:off x="7955280" y="4270248"/>
            <a:ext cx="530352" cy="1371600"/>
          </a:xfrm>
          <a:prstGeom prst="roundRect">
            <a:avLst>
              <a:gd name="adj" fmla="val 13793"/>
            </a:avLst>
          </a:prstGeom>
          <a:solidFill>
            <a:srgbClr val="C07000"/>
          </a:solidFill>
          <a:ln w="12700">
            <a:solidFill>
              <a:srgbClr val="C07000"/>
            </a:solidFill>
            <a:prstDash val="solid"/>
          </a:ln>
        </p:spPr>
      </p:sp>
      <p:sp>
        <p:nvSpPr>
          <p:cNvPr id="81" name="Text 79"/>
          <p:cNvSpPr/>
          <p:nvPr/>
        </p:nvSpPr>
        <p:spPr>
          <a:xfrm>
            <a:off x="7955280" y="4270248"/>
            <a:ext cx="530352" cy="13716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2" name="Text 80"/>
          <p:cNvSpPr/>
          <p:nvPr/>
        </p:nvSpPr>
        <p:spPr>
          <a:xfrm>
            <a:off x="8558784" y="4343400"/>
            <a:ext cx="3090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"Perfecto, lo registro y lo respeto. ¿Hay algún otro MP de los disponibles en tu plan que sí quieras explorar?"</a:t>
            </a:r>
            <a:endParaRPr lang="en-US" sz="1200" dirty="0"/>
          </a:p>
        </p:txBody>
      </p:sp>
      <p:sp>
        <p:nvSpPr>
          <p:cNvPr id="83" name="Text 81"/>
          <p:cNvSpPr/>
          <p:nvPr/>
        </p:nvSpPr>
        <p:spPr>
          <a:xfrm>
            <a:off x="8558784" y="4672584"/>
            <a:ext cx="3090672" cy="896112"/>
          </a:xfrm>
          <a:prstGeom prst="rect">
            <a:avLst/>
          </a:prstGeom>
          <a:noFill/>
          <a:ln/>
        </p:spPr>
        <p:txBody>
          <a:bodyPr wrap="square" rtlCol="0" anchor="ctr"/>
          <a:lstStyle/>
          <a:p>
            <a:pPr indent="0" marL="0">
              <a:buNone/>
            </a:pPr>
            <a:endParaRPr lang="en-US" sz="1050" dirty="0"/>
          </a:p>
        </p:txBody>
      </p:sp>
      <p:sp>
        <p:nvSpPr>
          <p:cNvPr id="84" name="Shape 82"/>
          <p:cNvSpPr/>
          <p:nvPr/>
        </p:nvSpPr>
        <p:spPr>
          <a:xfrm>
            <a:off x="365760" y="4270248"/>
            <a:ext cx="3794760" cy="731520"/>
          </a:xfrm>
          <a:prstGeom prst="roundRect">
            <a:avLst>
              <a:gd name="adj" fmla="val 13750"/>
            </a:avLst>
          </a:prstGeom>
          <a:solidFill>
            <a:srgbClr val="1A2B4A"/>
          </a:solidFill>
          <a:ln w="12700">
            <a:solidFill>
              <a:srgbClr val="C07000"/>
            </a:solidFill>
            <a:prstDash val="solid"/>
          </a:ln>
        </p:spPr>
      </p:sp>
      <p:sp>
        <p:nvSpPr>
          <p:cNvPr id="85" name="Shape 83"/>
          <p:cNvSpPr/>
          <p:nvPr/>
        </p:nvSpPr>
        <p:spPr>
          <a:xfrm>
            <a:off x="365760" y="4270248"/>
            <a:ext cx="502920" cy="731520"/>
          </a:xfrm>
          <a:prstGeom prst="roundRect">
            <a:avLst>
              <a:gd name="adj" fmla="val 14545"/>
            </a:avLst>
          </a:prstGeom>
          <a:solidFill>
            <a:srgbClr val="C07000"/>
          </a:solidFill>
          <a:ln w="12700">
            <a:solidFill>
              <a:srgbClr val="C07000"/>
            </a:solidFill>
            <a:prstDash val="solid"/>
          </a:ln>
        </p:spPr>
      </p:sp>
      <p:sp>
        <p:nvSpPr>
          <p:cNvPr id="86" name="Text 84"/>
          <p:cNvSpPr/>
          <p:nvPr/>
        </p:nvSpPr>
        <p:spPr>
          <a:xfrm>
            <a:off x="365760" y="4270248"/>
            <a:ext cx="502920" cy="7315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87" name="Text 85"/>
          <p:cNvSpPr/>
          <p:nvPr/>
        </p:nvSpPr>
        <p:spPr>
          <a:xfrm>
            <a:off x="941832" y="4270248"/>
            <a:ext cx="3108960" cy="7315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Decisión de marca / acuerdo exclusivo</a:t>
            </a:r>
            <a:endParaRPr lang="en-US" sz="1200" dirty="0"/>
          </a:p>
        </p:txBody>
      </p:sp>
      <p:sp>
        <p:nvSpPr>
          <p:cNvPr id="88" name="Text 86"/>
          <p:cNvSpPr/>
          <p:nvPr/>
        </p:nvSpPr>
        <p:spPr>
          <a:xfrm>
            <a:off x="4224528" y="4270248"/>
            <a:ext cx="411480" cy="731520"/>
          </a:xfrm>
          <a:prstGeom prst="rect">
            <a:avLst/>
          </a:prstGeom>
          <a:noFill/>
          <a:ln/>
        </p:spPr>
        <p:txBody>
          <a:bodyPr wrap="square" rtlCol="0" anchor="ctr"/>
          <a:lstStyle/>
          <a:p>
            <a:pPr algn="ctr" indent="0" marL="0">
              <a:buNone/>
            </a:pPr>
            <a:r>
              <a:rPr lang="en-US" sz="2000" b="1" dirty="0">
                <a:solidFill>
                  <a:srgbClr val="E8A000"/>
                </a:solidFill>
                <a:latin typeface="Calibri" pitchFamily="34" charset="0"/>
                <a:ea typeface="Calibri" pitchFamily="34" charset="-122"/>
                <a:cs typeface="Calibri" pitchFamily="34" charset="-120"/>
              </a:rPr>
              <a:t>→</a:t>
            </a:r>
            <a:endParaRPr lang="en-US" sz="2000" dirty="0"/>
          </a:p>
        </p:txBody>
      </p:sp>
      <p:sp>
        <p:nvSpPr>
          <p:cNvPr id="89" name="Shape 87"/>
          <p:cNvSpPr/>
          <p:nvPr/>
        </p:nvSpPr>
        <p:spPr>
          <a:xfrm>
            <a:off x="4663440" y="4270248"/>
            <a:ext cx="7315200" cy="731520"/>
          </a:xfrm>
          <a:prstGeom prst="roundRect">
            <a:avLst>
              <a:gd name="adj" fmla="val 13750"/>
            </a:avLst>
          </a:prstGeom>
          <a:solidFill>
            <a:srgbClr val="1A2B4A"/>
          </a:solidFill>
          <a:ln w="12700">
            <a:solidFill>
              <a:srgbClr val="C07000"/>
            </a:solidFill>
            <a:prstDash val="solid"/>
          </a:ln>
        </p:spPr>
      </p:sp>
      <p:sp>
        <p:nvSpPr>
          <p:cNvPr id="90" name="Text 88"/>
          <p:cNvSpPr/>
          <p:nvPr/>
        </p:nvSpPr>
        <p:spPr>
          <a:xfrm>
            <a:off x="4773168" y="4270248"/>
            <a:ext cx="7095744" cy="731520"/>
          </a:xfrm>
          <a:prstGeom prst="rect">
            <a:avLst/>
          </a:prstGeom>
          <a:noFill/>
          <a:ln/>
        </p:spPr>
        <p:txBody>
          <a:bodyPr wrap="square" rtlCol="0" anchor="ctr"/>
          <a:lstStyle/>
          <a:p>
            <a:pPr indent="0" marL="0">
              <a:buNone/>
            </a:pPr>
            <a:r>
              <a:rPr lang="en-US" sz="1100" i="1" dirty="0">
                <a:solidFill>
                  <a:srgbClr val="D0D8E8"/>
                </a:solidFill>
                <a:latin typeface="Calibri" pitchFamily="34" charset="0"/>
                <a:ea typeface="Calibri" pitchFamily="34" charset="-122"/>
                <a:cs typeface="Calibri" pitchFamily="34" charset="-120"/>
              </a:rPr>
              <a:t>"Perfecto, lo registro y lo respeto. ¿Hay algún otro MP de los disponibles en tu plan que sí quieras explorar?"</a:t>
            </a:r>
            <a:endParaRPr lang="en-US" sz="1100" dirty="0"/>
          </a:p>
        </p:txBody>
      </p:sp>
      <p:sp>
        <p:nvSpPr>
          <p:cNvPr id="91" name="Shape 89"/>
          <p:cNvSpPr/>
          <p:nvPr/>
        </p:nvSpPr>
        <p:spPr>
          <a:xfrm>
            <a:off x="365760" y="5074920"/>
            <a:ext cx="3794760" cy="1371600"/>
          </a:xfrm>
          <a:prstGeom prst="roundRect">
            <a:avLst>
              <a:gd name="adj" fmla="val 7333"/>
            </a:avLst>
          </a:prstGeom>
          <a:solidFill>
            <a:srgbClr val="1A2B4A"/>
          </a:solidFill>
          <a:ln w="12700">
            <a:solidFill>
              <a:srgbClr val="C07000"/>
            </a:solidFill>
            <a:prstDash val="solid"/>
          </a:ln>
        </p:spPr>
      </p:sp>
      <p:sp>
        <p:nvSpPr>
          <p:cNvPr id="92" name="Shape 90"/>
          <p:cNvSpPr/>
          <p:nvPr/>
        </p:nvSpPr>
        <p:spPr>
          <a:xfrm>
            <a:off x="365760" y="5074920"/>
            <a:ext cx="530352" cy="1371600"/>
          </a:xfrm>
          <a:prstGeom prst="roundRect">
            <a:avLst>
              <a:gd name="adj" fmla="val 13793"/>
            </a:avLst>
          </a:prstGeom>
          <a:solidFill>
            <a:srgbClr val="C07000"/>
          </a:solidFill>
          <a:ln w="12700">
            <a:solidFill>
              <a:srgbClr val="C07000"/>
            </a:solidFill>
            <a:prstDash val="solid"/>
          </a:ln>
        </p:spPr>
      </p:sp>
      <p:sp>
        <p:nvSpPr>
          <p:cNvPr id="93" name="Text 91"/>
          <p:cNvSpPr/>
          <p:nvPr/>
        </p:nvSpPr>
        <p:spPr>
          <a:xfrm>
            <a:off x="365760" y="5074920"/>
            <a:ext cx="530352" cy="13716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94" name="Text 92"/>
          <p:cNvSpPr/>
          <p:nvPr/>
        </p:nvSpPr>
        <p:spPr>
          <a:xfrm>
            <a:off x="969264" y="5148072"/>
            <a:ext cx="3090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conoce el potencial del MP</a:t>
            </a:r>
            <a:endParaRPr lang="en-US" sz="1200" dirty="0"/>
          </a:p>
        </p:txBody>
      </p:sp>
      <p:sp>
        <p:nvSpPr>
          <p:cNvPr id="95" name="Text 93"/>
          <p:cNvSpPr/>
          <p:nvPr/>
        </p:nvSpPr>
        <p:spPr>
          <a:xfrm>
            <a:off x="969264" y="5477256"/>
            <a:ext cx="3090672" cy="896112"/>
          </a:xfrm>
          <a:prstGeom prst="rect">
            <a:avLst/>
          </a:prstGeom>
          <a:noFill/>
          <a:ln/>
        </p:spPr>
        <p:txBody>
          <a:bodyPr wrap="square" rtlCol="0" anchor="ctr"/>
          <a:lstStyle/>
          <a:p>
            <a:pPr indent="0" marL="0">
              <a:buNone/>
            </a:pPr>
            <a:r>
              <a:rPr lang="en-US" sz="1050" i="1" dirty="0">
                <a:solidFill>
                  <a:srgbClr val="D0D8E8"/>
                </a:solidFill>
                <a:latin typeface="Calibri" pitchFamily="34" charset="0"/>
                <a:ea typeface="Calibri" pitchFamily="34" charset="-122"/>
                <a:cs typeface="Calibri" pitchFamily="34" charset="-120"/>
              </a:rPr>
              <a:t>"¿Te puedo mostrar cómo clientes de tu categoría están usando ese canal? Tengo datos de referencia que pueden ayudarte a decidir."</a:t>
            </a:r>
            <a:endParaRPr lang="en-US" sz="1050" dirty="0"/>
          </a:p>
        </p:txBody>
      </p:sp>
      <p:sp>
        <p:nvSpPr>
          <p:cNvPr id="96" name="Shape 94"/>
          <p:cNvSpPr/>
          <p:nvPr/>
        </p:nvSpPr>
        <p:spPr>
          <a:xfrm>
            <a:off x="7955280" y="5074920"/>
            <a:ext cx="3794760" cy="1371600"/>
          </a:xfrm>
          <a:prstGeom prst="roundRect">
            <a:avLst>
              <a:gd name="adj" fmla="val 7333"/>
            </a:avLst>
          </a:prstGeom>
          <a:solidFill>
            <a:srgbClr val="1A2B4A"/>
          </a:solidFill>
          <a:ln w="12700">
            <a:solidFill>
              <a:srgbClr val="C07000"/>
            </a:solidFill>
            <a:prstDash val="solid"/>
          </a:ln>
        </p:spPr>
      </p:sp>
      <p:sp>
        <p:nvSpPr>
          <p:cNvPr id="97" name="Shape 95"/>
          <p:cNvSpPr/>
          <p:nvPr/>
        </p:nvSpPr>
        <p:spPr>
          <a:xfrm>
            <a:off x="7955280" y="5074920"/>
            <a:ext cx="530352" cy="1371600"/>
          </a:xfrm>
          <a:prstGeom prst="roundRect">
            <a:avLst>
              <a:gd name="adj" fmla="val 13793"/>
            </a:avLst>
          </a:prstGeom>
          <a:solidFill>
            <a:srgbClr val="C07000"/>
          </a:solidFill>
          <a:ln w="12700">
            <a:solidFill>
              <a:srgbClr val="C07000"/>
            </a:solidFill>
            <a:prstDash val="solid"/>
          </a:ln>
        </p:spPr>
      </p:sp>
      <p:sp>
        <p:nvSpPr>
          <p:cNvPr id="98" name="Text 96"/>
          <p:cNvSpPr/>
          <p:nvPr/>
        </p:nvSpPr>
        <p:spPr>
          <a:xfrm>
            <a:off x="7955280" y="5074920"/>
            <a:ext cx="530352" cy="13716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9" name="Text 97"/>
          <p:cNvSpPr/>
          <p:nvPr/>
        </p:nvSpPr>
        <p:spPr>
          <a:xfrm>
            <a:off x="8558784" y="5148072"/>
            <a:ext cx="3090672"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 puedo mostrar cómo clientes de tu categoría están usando ese canal? Tengo datos de referencia que pueden ayudarte a decidir."</a:t>
            </a:r>
            <a:endParaRPr lang="en-US" sz="1200" dirty="0"/>
          </a:p>
        </p:txBody>
      </p:sp>
      <p:sp>
        <p:nvSpPr>
          <p:cNvPr id="100" name="Text 98"/>
          <p:cNvSpPr/>
          <p:nvPr/>
        </p:nvSpPr>
        <p:spPr>
          <a:xfrm>
            <a:off x="8558784" y="5477256"/>
            <a:ext cx="3090672" cy="896112"/>
          </a:xfrm>
          <a:prstGeom prst="rect">
            <a:avLst/>
          </a:prstGeom>
          <a:noFill/>
          <a:ln/>
        </p:spPr>
        <p:txBody>
          <a:bodyPr wrap="square" rtlCol="0" anchor="ctr"/>
          <a:lstStyle/>
          <a:p>
            <a:pPr indent="0" marL="0">
              <a:buNone/>
            </a:pPr>
            <a:endParaRPr lang="en-US" sz="1050" dirty="0"/>
          </a:p>
        </p:txBody>
      </p:sp>
      <p:sp>
        <p:nvSpPr>
          <p:cNvPr id="101" name="Shape 99"/>
          <p:cNvSpPr/>
          <p:nvPr/>
        </p:nvSpPr>
        <p:spPr>
          <a:xfrm>
            <a:off x="365760" y="5074920"/>
            <a:ext cx="3794760" cy="731520"/>
          </a:xfrm>
          <a:prstGeom prst="roundRect">
            <a:avLst>
              <a:gd name="adj" fmla="val 13750"/>
            </a:avLst>
          </a:prstGeom>
          <a:solidFill>
            <a:srgbClr val="1A2B4A"/>
          </a:solidFill>
          <a:ln w="12700">
            <a:solidFill>
              <a:srgbClr val="C07000"/>
            </a:solidFill>
            <a:prstDash val="solid"/>
          </a:ln>
        </p:spPr>
      </p:sp>
      <p:sp>
        <p:nvSpPr>
          <p:cNvPr id="102" name="Shape 100"/>
          <p:cNvSpPr/>
          <p:nvPr/>
        </p:nvSpPr>
        <p:spPr>
          <a:xfrm>
            <a:off x="365760" y="5074920"/>
            <a:ext cx="502920" cy="731520"/>
          </a:xfrm>
          <a:prstGeom prst="roundRect">
            <a:avLst>
              <a:gd name="adj" fmla="val 14545"/>
            </a:avLst>
          </a:prstGeom>
          <a:solidFill>
            <a:srgbClr val="C07000"/>
          </a:solidFill>
          <a:ln w="12700">
            <a:solidFill>
              <a:srgbClr val="C07000"/>
            </a:solidFill>
            <a:prstDash val="solid"/>
          </a:ln>
        </p:spPr>
      </p:sp>
      <p:sp>
        <p:nvSpPr>
          <p:cNvPr id="103" name="Text 101"/>
          <p:cNvSpPr/>
          <p:nvPr/>
        </p:nvSpPr>
        <p:spPr>
          <a:xfrm>
            <a:off x="365760" y="5074920"/>
            <a:ext cx="502920" cy="7315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104" name="Text 102"/>
          <p:cNvSpPr/>
          <p:nvPr/>
        </p:nvSpPr>
        <p:spPr>
          <a:xfrm>
            <a:off x="941832" y="5074920"/>
            <a:ext cx="3108960" cy="7315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conoce el potencial del MP</a:t>
            </a:r>
            <a:endParaRPr lang="en-US" sz="1200" dirty="0"/>
          </a:p>
        </p:txBody>
      </p:sp>
      <p:sp>
        <p:nvSpPr>
          <p:cNvPr id="105" name="Text 103"/>
          <p:cNvSpPr/>
          <p:nvPr/>
        </p:nvSpPr>
        <p:spPr>
          <a:xfrm>
            <a:off x="4224528" y="5074920"/>
            <a:ext cx="411480" cy="731520"/>
          </a:xfrm>
          <a:prstGeom prst="rect">
            <a:avLst/>
          </a:prstGeom>
          <a:noFill/>
          <a:ln/>
        </p:spPr>
        <p:txBody>
          <a:bodyPr wrap="square" rtlCol="0" anchor="ctr"/>
          <a:lstStyle/>
          <a:p>
            <a:pPr algn="ctr" indent="0" marL="0">
              <a:buNone/>
            </a:pPr>
            <a:r>
              <a:rPr lang="en-US" sz="2000" b="1" dirty="0">
                <a:solidFill>
                  <a:srgbClr val="E8A000"/>
                </a:solidFill>
                <a:latin typeface="Calibri" pitchFamily="34" charset="0"/>
                <a:ea typeface="Calibri" pitchFamily="34" charset="-122"/>
                <a:cs typeface="Calibri" pitchFamily="34" charset="-120"/>
              </a:rPr>
              <a:t>→</a:t>
            </a:r>
            <a:endParaRPr lang="en-US" sz="2000" dirty="0"/>
          </a:p>
        </p:txBody>
      </p:sp>
      <p:sp>
        <p:nvSpPr>
          <p:cNvPr id="106" name="Shape 104"/>
          <p:cNvSpPr/>
          <p:nvPr/>
        </p:nvSpPr>
        <p:spPr>
          <a:xfrm>
            <a:off x="4663440" y="5074920"/>
            <a:ext cx="7315200" cy="731520"/>
          </a:xfrm>
          <a:prstGeom prst="roundRect">
            <a:avLst>
              <a:gd name="adj" fmla="val 13750"/>
            </a:avLst>
          </a:prstGeom>
          <a:solidFill>
            <a:srgbClr val="1A2B4A"/>
          </a:solidFill>
          <a:ln w="12700">
            <a:solidFill>
              <a:srgbClr val="C07000"/>
            </a:solidFill>
            <a:prstDash val="solid"/>
          </a:ln>
        </p:spPr>
      </p:sp>
      <p:sp>
        <p:nvSpPr>
          <p:cNvPr id="107" name="Text 105"/>
          <p:cNvSpPr/>
          <p:nvPr/>
        </p:nvSpPr>
        <p:spPr>
          <a:xfrm>
            <a:off x="4773168" y="5074920"/>
            <a:ext cx="7095744" cy="731520"/>
          </a:xfrm>
          <a:prstGeom prst="rect">
            <a:avLst/>
          </a:prstGeom>
          <a:noFill/>
          <a:ln/>
        </p:spPr>
        <p:txBody>
          <a:bodyPr wrap="square" rtlCol="0" anchor="ctr"/>
          <a:lstStyle/>
          <a:p>
            <a:pPr indent="0" marL="0">
              <a:buNone/>
            </a:pPr>
            <a:r>
              <a:rPr lang="en-US" sz="1100" i="1" dirty="0">
                <a:solidFill>
                  <a:srgbClr val="D0D8E8"/>
                </a:solidFill>
                <a:latin typeface="Calibri" pitchFamily="34" charset="0"/>
                <a:ea typeface="Calibri" pitchFamily="34" charset="-122"/>
                <a:cs typeface="Calibri" pitchFamily="34" charset="-120"/>
              </a:rPr>
              <a:t>"¿Te puedo mostrar cómo clientes de tu categoría están usando ese canal? Tengo datos de referencia que pueden ayudarte a decidir."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E3A"/>
          </a:solidFill>
          <a:ln w="12700">
            <a:solidFill>
              <a:srgbClr val="0F1E3A"/>
            </a:solidFill>
            <a:prstDash val="solid"/>
          </a:ln>
        </p:spPr>
      </p:sp>
      <p:sp>
        <p:nvSpPr>
          <p:cNvPr id="3" name="Shape 1"/>
          <p:cNvSpPr/>
          <p:nvPr/>
        </p:nvSpPr>
        <p:spPr>
          <a:xfrm>
            <a:off x="0" y="0"/>
            <a:ext cx="12188952" cy="512064"/>
          </a:xfrm>
          <a:prstGeom prst="rect">
            <a:avLst/>
          </a:prstGeom>
          <a:solidFill>
            <a:srgbClr val="27AE60"/>
          </a:solidFill>
          <a:ln w="12700">
            <a:solidFill>
              <a:srgbClr val="27AE60"/>
            </a:solidFill>
            <a:prstDash val="solid"/>
          </a:ln>
        </p:spPr>
      </p:sp>
      <p:sp>
        <p:nvSpPr>
          <p:cNvPr id="4" name="Text 2"/>
          <p:cNvSpPr/>
          <p:nvPr/>
        </p:nvSpPr>
        <p:spPr>
          <a:xfrm>
            <a:off x="182880" y="73152"/>
            <a:ext cx="10972800" cy="384048"/>
          </a:xfrm>
          <a:prstGeom prst="rect">
            <a:avLst/>
          </a:prstGeom>
          <a:noFill/>
          <a:ln/>
        </p:spPr>
        <p:txBody>
          <a:bodyPr wrap="square" rtlCol="0" anchor="ctr"/>
          <a:lstStyle/>
          <a:p>
            <a:pPr indent="0" marL="0">
              <a:buNone/>
            </a:pPr>
            <a:r>
              <a:rPr lang="en-US" sz="1800" b="1" dirty="0">
                <a:solidFill>
                  <a:srgbClr val="0F1E3A"/>
                </a:solidFill>
                <a:latin typeface="Calibri" pitchFamily="34" charset="0"/>
                <a:ea typeface="Calibri" pitchFamily="34" charset="-122"/>
                <a:cs typeface="Calibri" pitchFamily="34" charset="-120"/>
              </a:rPr>
              <a:t>Resultado de la conversación — Qué hacer en cada caso</a:t>
            </a:r>
            <a:endParaRPr lang="en-US" sz="1800" dirty="0"/>
          </a:p>
        </p:txBody>
      </p:sp>
      <p:sp>
        <p:nvSpPr>
          <p:cNvPr id="5" name="Shape 3"/>
          <p:cNvSpPr/>
          <p:nvPr/>
        </p:nvSpPr>
        <p:spPr>
          <a:xfrm>
            <a:off x="274320" y="658368"/>
            <a:ext cx="3749040" cy="5413248"/>
          </a:xfrm>
          <a:prstGeom prst="roundRect">
            <a:avLst>
              <a:gd name="adj" fmla="val 2683"/>
            </a:avLst>
          </a:prstGeom>
          <a:solidFill>
            <a:srgbClr val="1A2B4A"/>
          </a:solidFill>
          <a:ln w="12700">
            <a:solidFill>
              <a:srgbClr val="27AE60"/>
            </a:solidFill>
            <a:prstDash val="solid"/>
          </a:ln>
        </p:spPr>
      </p:sp>
      <p:sp>
        <p:nvSpPr>
          <p:cNvPr id="6" name="Shape 4"/>
          <p:cNvSpPr/>
          <p:nvPr/>
        </p:nvSpPr>
        <p:spPr>
          <a:xfrm>
            <a:off x="274320" y="658368"/>
            <a:ext cx="3749040" cy="822960"/>
          </a:xfrm>
          <a:prstGeom prst="roundRect">
            <a:avLst>
              <a:gd name="adj" fmla="val 13333"/>
            </a:avLst>
          </a:prstGeom>
          <a:solidFill>
            <a:srgbClr val="27AE60"/>
          </a:solidFill>
          <a:ln w="12700">
            <a:solidFill>
              <a:srgbClr val="27AE60"/>
            </a:solidFill>
            <a:prstDash val="solid"/>
          </a:ln>
        </p:spPr>
      </p:sp>
      <p:sp>
        <p:nvSpPr>
          <p:cNvPr id="7" name="Text 5"/>
          <p:cNvSpPr/>
          <p:nvPr/>
        </p:nvSpPr>
        <p:spPr>
          <a:xfrm>
            <a:off x="274320" y="658368"/>
            <a:ext cx="3749040" cy="8229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Cliente acepta activar el MP</a:t>
            </a:r>
            <a:endParaRPr lang="en-US" sz="1400" dirty="0"/>
          </a:p>
        </p:txBody>
      </p:sp>
      <p:sp>
        <p:nvSpPr>
          <p:cNvPr id="8" name="Text 6"/>
          <p:cNvSpPr/>
          <p:nvPr/>
        </p:nvSpPr>
        <p:spPr>
          <a:xfrm>
            <a:off x="411480" y="160934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Coordinar con Soporte la activación técnica (no dejar al cliente solo)</a:t>
            </a:r>
            <a:endParaRPr lang="en-US" sz="1100" dirty="0"/>
          </a:p>
        </p:txBody>
      </p:sp>
      <p:sp>
        <p:nvSpPr>
          <p:cNvPr id="9" name="Text 7"/>
          <p:cNvSpPr/>
          <p:nvPr/>
        </p:nvSpPr>
        <p:spPr>
          <a:xfrm>
            <a:off x="411480" y="247802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Hacer seguimiento semanal hasta el primer pedido en ese canal</a:t>
            </a:r>
            <a:endParaRPr lang="en-US" sz="1100" dirty="0"/>
          </a:p>
        </p:txBody>
      </p:sp>
      <p:sp>
        <p:nvSpPr>
          <p:cNvPr id="10" name="Text 8"/>
          <p:cNvSpPr/>
          <p:nvPr/>
        </p:nvSpPr>
        <p:spPr>
          <a:xfrm>
            <a:off x="411480" y="334670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Medir el incremento de GMV a los 30 días</a:t>
            </a:r>
            <a:endParaRPr lang="en-US" sz="1100" dirty="0"/>
          </a:p>
        </p:txBody>
      </p:sp>
      <p:sp>
        <p:nvSpPr>
          <p:cNvPr id="11" name="Text 9"/>
          <p:cNvSpPr/>
          <p:nvPr/>
        </p:nvSpPr>
        <p:spPr>
          <a:xfrm>
            <a:off x="411480" y="421538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Documentar como caso de éxito — usar en demos futuras con otros clientes</a:t>
            </a:r>
            <a:endParaRPr lang="en-US" sz="1100" dirty="0"/>
          </a:p>
        </p:txBody>
      </p:sp>
      <p:sp>
        <p:nvSpPr>
          <p:cNvPr id="12" name="Text 10"/>
          <p:cNvSpPr/>
          <p:nvPr/>
        </p:nvSpPr>
        <p:spPr>
          <a:xfrm>
            <a:off x="411480" y="508406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Registrar en HubSpot: oportunidad cerrada + impacto en GMV</a:t>
            </a:r>
            <a:endParaRPr lang="en-US" sz="1100" dirty="0"/>
          </a:p>
        </p:txBody>
      </p:sp>
      <p:sp>
        <p:nvSpPr>
          <p:cNvPr id="13" name="Shape 11"/>
          <p:cNvSpPr/>
          <p:nvPr/>
        </p:nvSpPr>
        <p:spPr>
          <a:xfrm>
            <a:off x="4251960" y="658368"/>
            <a:ext cx="3749040" cy="5413248"/>
          </a:xfrm>
          <a:prstGeom prst="roundRect">
            <a:avLst>
              <a:gd name="adj" fmla="val 2683"/>
            </a:avLst>
          </a:prstGeom>
          <a:solidFill>
            <a:srgbClr val="1A2B4A"/>
          </a:solidFill>
          <a:ln w="12700">
            <a:solidFill>
              <a:srgbClr val="E8A000"/>
            </a:solidFill>
            <a:prstDash val="solid"/>
          </a:ln>
        </p:spPr>
      </p:sp>
      <p:sp>
        <p:nvSpPr>
          <p:cNvPr id="14" name="Shape 12"/>
          <p:cNvSpPr/>
          <p:nvPr/>
        </p:nvSpPr>
        <p:spPr>
          <a:xfrm>
            <a:off x="4251960" y="658368"/>
            <a:ext cx="3749040" cy="822960"/>
          </a:xfrm>
          <a:prstGeom prst="roundRect">
            <a:avLst>
              <a:gd name="adj" fmla="val 13333"/>
            </a:avLst>
          </a:prstGeom>
          <a:solidFill>
            <a:srgbClr val="E8A000"/>
          </a:solidFill>
          <a:ln w="12700">
            <a:solidFill>
              <a:srgbClr val="E8A000"/>
            </a:solidFill>
            <a:prstDash val="solid"/>
          </a:ln>
        </p:spPr>
      </p:sp>
      <p:sp>
        <p:nvSpPr>
          <p:cNvPr id="15" name="Text 13"/>
          <p:cNvSpPr/>
          <p:nvPr/>
        </p:nvSpPr>
        <p:spPr>
          <a:xfrm>
            <a:off x="4251960" y="658368"/>
            <a:ext cx="3749040" cy="8229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Le interesa pero necesita tiempo</a:t>
            </a:r>
            <a:endParaRPr lang="en-US" sz="1400" dirty="0"/>
          </a:p>
        </p:txBody>
      </p:sp>
      <p:sp>
        <p:nvSpPr>
          <p:cNvPr id="16" name="Text 14"/>
          <p:cNvSpPr/>
          <p:nvPr/>
        </p:nvSpPr>
        <p:spPr>
          <a:xfrm>
            <a:off x="4389120" y="160934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Acordar una fecha concreta — no dejar "para cuando tenga tiempo"</a:t>
            </a:r>
            <a:endParaRPr lang="en-US" sz="1100" dirty="0"/>
          </a:p>
        </p:txBody>
      </p:sp>
      <p:sp>
        <p:nvSpPr>
          <p:cNvPr id="17" name="Text 15"/>
          <p:cNvSpPr/>
          <p:nvPr/>
        </p:nvSpPr>
        <p:spPr>
          <a:xfrm>
            <a:off x="4389120" y="247802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Enviar guía de activación + caso de éxito de cliente similar</a:t>
            </a:r>
            <a:endParaRPr lang="en-US" sz="1100" dirty="0"/>
          </a:p>
        </p:txBody>
      </p:sp>
      <p:sp>
        <p:nvSpPr>
          <p:cNvPr id="18" name="Text 16"/>
          <p:cNvSpPr/>
          <p:nvPr/>
        </p:nvSpPr>
        <p:spPr>
          <a:xfrm>
            <a:off x="4389120" y="334670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Programar follow-up en HubSpot para esa fecha</a:t>
            </a:r>
            <a:endParaRPr lang="en-US" sz="1100" dirty="0"/>
          </a:p>
        </p:txBody>
      </p:sp>
      <p:sp>
        <p:nvSpPr>
          <p:cNvPr id="19" name="Text 17"/>
          <p:cNvSpPr/>
          <p:nvPr/>
        </p:nvSpPr>
        <p:spPr>
          <a:xfrm>
            <a:off x="4389120" y="421538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Registrar como oportunidad en proceso con fecha de cierre esperado</a:t>
            </a:r>
            <a:endParaRPr lang="en-US" sz="1100" dirty="0"/>
          </a:p>
        </p:txBody>
      </p:sp>
      <p:sp>
        <p:nvSpPr>
          <p:cNvPr id="20" name="Text 18"/>
          <p:cNvSpPr/>
          <p:nvPr/>
        </p:nvSpPr>
        <p:spPr>
          <a:xfrm>
            <a:off x="4389120" y="508406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Si pasan 30 días sin avance: retomar con nueva propuesta de valor</a:t>
            </a:r>
            <a:endParaRPr lang="en-US" sz="1100" dirty="0"/>
          </a:p>
        </p:txBody>
      </p:sp>
      <p:sp>
        <p:nvSpPr>
          <p:cNvPr id="21" name="Shape 19"/>
          <p:cNvSpPr/>
          <p:nvPr/>
        </p:nvSpPr>
        <p:spPr>
          <a:xfrm>
            <a:off x="8229600" y="658368"/>
            <a:ext cx="3749040" cy="5413248"/>
          </a:xfrm>
          <a:prstGeom prst="roundRect">
            <a:avLst>
              <a:gd name="adj" fmla="val 2683"/>
            </a:avLst>
          </a:prstGeom>
          <a:solidFill>
            <a:srgbClr val="1A2B4A"/>
          </a:solidFill>
          <a:ln w="12700">
            <a:solidFill>
              <a:srgbClr val="CC4444"/>
            </a:solidFill>
            <a:prstDash val="solid"/>
          </a:ln>
        </p:spPr>
      </p:sp>
      <p:sp>
        <p:nvSpPr>
          <p:cNvPr id="22" name="Shape 20"/>
          <p:cNvSpPr/>
          <p:nvPr/>
        </p:nvSpPr>
        <p:spPr>
          <a:xfrm>
            <a:off x="8229600" y="658368"/>
            <a:ext cx="3749040" cy="822960"/>
          </a:xfrm>
          <a:prstGeom prst="roundRect">
            <a:avLst>
              <a:gd name="adj" fmla="val 13333"/>
            </a:avLst>
          </a:prstGeom>
          <a:solidFill>
            <a:srgbClr val="CC4444"/>
          </a:solidFill>
          <a:ln w="12700">
            <a:solidFill>
              <a:srgbClr val="CC4444"/>
            </a:solidFill>
            <a:prstDash val="solid"/>
          </a:ln>
        </p:spPr>
      </p:sp>
      <p:sp>
        <p:nvSpPr>
          <p:cNvPr id="23" name="Text 21"/>
          <p:cNvSpPr/>
          <p:nvPr/>
        </p:nvSpPr>
        <p:spPr>
          <a:xfrm>
            <a:off x="8229600" y="658368"/>
            <a:ext cx="3749040" cy="8229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No le interesa ningún MP adicional</a:t>
            </a:r>
            <a:endParaRPr lang="en-US" sz="1400" dirty="0"/>
          </a:p>
        </p:txBody>
      </p:sp>
      <p:sp>
        <p:nvSpPr>
          <p:cNvPr id="24" name="Text 22"/>
          <p:cNvSpPr/>
          <p:nvPr/>
        </p:nvSpPr>
        <p:spPr>
          <a:xfrm>
            <a:off x="8366760" y="160934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Documentar el motivo EXACTO (precio, estrategia, acuerdo, etc.)</a:t>
            </a:r>
            <a:endParaRPr lang="en-US" sz="1100" dirty="0"/>
          </a:p>
        </p:txBody>
      </p:sp>
      <p:sp>
        <p:nvSpPr>
          <p:cNvPr id="25" name="Text 23"/>
          <p:cNvSpPr/>
          <p:nvPr/>
        </p:nvSpPr>
        <p:spPr>
          <a:xfrm>
            <a:off x="8366760" y="247802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Reportar a Parcerias para que no re-envíen ese seller como lead</a:t>
            </a:r>
            <a:endParaRPr lang="en-US" sz="1100" dirty="0"/>
          </a:p>
        </p:txBody>
      </p:sp>
      <p:sp>
        <p:nvSpPr>
          <p:cNvPr id="26" name="Text 24"/>
          <p:cNvSpPr/>
          <p:nvPr/>
        </p:nvSpPr>
        <p:spPr>
          <a:xfrm>
            <a:off x="8366760" y="334670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Registrar en HubSpot como oportunidad descartada + motivo</a:t>
            </a:r>
            <a:endParaRPr lang="en-US" sz="1100" dirty="0"/>
          </a:p>
        </p:txBody>
      </p:sp>
      <p:sp>
        <p:nvSpPr>
          <p:cNvPr id="27" name="Text 25"/>
          <p:cNvSpPr/>
          <p:nvPr/>
        </p:nvSpPr>
        <p:spPr>
          <a:xfrm>
            <a:off x="8366760" y="421538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Evaluar si el plan actual es el correcto para la operación real</a:t>
            </a:r>
            <a:endParaRPr lang="en-US" sz="1100" dirty="0"/>
          </a:p>
        </p:txBody>
      </p:sp>
      <p:sp>
        <p:nvSpPr>
          <p:cNvPr id="28" name="Text 26"/>
          <p:cNvSpPr/>
          <p:nvPr/>
        </p:nvSpPr>
        <p:spPr>
          <a:xfrm>
            <a:off x="8366760" y="5084064"/>
            <a:ext cx="3474720" cy="804672"/>
          </a:xfrm>
          <a:prstGeom prst="rect">
            <a:avLst/>
          </a:prstGeom>
          <a:noFill/>
          <a:ln/>
        </p:spPr>
        <p:txBody>
          <a:bodyPr wrap="square" rtlCol="0" anchor="t"/>
          <a:lstStyle/>
          <a:p>
            <a:pPr indent="0" marL="0">
              <a:buNone/>
            </a:pPr>
            <a:r>
              <a:rPr lang="en-US" sz="1100" dirty="0">
                <a:solidFill>
                  <a:srgbClr val="D0D8E8"/>
                </a:solidFill>
                <a:latin typeface="Calibri" pitchFamily="34" charset="0"/>
                <a:ea typeface="Calibri" pitchFamily="34" charset="-122"/>
                <a:cs typeface="Calibri" pitchFamily="34" charset="-120"/>
              </a:rPr>
              <a:t>• Revisitar en 90 días — el contexto del cliente puede cambiar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E3A"/>
          </a:solidFill>
          <a:ln w="12700">
            <a:solidFill>
              <a:srgbClr val="0F1E3A"/>
            </a:solidFill>
            <a:prstDash val="solid"/>
          </a:ln>
        </p:spPr>
      </p:sp>
      <p:sp>
        <p:nvSpPr>
          <p:cNvPr id="3" name="Shape 1"/>
          <p:cNvSpPr/>
          <p:nvPr/>
        </p:nvSpPr>
        <p:spPr>
          <a:xfrm>
            <a:off x="0" y="0"/>
            <a:ext cx="12188952" cy="512064"/>
          </a:xfrm>
          <a:prstGeom prst="rect">
            <a:avLst/>
          </a:prstGeom>
          <a:solidFill>
            <a:srgbClr val="0A1628"/>
          </a:solidFill>
          <a:ln w="12700">
            <a:solidFill>
              <a:srgbClr val="0A1628"/>
            </a:solidFill>
            <a:prstDash val="solid"/>
          </a:ln>
        </p:spPr>
      </p:sp>
      <p:sp>
        <p:nvSpPr>
          <p:cNvPr id="4" name="Text 2"/>
          <p:cNvSpPr/>
          <p:nvPr/>
        </p:nvSpPr>
        <p:spPr>
          <a:xfrm>
            <a:off x="182880" y="73152"/>
            <a:ext cx="10972800" cy="384048"/>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Reglas del Up-Selling — Cuándo actuar y cuándo no</a:t>
            </a:r>
            <a:endParaRPr lang="en-US" sz="1800" dirty="0"/>
          </a:p>
        </p:txBody>
      </p:sp>
      <p:sp>
        <p:nvSpPr>
          <p:cNvPr id="5" name="Shape 3"/>
          <p:cNvSpPr/>
          <p:nvPr/>
        </p:nvSpPr>
        <p:spPr>
          <a:xfrm>
            <a:off x="274320" y="658368"/>
            <a:ext cx="5669280" cy="2834640"/>
          </a:xfrm>
          <a:prstGeom prst="roundRect">
            <a:avLst>
              <a:gd name="adj" fmla="val 3548"/>
            </a:avLst>
          </a:prstGeom>
          <a:solidFill>
            <a:srgbClr val="0A1A0A"/>
          </a:solidFill>
          <a:ln w="12700">
            <a:solidFill>
              <a:srgbClr val="27AE60"/>
            </a:solidFill>
            <a:prstDash val="solid"/>
          </a:ln>
        </p:spPr>
      </p:sp>
      <p:sp>
        <p:nvSpPr>
          <p:cNvPr id="6" name="Text 4"/>
          <p:cNvSpPr/>
          <p:nvPr/>
        </p:nvSpPr>
        <p:spPr>
          <a:xfrm>
            <a:off x="411480" y="731520"/>
            <a:ext cx="5394960" cy="365760"/>
          </a:xfrm>
          <a:prstGeom prst="rect">
            <a:avLst/>
          </a:prstGeom>
          <a:noFill/>
          <a:ln/>
        </p:spPr>
        <p:txBody>
          <a:bodyPr wrap="square" rtlCol="0" anchor="ctr"/>
          <a:lstStyle/>
          <a:p>
            <a:pPr indent="0" marL="0">
              <a:buNone/>
            </a:pPr>
            <a:r>
              <a:rPr lang="en-US" sz="1400" b="1" dirty="0">
                <a:solidFill>
                  <a:srgbClr val="27AE60"/>
                </a:solidFill>
                <a:latin typeface="Calibri" pitchFamily="34" charset="0"/>
                <a:ea typeface="Calibri" pitchFamily="34" charset="-122"/>
                <a:cs typeface="Calibri" pitchFamily="34" charset="-120"/>
              </a:rPr>
              <a:t>✅  CUÁNDO HACER UP-SELLING</a:t>
            </a:r>
            <a:endParaRPr lang="en-US" sz="1400" dirty="0"/>
          </a:p>
        </p:txBody>
      </p:sp>
      <p:sp>
        <p:nvSpPr>
          <p:cNvPr id="7" name="Text 5"/>
          <p:cNvSpPr/>
          <p:nvPr/>
        </p:nvSpPr>
        <p:spPr>
          <a:xfrm>
            <a:off x="438912" y="1188720"/>
            <a:ext cx="5394960" cy="310896"/>
          </a:xfrm>
          <a:prstGeom prst="rect">
            <a:avLst/>
          </a:prstGeom>
          <a:noFill/>
          <a:ln/>
        </p:spPr>
        <p:txBody>
          <a:bodyPr wrap="square" rtlCol="0" anchor="ctr"/>
          <a:lstStyle/>
          <a:p>
            <a:pPr indent="0" marL="0">
              <a:buNone/>
            </a:pPr>
            <a:r>
              <a:rPr lang="en-US" sz="1200" dirty="0">
                <a:solidFill>
                  <a:srgbClr val="D0D8E8"/>
                </a:solidFill>
                <a:latin typeface="Calibri" pitchFamily="34" charset="0"/>
                <a:ea typeface="Calibri" pitchFamily="34" charset="-122"/>
                <a:cs typeface="Calibri" pitchFamily="34" charset="-120"/>
              </a:rPr>
              <a:t>• El cliente tiene MPs disponibles en su plan que no usa</a:t>
            </a:r>
            <a:endParaRPr lang="en-US" sz="1200" dirty="0"/>
          </a:p>
        </p:txBody>
      </p:sp>
      <p:sp>
        <p:nvSpPr>
          <p:cNvPr id="8" name="Text 6"/>
          <p:cNvSpPr/>
          <p:nvPr/>
        </p:nvSpPr>
        <p:spPr>
          <a:xfrm>
            <a:off x="438912" y="1536192"/>
            <a:ext cx="5394960" cy="310896"/>
          </a:xfrm>
          <a:prstGeom prst="rect">
            <a:avLst/>
          </a:prstGeom>
          <a:noFill/>
          <a:ln/>
        </p:spPr>
        <p:txBody>
          <a:bodyPr wrap="square" rtlCol="0" anchor="ctr"/>
          <a:lstStyle/>
          <a:p>
            <a:pPr indent="0" marL="0">
              <a:buNone/>
            </a:pPr>
            <a:r>
              <a:rPr lang="en-US" sz="1200" dirty="0">
                <a:solidFill>
                  <a:srgbClr val="D0D8E8"/>
                </a:solidFill>
                <a:latin typeface="Calibri" pitchFamily="34" charset="0"/>
                <a:ea typeface="Calibri" pitchFamily="34" charset="-122"/>
                <a:cs typeface="Calibri" pitchFamily="34" charset="-120"/>
              </a:rPr>
              <a:t>• El UP% está por debajo del 50% del plan contratado</a:t>
            </a:r>
            <a:endParaRPr lang="en-US" sz="1200" dirty="0"/>
          </a:p>
        </p:txBody>
      </p:sp>
      <p:sp>
        <p:nvSpPr>
          <p:cNvPr id="9" name="Text 7"/>
          <p:cNvSpPr/>
          <p:nvPr/>
        </p:nvSpPr>
        <p:spPr>
          <a:xfrm>
            <a:off x="438912" y="1883664"/>
            <a:ext cx="5394960" cy="310896"/>
          </a:xfrm>
          <a:prstGeom prst="rect">
            <a:avLst/>
          </a:prstGeom>
          <a:noFill/>
          <a:ln/>
        </p:spPr>
        <p:txBody>
          <a:bodyPr wrap="square" rtlCol="0" anchor="ctr"/>
          <a:lstStyle/>
          <a:p>
            <a:pPr indent="0" marL="0">
              <a:buNone/>
            </a:pPr>
            <a:r>
              <a:rPr lang="en-US" sz="1200" dirty="0">
                <a:solidFill>
                  <a:srgbClr val="D0D8E8"/>
                </a:solidFill>
                <a:latin typeface="Calibri" pitchFamily="34" charset="0"/>
                <a:ea typeface="Calibri" pitchFamily="34" charset="-122"/>
                <a:cs typeface="Calibri" pitchFamily="34" charset="-120"/>
              </a:rPr>
              <a:t>• El Health Score está ≥ 60 — la cuenta está estable</a:t>
            </a:r>
            <a:endParaRPr lang="en-US" sz="1200" dirty="0"/>
          </a:p>
        </p:txBody>
      </p:sp>
      <p:sp>
        <p:nvSpPr>
          <p:cNvPr id="10" name="Text 8"/>
          <p:cNvSpPr/>
          <p:nvPr/>
        </p:nvSpPr>
        <p:spPr>
          <a:xfrm>
            <a:off x="438912" y="2231136"/>
            <a:ext cx="5394960" cy="310896"/>
          </a:xfrm>
          <a:prstGeom prst="rect">
            <a:avLst/>
          </a:prstGeom>
          <a:noFill/>
          <a:ln/>
        </p:spPr>
        <p:txBody>
          <a:bodyPr wrap="square" rtlCol="0" anchor="ctr"/>
          <a:lstStyle/>
          <a:p>
            <a:pPr indent="0" marL="0">
              <a:buNone/>
            </a:pPr>
            <a:r>
              <a:rPr lang="en-US" sz="1200" dirty="0">
                <a:solidFill>
                  <a:srgbClr val="D0D8E8"/>
                </a:solidFill>
                <a:latin typeface="Calibri" pitchFamily="34" charset="0"/>
                <a:ea typeface="Calibri" pitchFamily="34" charset="-122"/>
                <a:cs typeface="Calibri" pitchFamily="34" charset="-120"/>
              </a:rPr>
              <a:t>• No hay tickets abiertos urgentes ni NPS negativo activo</a:t>
            </a:r>
            <a:endParaRPr lang="en-US" sz="1200" dirty="0"/>
          </a:p>
        </p:txBody>
      </p:sp>
      <p:sp>
        <p:nvSpPr>
          <p:cNvPr id="11" name="Text 9"/>
          <p:cNvSpPr/>
          <p:nvPr/>
        </p:nvSpPr>
        <p:spPr>
          <a:xfrm>
            <a:off x="438912" y="2578608"/>
            <a:ext cx="5394960" cy="310896"/>
          </a:xfrm>
          <a:prstGeom prst="rect">
            <a:avLst/>
          </a:prstGeom>
          <a:noFill/>
          <a:ln/>
        </p:spPr>
        <p:txBody>
          <a:bodyPr wrap="square" rtlCol="0" anchor="ctr"/>
          <a:lstStyle/>
          <a:p>
            <a:pPr indent="0" marL="0">
              <a:buNone/>
            </a:pPr>
            <a:r>
              <a:rPr lang="en-US" sz="1200" dirty="0">
                <a:solidFill>
                  <a:srgbClr val="D0D8E8"/>
                </a:solidFill>
                <a:latin typeface="Calibri" pitchFamily="34" charset="0"/>
                <a:ea typeface="Calibri" pitchFamily="34" charset="-122"/>
                <a:cs typeface="Calibri" pitchFamily="34" charset="-120"/>
              </a:rPr>
              <a:t>• El cliente expresó interés en crecer en el último trimestre</a:t>
            </a:r>
            <a:endParaRPr lang="en-US" sz="1200" dirty="0"/>
          </a:p>
        </p:txBody>
      </p:sp>
      <p:sp>
        <p:nvSpPr>
          <p:cNvPr id="12" name="Text 10"/>
          <p:cNvSpPr/>
          <p:nvPr/>
        </p:nvSpPr>
        <p:spPr>
          <a:xfrm>
            <a:off x="438912" y="2926080"/>
            <a:ext cx="5394960" cy="310896"/>
          </a:xfrm>
          <a:prstGeom prst="rect">
            <a:avLst/>
          </a:prstGeom>
          <a:noFill/>
          <a:ln/>
        </p:spPr>
        <p:txBody>
          <a:bodyPr wrap="square" rtlCol="0" anchor="ctr"/>
          <a:lstStyle/>
          <a:p>
            <a:pPr indent="0" marL="0">
              <a:buNone/>
            </a:pPr>
            <a:r>
              <a:rPr lang="en-US" sz="1200" dirty="0">
                <a:solidFill>
                  <a:srgbClr val="D0D8E8"/>
                </a:solidFill>
                <a:latin typeface="Calibri" pitchFamily="34" charset="0"/>
                <a:ea typeface="Calibri" pitchFamily="34" charset="-122"/>
                <a:cs typeface="Calibri" pitchFamily="34" charset="-120"/>
              </a:rPr>
              <a:t>• Parcerias reportó una brecha detectada por el marketplace</a:t>
            </a:r>
            <a:endParaRPr lang="en-US" sz="1200" dirty="0"/>
          </a:p>
        </p:txBody>
      </p:sp>
      <p:sp>
        <p:nvSpPr>
          <p:cNvPr id="13" name="Shape 11"/>
          <p:cNvSpPr/>
          <p:nvPr/>
        </p:nvSpPr>
        <p:spPr>
          <a:xfrm>
            <a:off x="6172200" y="658368"/>
            <a:ext cx="5669280" cy="2834640"/>
          </a:xfrm>
          <a:prstGeom prst="roundRect">
            <a:avLst>
              <a:gd name="adj" fmla="val 3548"/>
            </a:avLst>
          </a:prstGeom>
          <a:solidFill>
            <a:srgbClr val="1A0A0A"/>
          </a:solidFill>
          <a:ln w="12700">
            <a:solidFill>
              <a:srgbClr val="CC4444"/>
            </a:solidFill>
            <a:prstDash val="solid"/>
          </a:ln>
        </p:spPr>
      </p:sp>
      <p:sp>
        <p:nvSpPr>
          <p:cNvPr id="14" name="Text 12"/>
          <p:cNvSpPr/>
          <p:nvPr/>
        </p:nvSpPr>
        <p:spPr>
          <a:xfrm>
            <a:off x="6309360" y="731520"/>
            <a:ext cx="5394960" cy="365760"/>
          </a:xfrm>
          <a:prstGeom prst="rect">
            <a:avLst/>
          </a:prstGeom>
          <a:noFill/>
          <a:ln/>
        </p:spPr>
        <p:txBody>
          <a:bodyPr wrap="square" rtlCol="0" anchor="ctr"/>
          <a:lstStyle/>
          <a:p>
            <a:pPr indent="0" marL="0">
              <a:buNone/>
            </a:pPr>
            <a:r>
              <a:rPr lang="en-US" sz="1400" b="1" dirty="0">
                <a:solidFill>
                  <a:srgbClr val="FF7070"/>
                </a:solidFill>
                <a:latin typeface="Calibri" pitchFamily="34" charset="0"/>
                <a:ea typeface="Calibri" pitchFamily="34" charset="-122"/>
                <a:cs typeface="Calibri" pitchFamily="34" charset="-120"/>
              </a:rPr>
              <a:t>❌  CUÁNDO NO HACER UP-SELLING</a:t>
            </a:r>
            <a:endParaRPr lang="en-US" sz="1400" dirty="0"/>
          </a:p>
        </p:txBody>
      </p:sp>
      <p:sp>
        <p:nvSpPr>
          <p:cNvPr id="15" name="Text 13"/>
          <p:cNvSpPr/>
          <p:nvPr/>
        </p:nvSpPr>
        <p:spPr>
          <a:xfrm>
            <a:off x="6327648" y="1188720"/>
            <a:ext cx="5394960" cy="310896"/>
          </a:xfrm>
          <a:prstGeom prst="rect">
            <a:avLst/>
          </a:prstGeom>
          <a:noFill/>
          <a:ln/>
        </p:spPr>
        <p:txBody>
          <a:bodyPr wrap="square" rtlCol="0" anchor="ctr"/>
          <a:lstStyle/>
          <a:p>
            <a:pPr indent="0" marL="0">
              <a:buNone/>
            </a:pPr>
            <a:r>
              <a:rPr lang="en-US" sz="1200" dirty="0">
                <a:solidFill>
                  <a:srgbClr val="D0D8E8"/>
                </a:solidFill>
                <a:latin typeface="Calibri" pitchFamily="34" charset="0"/>
                <a:ea typeface="Calibri" pitchFamily="34" charset="-122"/>
                <a:cs typeface="Calibri" pitchFamily="34" charset="-120"/>
              </a:rPr>
              <a:t>• El cliente tiene tickets abiertos sin resolver</a:t>
            </a:r>
            <a:endParaRPr lang="en-US" sz="1200" dirty="0"/>
          </a:p>
        </p:txBody>
      </p:sp>
      <p:sp>
        <p:nvSpPr>
          <p:cNvPr id="16" name="Text 14"/>
          <p:cNvSpPr/>
          <p:nvPr/>
        </p:nvSpPr>
        <p:spPr>
          <a:xfrm>
            <a:off x="6327648" y="1536192"/>
            <a:ext cx="5394960" cy="310896"/>
          </a:xfrm>
          <a:prstGeom prst="rect">
            <a:avLst/>
          </a:prstGeom>
          <a:noFill/>
          <a:ln/>
        </p:spPr>
        <p:txBody>
          <a:bodyPr wrap="square" rtlCol="0" anchor="ctr"/>
          <a:lstStyle/>
          <a:p>
            <a:pPr indent="0" marL="0">
              <a:buNone/>
            </a:pPr>
            <a:r>
              <a:rPr lang="en-US" sz="1200" dirty="0">
                <a:solidFill>
                  <a:srgbClr val="D0D8E8"/>
                </a:solidFill>
                <a:latin typeface="Calibri" pitchFamily="34" charset="0"/>
                <a:ea typeface="Calibri" pitchFamily="34" charset="-122"/>
                <a:cs typeface="Calibri" pitchFamily="34" charset="-120"/>
              </a:rPr>
              <a:t>• El NPS es negativo o el cliente expresó frustración reciente</a:t>
            </a:r>
            <a:endParaRPr lang="en-US" sz="1200" dirty="0"/>
          </a:p>
        </p:txBody>
      </p:sp>
      <p:sp>
        <p:nvSpPr>
          <p:cNvPr id="17" name="Text 15"/>
          <p:cNvSpPr/>
          <p:nvPr/>
        </p:nvSpPr>
        <p:spPr>
          <a:xfrm>
            <a:off x="6327648" y="1883664"/>
            <a:ext cx="5394960" cy="310896"/>
          </a:xfrm>
          <a:prstGeom prst="rect">
            <a:avLst/>
          </a:prstGeom>
          <a:noFill/>
          <a:ln/>
        </p:spPr>
        <p:txBody>
          <a:bodyPr wrap="square" rtlCol="0" anchor="ctr"/>
          <a:lstStyle/>
          <a:p>
            <a:pPr indent="0" marL="0">
              <a:buNone/>
            </a:pPr>
            <a:r>
              <a:rPr lang="en-US" sz="1200" dirty="0">
                <a:solidFill>
                  <a:srgbClr val="D0D8E8"/>
                </a:solidFill>
                <a:latin typeface="Calibri" pitchFamily="34" charset="0"/>
                <a:ea typeface="Calibri" pitchFamily="34" charset="-122"/>
                <a:cs typeface="Calibri" pitchFamily="34" charset="-120"/>
              </a:rPr>
              <a:t>• El Health Score está por debajo de 60</a:t>
            </a:r>
            <a:endParaRPr lang="en-US" sz="1200" dirty="0"/>
          </a:p>
        </p:txBody>
      </p:sp>
      <p:sp>
        <p:nvSpPr>
          <p:cNvPr id="18" name="Text 16"/>
          <p:cNvSpPr/>
          <p:nvPr/>
        </p:nvSpPr>
        <p:spPr>
          <a:xfrm>
            <a:off x="6327648" y="2231136"/>
            <a:ext cx="5394960" cy="310896"/>
          </a:xfrm>
          <a:prstGeom prst="rect">
            <a:avLst/>
          </a:prstGeom>
          <a:noFill/>
          <a:ln/>
        </p:spPr>
        <p:txBody>
          <a:bodyPr wrap="square" rtlCol="0" anchor="ctr"/>
          <a:lstStyle/>
          <a:p>
            <a:pPr indent="0" marL="0">
              <a:buNone/>
            </a:pPr>
            <a:r>
              <a:rPr lang="en-US" sz="1200" dirty="0">
                <a:solidFill>
                  <a:srgbClr val="D0D8E8"/>
                </a:solidFill>
                <a:latin typeface="Calibri" pitchFamily="34" charset="0"/>
                <a:ea typeface="Calibri" pitchFamily="34" charset="-122"/>
                <a:cs typeface="Calibri" pitchFamily="34" charset="-120"/>
              </a:rPr>
              <a:t>• El cliente acaba de tener un incidente técnico o bug grave</a:t>
            </a:r>
            <a:endParaRPr lang="en-US" sz="1200" dirty="0"/>
          </a:p>
        </p:txBody>
      </p:sp>
      <p:sp>
        <p:nvSpPr>
          <p:cNvPr id="19" name="Text 17"/>
          <p:cNvSpPr/>
          <p:nvPr/>
        </p:nvSpPr>
        <p:spPr>
          <a:xfrm>
            <a:off x="6327648" y="2578608"/>
            <a:ext cx="5394960" cy="310896"/>
          </a:xfrm>
          <a:prstGeom prst="rect">
            <a:avLst/>
          </a:prstGeom>
          <a:noFill/>
          <a:ln/>
        </p:spPr>
        <p:txBody>
          <a:bodyPr wrap="square" rtlCol="0" anchor="ctr"/>
          <a:lstStyle/>
          <a:p>
            <a:pPr indent="0" marL="0">
              <a:buNone/>
            </a:pPr>
            <a:r>
              <a:rPr lang="en-US" sz="1200" dirty="0">
                <a:solidFill>
                  <a:srgbClr val="D0D8E8"/>
                </a:solidFill>
                <a:latin typeface="Calibri" pitchFamily="34" charset="0"/>
                <a:ea typeface="Calibri" pitchFamily="34" charset="-122"/>
                <a:cs typeface="Calibri" pitchFamily="34" charset="-120"/>
              </a:rPr>
              <a:t>• El cliente no usa ni los MPs que ya tiene activos</a:t>
            </a:r>
            <a:endParaRPr lang="en-US" sz="1200" dirty="0"/>
          </a:p>
        </p:txBody>
      </p:sp>
      <p:sp>
        <p:nvSpPr>
          <p:cNvPr id="20" name="Text 18"/>
          <p:cNvSpPr/>
          <p:nvPr/>
        </p:nvSpPr>
        <p:spPr>
          <a:xfrm>
            <a:off x="6327648" y="2926080"/>
            <a:ext cx="5394960" cy="310896"/>
          </a:xfrm>
          <a:prstGeom prst="rect">
            <a:avLst/>
          </a:prstGeom>
          <a:noFill/>
          <a:ln/>
        </p:spPr>
        <p:txBody>
          <a:bodyPr wrap="square" rtlCol="0" anchor="ctr"/>
          <a:lstStyle/>
          <a:p>
            <a:pPr indent="0" marL="0">
              <a:buNone/>
            </a:pPr>
            <a:r>
              <a:rPr lang="en-US" sz="1200" dirty="0">
                <a:solidFill>
                  <a:srgbClr val="D0D8E8"/>
                </a:solidFill>
                <a:latin typeface="Calibri" pitchFamily="34" charset="0"/>
                <a:ea typeface="Calibri" pitchFamily="34" charset="-122"/>
                <a:cs typeface="Calibri" pitchFamily="34" charset="-120"/>
              </a:rPr>
              <a:t>• La decisión de no activar fue consciente y ya está documentada</a:t>
            </a:r>
            <a:endParaRPr lang="en-US" sz="1200" dirty="0"/>
          </a:p>
        </p:txBody>
      </p:sp>
      <p:sp>
        <p:nvSpPr>
          <p:cNvPr id="21" name="Shape 19"/>
          <p:cNvSpPr/>
          <p:nvPr/>
        </p:nvSpPr>
        <p:spPr>
          <a:xfrm>
            <a:off x="274320" y="3657600"/>
            <a:ext cx="11612880" cy="804672"/>
          </a:xfrm>
          <a:prstGeom prst="roundRect">
            <a:avLst>
              <a:gd name="adj" fmla="val 12500"/>
            </a:avLst>
          </a:prstGeom>
          <a:solidFill>
            <a:srgbClr val="1A1200"/>
          </a:solidFill>
          <a:ln w="12700">
            <a:solidFill>
              <a:srgbClr val="E8A000"/>
            </a:solidFill>
            <a:prstDash val="solid"/>
          </a:ln>
        </p:spPr>
      </p:sp>
      <p:sp>
        <p:nvSpPr>
          <p:cNvPr id="22" name="Text 20"/>
          <p:cNvSpPr/>
          <p:nvPr/>
        </p:nvSpPr>
        <p:spPr>
          <a:xfrm>
            <a:off x="457200" y="3694176"/>
            <a:ext cx="11338560" cy="731520"/>
          </a:xfrm>
          <a:prstGeom prst="rect">
            <a:avLst/>
          </a:prstGeom>
          <a:noFill/>
          <a:ln/>
        </p:spPr>
        <p:txBody>
          <a:bodyPr wrap="square" rtlCol="0" anchor="ctr"/>
          <a:lstStyle/>
          <a:p>
            <a:pPr indent="0" marL="0">
              <a:buNone/>
            </a:pPr>
            <a:r>
              <a:rPr lang="en-US" sz="1300" i="1" dirty="0">
                <a:solidFill>
                  <a:srgbClr val="D0D8E8"/>
                </a:solidFill>
                <a:latin typeface="Calibri" pitchFamily="34" charset="0"/>
                <a:ea typeface="Calibri" pitchFamily="34" charset="-122"/>
                <a:cs typeface="Calibri" pitchFamily="34" charset="-120"/>
              </a:rPr>
              <a:t>💡  Principio rector: el UP-selling bien hecho no es vender más — es ayudar al cliente a usar mejor lo que ya pagó. Si el cliente activa un MP y genera GMV real, ganamos todos.</a:t>
            </a:r>
            <a:endParaRPr lang="en-US" sz="1300" dirty="0"/>
          </a:p>
        </p:txBody>
      </p:sp>
      <p:sp>
        <p:nvSpPr>
          <p:cNvPr id="23" name="Shape 21"/>
          <p:cNvSpPr/>
          <p:nvPr/>
        </p:nvSpPr>
        <p:spPr>
          <a:xfrm>
            <a:off x="274320" y="4617720"/>
            <a:ext cx="11612880" cy="1170432"/>
          </a:xfrm>
          <a:prstGeom prst="roundRect">
            <a:avLst>
              <a:gd name="adj" fmla="val 8594"/>
            </a:avLst>
          </a:prstGeom>
          <a:solidFill>
            <a:srgbClr val="100E00"/>
          </a:solidFill>
          <a:ln w="12700">
            <a:solidFill>
              <a:srgbClr val="E89000"/>
            </a:solidFill>
            <a:prstDash val="solid"/>
          </a:ln>
        </p:spPr>
      </p:sp>
      <p:sp>
        <p:nvSpPr>
          <p:cNvPr id="24" name="Text 22"/>
          <p:cNvSpPr/>
          <p:nvPr/>
        </p:nvSpPr>
        <p:spPr>
          <a:xfrm>
            <a:off x="457200" y="4663440"/>
            <a:ext cx="5486400" cy="329184"/>
          </a:xfrm>
          <a:prstGeom prst="rect">
            <a:avLst/>
          </a:prstGeom>
          <a:noFill/>
          <a:ln/>
        </p:spPr>
        <p:txBody>
          <a:bodyPr wrap="square" rtlCol="0" anchor="ctr"/>
          <a:lstStyle/>
          <a:p>
            <a:pPr indent="0" marL="0">
              <a:buNone/>
            </a:pPr>
            <a:r>
              <a:rPr lang="en-US" sz="1300" b="1" dirty="0">
                <a:solidFill>
                  <a:srgbClr val="E89000"/>
                </a:solidFill>
                <a:latin typeface="Calibri" pitchFamily="34" charset="0"/>
                <a:ea typeface="Calibri" pitchFamily="34" charset="-122"/>
                <a:cs typeface="Calibri" pitchFamily="34" charset="-120"/>
              </a:rPr>
              <a:t>📊  Métricas que el CSM debe monitorear semanalmente</a:t>
            </a:r>
            <a:endParaRPr lang="en-US" sz="1300" dirty="0"/>
          </a:p>
        </p:txBody>
      </p:sp>
      <p:sp>
        <p:nvSpPr>
          <p:cNvPr id="25" name="Text 23"/>
          <p:cNvSpPr/>
          <p:nvPr/>
        </p:nvSpPr>
        <p:spPr>
          <a:xfrm>
            <a:off x="457200" y="5029200"/>
            <a:ext cx="2743200" cy="640080"/>
          </a:xfrm>
          <a:prstGeom prst="rect">
            <a:avLst/>
          </a:prstGeom>
          <a:noFill/>
          <a:ln/>
        </p:spPr>
        <p:txBody>
          <a:bodyPr wrap="square" rtlCol="0" anchor="ctr"/>
          <a:lstStyle/>
          <a:p>
            <a:pPr indent="0" marL="0">
              <a:buNone/>
            </a:pPr>
            <a:r>
              <a:rPr lang="en-US" sz="1100" dirty="0">
                <a:solidFill>
                  <a:srgbClr val="D0D8E8"/>
                </a:solidFill>
                <a:latin typeface="Calibri" pitchFamily="34" charset="0"/>
                <a:ea typeface="Calibri" pitchFamily="34" charset="-122"/>
                <a:cs typeface="Calibri" pitchFamily="34" charset="-120"/>
              </a:rPr>
              <a:t>• MPs activos vs. MPs del plan</a:t>
            </a:r>
            <a:endParaRPr lang="en-US" sz="1100" dirty="0"/>
          </a:p>
        </p:txBody>
      </p:sp>
      <p:sp>
        <p:nvSpPr>
          <p:cNvPr id="26" name="Text 24"/>
          <p:cNvSpPr/>
          <p:nvPr/>
        </p:nvSpPr>
        <p:spPr>
          <a:xfrm>
            <a:off x="3337560" y="5029200"/>
            <a:ext cx="2743200" cy="640080"/>
          </a:xfrm>
          <a:prstGeom prst="rect">
            <a:avLst/>
          </a:prstGeom>
          <a:noFill/>
          <a:ln/>
        </p:spPr>
        <p:txBody>
          <a:bodyPr wrap="square" rtlCol="0" anchor="ctr"/>
          <a:lstStyle/>
          <a:p>
            <a:pPr indent="0" marL="0">
              <a:buNone/>
            </a:pPr>
            <a:r>
              <a:rPr lang="en-US" sz="1100" dirty="0">
                <a:solidFill>
                  <a:srgbClr val="D0D8E8"/>
                </a:solidFill>
                <a:latin typeface="Calibri" pitchFamily="34" charset="0"/>
                <a:ea typeface="Calibri" pitchFamily="34" charset="-122"/>
                <a:cs typeface="Calibri" pitchFamily="34" charset="-120"/>
              </a:rPr>
              <a:t>• UP% (qtUp / upPlan × 100)</a:t>
            </a:r>
            <a:endParaRPr lang="en-US" sz="1100" dirty="0"/>
          </a:p>
        </p:txBody>
      </p:sp>
      <p:sp>
        <p:nvSpPr>
          <p:cNvPr id="27" name="Text 25"/>
          <p:cNvSpPr/>
          <p:nvPr/>
        </p:nvSpPr>
        <p:spPr>
          <a:xfrm>
            <a:off x="6217920" y="5029200"/>
            <a:ext cx="2743200" cy="640080"/>
          </a:xfrm>
          <a:prstGeom prst="rect">
            <a:avLst/>
          </a:prstGeom>
          <a:noFill/>
          <a:ln/>
        </p:spPr>
        <p:txBody>
          <a:bodyPr wrap="square" rtlCol="0" anchor="ctr"/>
          <a:lstStyle/>
          <a:p>
            <a:pPr indent="0" marL="0">
              <a:buNone/>
            </a:pPr>
            <a:r>
              <a:rPr lang="en-US" sz="1100" dirty="0">
                <a:solidFill>
                  <a:srgbClr val="D0D8E8"/>
                </a:solidFill>
                <a:latin typeface="Calibri" pitchFamily="34" charset="0"/>
                <a:ea typeface="Calibri" pitchFamily="34" charset="-122"/>
                <a:cs typeface="Calibri" pitchFamily="34" charset="-120"/>
              </a:rPr>
              <a:t>• GMV por canal en los últimos 30 días</a:t>
            </a:r>
            <a:endParaRPr lang="en-US" sz="1100" dirty="0"/>
          </a:p>
        </p:txBody>
      </p:sp>
      <p:sp>
        <p:nvSpPr>
          <p:cNvPr id="28" name="Text 26"/>
          <p:cNvSpPr/>
          <p:nvPr/>
        </p:nvSpPr>
        <p:spPr>
          <a:xfrm>
            <a:off x="9098280" y="5029200"/>
            <a:ext cx="2743200" cy="640080"/>
          </a:xfrm>
          <a:prstGeom prst="rect">
            <a:avLst/>
          </a:prstGeom>
          <a:noFill/>
          <a:ln/>
        </p:spPr>
        <p:txBody>
          <a:bodyPr wrap="square" rtlCol="0" anchor="ctr"/>
          <a:lstStyle/>
          <a:p>
            <a:pPr indent="0" marL="0">
              <a:buNone/>
            </a:pPr>
            <a:r>
              <a:rPr lang="en-US" sz="1100" dirty="0">
                <a:solidFill>
                  <a:srgbClr val="D0D8E8"/>
                </a:solidFill>
                <a:latin typeface="Calibri" pitchFamily="34" charset="0"/>
                <a:ea typeface="Calibri" pitchFamily="34" charset="-122"/>
                <a:cs typeface="Calibri" pitchFamily="34" charset="-120"/>
              </a:rPr>
              <a:t>• Clientes con UP% &lt; 50% → alerta automática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2026-07-10T20:46:42Z</dcterms:created>
  <dcterms:modified xsi:type="dcterms:W3CDTF">2026-07-10T20:46:42Z</dcterms:modified>
</cp:coreProperties>
</file>