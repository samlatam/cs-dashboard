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4A2880"/>
          </a:solidFill>
          <a:ln w="12700">
            <a:solidFill>
              <a:srgbClr val="4A28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0"/>
            <a:ext cx="73152" cy="6858000"/>
          </a:xfrm>
          <a:prstGeom prst="rect">
            <a:avLst/>
          </a:prstGeom>
          <a:solidFill>
            <a:srgbClr val="7040B0"/>
          </a:solidFill>
          <a:ln w="12700">
            <a:solidFill>
              <a:srgbClr val="7040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3152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74320" y="18745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EXPANSIÓN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74320" y="2999232"/>
            <a:ext cx="466344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3108960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0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· AnyMarket LATAM ·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3 palancas de crecimiento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515721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Cross-Selling · Up-Selling · Parcerias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577840" y="457200"/>
            <a:ext cx="6400800" cy="1847088"/>
          </a:xfrm>
          <a:prstGeom prst="roundRect">
            <a:avLst>
              <a:gd name="adj" fmla="val 4455"/>
            </a:avLst>
          </a:prstGeom>
          <a:solidFill>
            <a:srgbClr val="EDE8F8"/>
          </a:solidFill>
          <a:ln w="12700">
            <a:solidFill>
              <a:srgbClr val="4A28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77840" y="457200"/>
            <a:ext cx="1005840" cy="1847088"/>
          </a:xfrm>
          <a:prstGeom prst="roundRect">
            <a:avLst>
              <a:gd name="adj" fmla="val 8182"/>
            </a:avLst>
          </a:prstGeom>
          <a:solidFill>
            <a:srgbClr val="4A2880"/>
          </a:solidFill>
          <a:ln w="12700">
            <a:solidFill>
              <a:srgbClr val="4A28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4572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577840" y="12801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693408" y="53035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2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93408" y="896112"/>
            <a:ext cx="512064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dolores no resueltos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conectar con Predize, Koncili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Marca Seleta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577840" y="2487168"/>
            <a:ext cx="6400800" cy="1847088"/>
          </a:xfrm>
          <a:prstGeom prst="roundRect">
            <a:avLst>
              <a:gd name="adj" fmla="val 4455"/>
            </a:avLst>
          </a:prstGeom>
          <a:solidFill>
            <a:srgbClr val="FFF0E6"/>
          </a:solidFill>
          <a:ln w="12700">
            <a:solidFill>
              <a:srgbClr val="C048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77840" y="2487168"/>
            <a:ext cx="1005840" cy="1847088"/>
          </a:xfrm>
          <a:prstGeom prst="roundRect">
            <a:avLst>
              <a:gd name="adj" fmla="val 8182"/>
            </a:avLst>
          </a:prstGeom>
          <a:solidFill>
            <a:srgbClr val="C04800"/>
          </a:solidFill>
          <a:ln w="12700">
            <a:solidFill>
              <a:srgbClr val="C048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248716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577840" y="3310128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693408" y="256032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UP-SELLING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93408" y="2926080"/>
            <a:ext cx="512064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MPs sin usar del plan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hacer upgrade cuando 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está al límite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77840" y="4517136"/>
            <a:ext cx="6400800" cy="1847088"/>
          </a:xfrm>
          <a:prstGeom prst="roundRect">
            <a:avLst>
              <a:gd name="adj" fmla="val 4455"/>
            </a:avLst>
          </a:prstGeom>
          <a:solidFill>
            <a:srgbClr val="E6F5F2"/>
          </a:solidFill>
          <a:ln w="12700">
            <a:solidFill>
              <a:srgbClr val="0A6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77840" y="4517136"/>
            <a:ext cx="1005840" cy="1847088"/>
          </a:xfrm>
          <a:prstGeom prst="roundRect">
            <a:avLst>
              <a:gd name="adj" fmla="val 8182"/>
            </a:avLst>
          </a:prstGeom>
          <a:solidFill>
            <a:srgbClr val="0A6A5C"/>
          </a:solidFill>
          <a:ln w="12700">
            <a:solidFill>
              <a:srgbClr val="0A6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0" y="4517136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577840" y="5340096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693408" y="459028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93408" y="4956048"/>
            <a:ext cx="512064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externo: marketplace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sellers → Hunting (nuevo)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Farming (cliente con brecha)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4320" y="6291072"/>
            <a:ext cx="1161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0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metodología. Tres canales. Un objetivo: maximizar el valor de cada cuenta.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aplica cada palanca — y cómo se conectan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01168" y="566928"/>
            <a:ext cx="3877056" cy="6035040"/>
          </a:xfrm>
          <a:prstGeom prst="roundRect">
            <a:avLst>
              <a:gd name="adj" fmla="val 2123"/>
            </a:avLst>
          </a:prstGeom>
          <a:solidFill>
            <a:srgbClr val="EDE8F8"/>
          </a:solidFill>
          <a:ln w="12700">
            <a:solidFill>
              <a:srgbClr val="4A28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566928"/>
            <a:ext cx="3877056" cy="530352"/>
          </a:xfrm>
          <a:prstGeom prst="roundRect">
            <a:avLst>
              <a:gd name="adj" fmla="val 15517"/>
            </a:avLst>
          </a:prstGeom>
          <a:solidFill>
            <a:srgbClr val="4A2880"/>
          </a:solidFill>
          <a:ln w="12700">
            <a:solidFill>
              <a:srgbClr val="4A28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566928"/>
            <a:ext cx="38770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CROSS-SELLING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207008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2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499616"/>
            <a:ext cx="3547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menciona un dolor que AnyMarket no resuelve en la reunión de seguimiento.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231136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2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523744"/>
            <a:ext cx="3547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"El SAC es un caos" → Predize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852928"/>
            <a:ext cx="3547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"Las comisiones no cuadran" → Koncili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3182112"/>
            <a:ext cx="3547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"No tenemos tiempo para el catálogo" → Marca Seleta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3547872" cy="0"/>
          </a:xfrm>
          <a:prstGeom prst="line">
            <a:avLst/>
          </a:prstGeom>
          <a:noFill/>
          <a:ln w="9525">
            <a:solidFill>
              <a:srgbClr val="4A28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39312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2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3931920"/>
            <a:ext cx="35478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Hand-off a Comercial con brief completo para demo y propuesta.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087368" y="3200400"/>
            <a:ext cx="274320" cy="384048"/>
          </a:xfrm>
          <a:prstGeom prst="rightArrow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97096" y="566928"/>
            <a:ext cx="3877056" cy="6035040"/>
          </a:xfrm>
          <a:prstGeom prst="roundRect">
            <a:avLst>
              <a:gd name="adj" fmla="val 2123"/>
            </a:avLst>
          </a:prstGeom>
          <a:solidFill>
            <a:srgbClr val="FFF0E6"/>
          </a:solidFill>
          <a:ln w="12700">
            <a:solidFill>
              <a:srgbClr val="C048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97096" y="566928"/>
            <a:ext cx="3877056" cy="530352"/>
          </a:xfrm>
          <a:prstGeom prst="roundRect">
            <a:avLst>
              <a:gd name="adj" fmla="val 15517"/>
            </a:avLst>
          </a:prstGeom>
          <a:solidFill>
            <a:srgbClr val="C04800"/>
          </a:solidFill>
          <a:ln w="12700">
            <a:solidFill>
              <a:srgbClr val="C048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97096" y="566928"/>
            <a:ext cx="38770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⬆️  UP-SELLING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361688" y="1207008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61688" y="1499616"/>
            <a:ext cx="3547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tiene marketplaces disponibles en su plan que no está usando — detectado en dashboard semanal.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61688" y="2231136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2 tipos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61688" y="2523744"/>
            <a:ext cx="3547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Tipo 1: Activa MPs que ya pagó pero no usa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361688" y="2852928"/>
            <a:ext cx="3547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Tipo 2: Upgradea el plan porque ya llegó al límite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61688" y="3547872"/>
            <a:ext cx="3547872" cy="0"/>
          </a:xfrm>
          <a:prstGeom prst="line">
            <a:avLst/>
          </a:prstGeom>
          <a:noFill/>
          <a:ln w="9525">
            <a:solidFill>
              <a:srgbClr val="C048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61688" y="3639312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61688" y="3931920"/>
            <a:ext cx="35478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GMV, mayor adopción, más stickiness. CS cierra sin Comercial.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83296" y="3200400"/>
            <a:ext cx="274320" cy="384048"/>
          </a:xfrm>
          <a:prstGeom prst="rightArrow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93024" y="566928"/>
            <a:ext cx="3877056" cy="6035040"/>
          </a:xfrm>
          <a:prstGeom prst="roundRect">
            <a:avLst>
              <a:gd name="adj" fmla="val 2123"/>
            </a:avLst>
          </a:prstGeom>
          <a:solidFill>
            <a:srgbClr val="E6F5F2"/>
          </a:solidFill>
          <a:ln w="12700">
            <a:solidFill>
              <a:srgbClr val="0A6A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93024" y="566928"/>
            <a:ext cx="3877056" cy="530352"/>
          </a:xfrm>
          <a:prstGeom prst="roundRect">
            <a:avLst>
              <a:gd name="adj" fmla="val 15517"/>
            </a:avLst>
          </a:prstGeom>
          <a:solidFill>
            <a:srgbClr val="0A6A5C"/>
          </a:solidFill>
          <a:ln w="12700">
            <a:solidFill>
              <a:srgbClr val="0A6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93024" y="566928"/>
            <a:ext cx="38770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PARCERIAS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57616" y="1207008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¿Cuándo?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57616" y="1499616"/>
            <a:ext cx="3547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marketplace detecta sellers sin integración AnyMarket y envía el listado al equipo de Parcerias.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357616" y="2231136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caminos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357616" y="2523744"/>
            <a:ext cx="3547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Hunting: seller nuevo → calificar → pasar a Comercial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357616" y="2852928"/>
            <a:ext cx="3547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Farming: cliente existente con MPs sin usar → CSM activa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357616" y="3547872"/>
            <a:ext cx="3547872" cy="0"/>
          </a:xfrm>
          <a:prstGeom prst="line">
            <a:avLst/>
          </a:prstGeom>
          <a:noFill/>
          <a:ln w="9525">
            <a:solidFill>
              <a:srgbClr val="0A6A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57616" y="3639312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357616" y="3931920"/>
            <a:ext cx="35478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clientes (Hunting) o mayor adopción en clientes actuales (Farming).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01168" y="6675120"/>
            <a:ext cx="11612880" cy="749808"/>
          </a:xfrm>
          <a:prstGeom prst="roundRect">
            <a:avLst>
              <a:gd name="adj" fmla="val 10976"/>
            </a:avLst>
          </a:prstGeom>
          <a:solidFill>
            <a:srgbClr val="FFF8E6"/>
          </a:solidFill>
          <a:ln w="12700">
            <a:solidFill>
              <a:srgbClr val="B078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6675120"/>
            <a:ext cx="4754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877824" y="6729984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Farming y Up-Selling resuelven lo mismo desde ángulos distintos: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77824" y="7040880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Farming = el marketplace detecta la brecha y avisa a Parcerias → Parcerias avisa al CSM.  Up-Selling = el CSM detecta la brecha por monitoreo propio del dashboard. Ambos terminan en el mismo paso: el CSM contacta y activa.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A2880"/>
          </a:solidFill>
          <a:ln w="12700">
            <a:solidFill>
              <a:srgbClr val="4A28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A0E8"/>
          </a:solidFill>
          <a:ln w="12700">
            <a:solidFill>
              <a:srgbClr val="C0A0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CROSS-SELLING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11480" y="3246120"/>
            <a:ext cx="10972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0A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dolores en reunión · Identificar el producto correcto · Hand-off a Comercial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4A2880"/>
          </a:solidFill>
          <a:ln w="12700">
            <a:solidFill>
              <a:srgbClr val="4A28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Cross-Selling — Discovery en reunión: detectar el dolor y mapear el producto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" y="566928"/>
            <a:ext cx="4005072" cy="6053328"/>
          </a:xfrm>
          <a:prstGeom prst="roundRect">
            <a:avLst>
              <a:gd name="adj" fmla="val 2055"/>
            </a:avLst>
          </a:prstGeom>
          <a:solidFill>
            <a:srgbClr val="EDE8F8"/>
          </a:solidFill>
          <a:ln w="12700">
            <a:solidFill>
              <a:srgbClr val="4A28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2179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2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El flujo de discovery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" y="1207008"/>
            <a:ext cx="402336" cy="402336"/>
          </a:xfrm>
          <a:prstGeom prst="ellipse">
            <a:avLst/>
          </a:prstGeom>
          <a:solidFill>
            <a:srgbClr val="4A2880"/>
          </a:solidFill>
          <a:ln w="12700">
            <a:solidFill>
              <a:srgbClr val="4A28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070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1078992"/>
            <a:ext cx="3273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2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revisa la agenda antes de la reunión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41248" y="1426464"/>
            <a:ext cx="32735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tickets abiertos? ¿NPS bajo? ¿UP % bajo? Eso guía qué explorar.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2231136"/>
            <a:ext cx="402336" cy="402336"/>
          </a:xfrm>
          <a:prstGeom prst="ellipse">
            <a:avLst/>
          </a:prstGeom>
          <a:solidFill>
            <a:srgbClr val="4A2880"/>
          </a:solidFill>
          <a:ln w="12700">
            <a:solidFill>
              <a:srgbClr val="4A28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2311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" y="2103120"/>
            <a:ext cx="3273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2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abierta al inicio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41248" y="2450592"/>
            <a:ext cx="32735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"¿Cómo está yendo la operación en general? ¿Hay algo que les esté generando fricción?"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" y="3255264"/>
            <a:ext cx="402336" cy="402336"/>
          </a:xfrm>
          <a:prstGeom prst="ellipse">
            <a:avLst/>
          </a:prstGeom>
          <a:solidFill>
            <a:srgbClr val="4A2880"/>
          </a:solidFill>
          <a:ln w="12700">
            <a:solidFill>
              <a:srgbClr val="4A28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32552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" y="3127248"/>
            <a:ext cx="3273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2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Escuchar activamente por señales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1248" y="3474720"/>
            <a:ext cx="32735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menciona algo fuera del scope de AnyMarket. Ahí está la oportunidad.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7472" y="4279392"/>
            <a:ext cx="402336" cy="402336"/>
          </a:xfrm>
          <a:prstGeom prst="ellipse">
            <a:avLst/>
          </a:prstGeom>
          <a:solidFill>
            <a:srgbClr val="4A2880"/>
          </a:solidFill>
          <a:ln w="12700">
            <a:solidFill>
              <a:srgbClr val="4A28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42793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" y="4151376"/>
            <a:ext cx="3273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2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dolor → producto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41248" y="4498848"/>
            <a:ext cx="32735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SAC/mensajes = Predize. Pagos/comisiones = Koncili. Catálogo/operación = Marca Seleta.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7472" y="5303520"/>
            <a:ext cx="402336" cy="402336"/>
          </a:xfrm>
          <a:prstGeom prst="ellipse">
            <a:avLst/>
          </a:prstGeom>
          <a:solidFill>
            <a:srgbClr val="4A2880"/>
          </a:solidFill>
          <a:ln w="12700">
            <a:solidFill>
              <a:srgbClr val="4A28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53035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41248" y="5175504"/>
            <a:ext cx="3273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2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interés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41248" y="5522976"/>
            <a:ext cx="32735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"¿Te interesaría conocer cómo otras empresas resuelven esto?" Si sí → preparar brief.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389120" y="566928"/>
            <a:ext cx="7571232" cy="1792224"/>
          </a:xfrm>
          <a:prstGeom prst="roundRect">
            <a:avLst>
              <a:gd name="adj" fmla="val 4592"/>
            </a:avLst>
          </a:prstGeom>
          <a:solidFill>
            <a:srgbClr val="EDE8F8"/>
          </a:solidFill>
          <a:ln w="12700">
            <a:solidFill>
              <a:srgbClr val="4A28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89120" y="566928"/>
            <a:ext cx="1024128" cy="1792224"/>
          </a:xfrm>
          <a:prstGeom prst="roundRect">
            <a:avLst>
              <a:gd name="adj" fmla="val 8036"/>
            </a:avLst>
          </a:prstGeom>
          <a:solidFill>
            <a:srgbClr val="4A2880"/>
          </a:solidFill>
          <a:ln w="12700">
            <a:solidFill>
              <a:srgbClr val="4A28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0" y="566928"/>
            <a:ext cx="10241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389120" y="1481328"/>
            <a:ext cx="102412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PREDIZE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04688" y="60350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2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Especializado para Marketplaces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504688" y="914400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Señal: El cliente menciona: "Las preguntas del ML se acumulan", "Tenemos muchas cancelaciones", "No tenemos equipo para gestionar mensajes".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04688" y="1408176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"¿Tienen una herramienta centralizada para las preguntas de marketplace? ¿O lo gestionan de forma manual?"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504688" y="1792224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Centraliza SAC de ML, Amazon, WhatsApp. IA (Mia) gestiona pre-venta, post-venta, riesgo de cancelación. Reduce esfuerzo SAC 40%.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389120" y="2468880"/>
            <a:ext cx="7571232" cy="1792224"/>
          </a:xfrm>
          <a:prstGeom prst="roundRect">
            <a:avLst>
              <a:gd name="adj" fmla="val 4592"/>
            </a:avLst>
          </a:prstGeom>
          <a:solidFill>
            <a:srgbClr val="FFF0E6"/>
          </a:solidFill>
          <a:ln w="12700">
            <a:solidFill>
              <a:srgbClr val="C048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89120" y="2468880"/>
            <a:ext cx="1024128" cy="1792224"/>
          </a:xfrm>
          <a:prstGeom prst="roundRect">
            <a:avLst>
              <a:gd name="adj" fmla="val 8036"/>
            </a:avLst>
          </a:prstGeom>
          <a:solidFill>
            <a:srgbClr val="C04800"/>
          </a:solidFill>
          <a:ln w="12700">
            <a:solidFill>
              <a:srgbClr val="C048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0" y="2468880"/>
            <a:ext cx="10241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4389120" y="3383280"/>
            <a:ext cx="102412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KONCILI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504688" y="250545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Conciliación Financiera de Marketplaces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504688" y="2816352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Señal: El cliente menciona: "Los repases no cuadran", "No sabemos si Falabella está pagando bien", "Conciliamos en Excel".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04688" y="3310128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"¿Cómo verifican hoy que los pagos de los marketplaces son correctos?"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504688" y="3694176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Automatiza verificación de repases, identifica divergencias, genera reportes financieros e integra con ERP.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389120" y="4370832"/>
            <a:ext cx="7571232" cy="1792224"/>
          </a:xfrm>
          <a:prstGeom prst="roundRect">
            <a:avLst>
              <a:gd name="adj" fmla="val 4592"/>
            </a:avLst>
          </a:prstGeom>
          <a:solidFill>
            <a:srgbClr val="E6F5F2"/>
          </a:solidFill>
          <a:ln w="12700">
            <a:solidFill>
              <a:srgbClr val="0A6A5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389120" y="4370832"/>
            <a:ext cx="1024128" cy="1792224"/>
          </a:xfrm>
          <a:prstGeom prst="roundRect">
            <a:avLst>
              <a:gd name="adj" fmla="val 8036"/>
            </a:avLst>
          </a:prstGeom>
          <a:solidFill>
            <a:srgbClr val="0A6A5C"/>
          </a:solidFill>
          <a:ln w="12700">
            <a:solidFill>
              <a:srgbClr val="0A6A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89120" y="4370832"/>
            <a:ext cx="10241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🏬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4389120" y="5285232"/>
            <a:ext cx="102412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SELETA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504688" y="440740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Commerce para Marketplaces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5504688" y="4718304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Señal: El cliente menciona: "No tenemos tiempo para el catálogo", "La operación de marketplace nos supera", "Queremos crecer pero no sabemos cómo".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504688" y="521208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"¿Quién gestiona hoy el catálogo, la logística y el SAC de sus canales digitales?"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04688" y="5596128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Gestión end-to-end: catálogo, logística, SAC, estrategia e insights. Clientes: Lacoste, Acer, Crocs. Hasta 700% GMV.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4A2880"/>
          </a:solidFill>
          <a:ln w="12700">
            <a:solidFill>
              <a:srgbClr val="4A28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Cross-Selling — Hand-off a Comercial: responsabilidades y el brief de 5 puntos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01168" y="566928"/>
            <a:ext cx="1828800" cy="1499616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12700">
            <a:solidFill>
              <a:srgbClr val="4A28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621792"/>
            <a:ext cx="731520" cy="731520"/>
          </a:xfrm>
          <a:prstGeom prst="ellipse">
            <a:avLst/>
          </a:prstGeom>
          <a:solidFill>
            <a:srgbClr val="4A2880"/>
          </a:solidFill>
          <a:ln w="12700">
            <a:solidFill>
              <a:srgbClr val="4A28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62179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1168" y="138988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2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4A2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01168" y="181051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el dolor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reunión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48256" y="1005840"/>
            <a:ext cx="137160" cy="384048"/>
          </a:xfrm>
          <a:prstGeom prst="rightArrow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03704" y="566928"/>
            <a:ext cx="1828800" cy="1499616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12700">
            <a:solidFill>
              <a:srgbClr val="4A28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52344" y="621792"/>
            <a:ext cx="731520" cy="731520"/>
          </a:xfrm>
          <a:prstGeom prst="ellipse">
            <a:avLst/>
          </a:prstGeom>
          <a:solidFill>
            <a:srgbClr val="4A2880"/>
          </a:solidFill>
          <a:ln w="12700">
            <a:solidFill>
              <a:srgbClr val="4A28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52344" y="62179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203704" y="138988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2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4A2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 Brief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203704" y="181051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puntos 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050792" y="1005840"/>
            <a:ext cx="137160" cy="384048"/>
          </a:xfrm>
          <a:prstGeom prst="rightArrow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06240" y="566928"/>
            <a:ext cx="1828800" cy="1499616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12700">
            <a:solidFill>
              <a:srgbClr val="3A20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621792"/>
            <a:ext cx="731520" cy="731520"/>
          </a:xfrm>
          <a:prstGeom prst="ellipse">
            <a:avLst/>
          </a:prstGeom>
          <a:solidFill>
            <a:srgbClr val="3A208A"/>
          </a:solidFill>
          <a:ln w="12700">
            <a:solidFill>
              <a:srgbClr val="3A20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62179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206240" y="138988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2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3A2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206240" y="181051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tiene las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necesidades mapeadas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53328" y="1005840"/>
            <a:ext cx="137160" cy="384048"/>
          </a:xfrm>
          <a:prstGeom prst="rightArrow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08776" y="566928"/>
            <a:ext cx="1828800" cy="1499616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12700">
            <a:solidFill>
              <a:srgbClr val="3A20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57416" y="621792"/>
            <a:ext cx="731520" cy="731520"/>
          </a:xfrm>
          <a:prstGeom prst="ellipse">
            <a:avLst/>
          </a:prstGeom>
          <a:solidFill>
            <a:srgbClr val="3A208A"/>
          </a:solidFill>
          <a:ln w="12700">
            <a:solidFill>
              <a:srgbClr val="3A20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57416" y="62179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208776" y="138988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2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08776" y="181051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producto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055864" y="1005840"/>
            <a:ext cx="137160" cy="384048"/>
          </a:xfrm>
          <a:prstGeom prst="rightArrow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11312" y="566928"/>
            <a:ext cx="1828800" cy="1499616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12700">
            <a:solidFill>
              <a:srgbClr val="3A208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59952" y="621792"/>
            <a:ext cx="731520" cy="731520"/>
          </a:xfrm>
          <a:prstGeom prst="ellipse">
            <a:avLst/>
          </a:prstGeom>
          <a:solidFill>
            <a:srgbClr val="3A208A"/>
          </a:solidFill>
          <a:ln w="12700">
            <a:solidFill>
              <a:srgbClr val="3A20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59952" y="62179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211312" y="138988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2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11312" y="181051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medida 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necesidades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0058400" y="1005840"/>
            <a:ext cx="137160" cy="384048"/>
          </a:xfrm>
          <a:prstGeom prst="rightArrow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213848" y="566928"/>
            <a:ext cx="1828800" cy="1499616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12700">
            <a:solidFill>
              <a:srgbClr val="2A6A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762488" y="621792"/>
            <a:ext cx="731520" cy="731520"/>
          </a:xfrm>
          <a:prstGeom prst="ellipse">
            <a:avLst/>
          </a:prstGeom>
          <a:solidFill>
            <a:srgbClr val="2A6A2A"/>
          </a:solidFill>
          <a:ln w="12700">
            <a:solidFill>
              <a:srgbClr val="2A6A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762488" y="62179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213848" y="138988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6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0213848" y="181051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cierra el negocio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977640" y="566928"/>
            <a:ext cx="0" cy="1499616"/>
          </a:xfrm>
          <a:prstGeom prst="line">
            <a:avLst/>
          </a:prstGeom>
          <a:noFill/>
          <a:ln w="19050">
            <a:solidFill>
              <a:srgbClr val="4A2880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2103120" y="221284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2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114800" y="221284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2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 →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01168" y="2578608"/>
            <a:ext cx="1170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2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El brief que CS entrega a Comercial (antes de la demo)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01168" y="2999232"/>
            <a:ext cx="5779008" cy="969264"/>
          </a:xfrm>
          <a:prstGeom prst="roundRect">
            <a:avLst>
              <a:gd name="adj" fmla="val 8491"/>
            </a:avLst>
          </a:prstGeom>
          <a:solidFill>
            <a:srgbClr val="EDE8F8"/>
          </a:solidFill>
          <a:ln w="12700">
            <a:solidFill>
              <a:srgbClr val="4A288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10896" y="3255264"/>
            <a:ext cx="438912" cy="438912"/>
          </a:xfrm>
          <a:prstGeom prst="ellipse">
            <a:avLst/>
          </a:prstGeom>
          <a:solidFill>
            <a:srgbClr val="4A2880"/>
          </a:solidFill>
          <a:ln w="12700">
            <a:solidFill>
              <a:srgbClr val="4A28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0896" y="32552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59536" y="3054096"/>
            <a:ext cx="4992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2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dolor exacto del cliente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859536" y="3383280"/>
            <a:ext cx="49926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"tiene problemas con el SAC" — sino "tienen 200 preguntas de ML sin responder por día y están perdiendo ventas".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01168" y="4078224"/>
            <a:ext cx="5779008" cy="969264"/>
          </a:xfrm>
          <a:prstGeom prst="roundRect">
            <a:avLst>
              <a:gd name="adj" fmla="val 8491"/>
            </a:avLst>
          </a:prstGeom>
          <a:solidFill>
            <a:srgbClr val="EDE8F8"/>
          </a:solidFill>
          <a:ln w="12700">
            <a:solidFill>
              <a:srgbClr val="4A288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10896" y="4334256"/>
            <a:ext cx="438912" cy="438912"/>
          </a:xfrm>
          <a:prstGeom prst="ellipse">
            <a:avLst/>
          </a:prstGeom>
          <a:solidFill>
            <a:srgbClr val="4A2880"/>
          </a:solidFill>
          <a:ln w="12700">
            <a:solidFill>
              <a:srgbClr val="4A288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10896" y="43342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859536" y="4133088"/>
            <a:ext cx="4992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2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contexto de la cuenta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859536" y="4462272"/>
            <a:ext cx="49926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país, GMV, marketplaces activos, tamaño del equipo, si tienen ERP. Comercial no debe preguntar lo básico.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01168" y="5157216"/>
            <a:ext cx="5779008" cy="969264"/>
          </a:xfrm>
          <a:prstGeom prst="roundRect">
            <a:avLst>
              <a:gd name="adj" fmla="val 8491"/>
            </a:avLst>
          </a:prstGeom>
          <a:solidFill>
            <a:srgbClr val="EDE8F8"/>
          </a:solidFill>
          <a:ln w="12700">
            <a:solidFill>
              <a:srgbClr val="4A288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10896" y="5413248"/>
            <a:ext cx="438912" cy="438912"/>
          </a:xfrm>
          <a:prstGeom prst="ellipse">
            <a:avLst/>
          </a:prstGeom>
          <a:solidFill>
            <a:srgbClr val="4A2880"/>
          </a:solidFill>
          <a:ln w="12700">
            <a:solidFill>
              <a:srgbClr val="4A28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10896" y="54132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859536" y="5212080"/>
            <a:ext cx="4992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2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exploraron y cómo reaccionó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859536" y="5541264"/>
            <a:ext cx="49926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preguntó el CSM? ¿Cuál fue la reacción del cliente? ¿Mostró interés, urgencia, objeciones?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199632" y="2999232"/>
            <a:ext cx="5779008" cy="969264"/>
          </a:xfrm>
          <a:prstGeom prst="roundRect">
            <a:avLst>
              <a:gd name="adj" fmla="val 8491"/>
            </a:avLst>
          </a:prstGeom>
          <a:solidFill>
            <a:srgbClr val="EDE8F8"/>
          </a:solidFill>
          <a:ln w="12700">
            <a:solidFill>
              <a:srgbClr val="4A288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09360" y="3255264"/>
            <a:ext cx="438912" cy="438912"/>
          </a:xfrm>
          <a:prstGeom prst="ellipse">
            <a:avLst/>
          </a:prstGeom>
          <a:solidFill>
            <a:srgbClr val="4A2880"/>
          </a:solidFill>
          <a:ln w="12700">
            <a:solidFill>
              <a:srgbClr val="4A288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09360" y="32552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6858000" y="3054096"/>
            <a:ext cx="4992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2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y nivel de decisión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6858000" y="3383280"/>
            <a:ext cx="49926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mostró interés, cuál es su cargo y si tiene poder de decisión. Quién más debe estar en la demo.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6199632" y="4078224"/>
            <a:ext cx="5779008" cy="969264"/>
          </a:xfrm>
          <a:prstGeom prst="roundRect">
            <a:avLst>
              <a:gd name="adj" fmla="val 8491"/>
            </a:avLst>
          </a:prstGeom>
          <a:solidFill>
            <a:srgbClr val="EDE8F8"/>
          </a:solidFill>
          <a:ln w="12700">
            <a:solidFill>
              <a:srgbClr val="4A288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309360" y="4334256"/>
            <a:ext cx="438912" cy="438912"/>
          </a:xfrm>
          <a:prstGeom prst="ellipse">
            <a:avLst/>
          </a:prstGeom>
          <a:solidFill>
            <a:srgbClr val="4A2880"/>
          </a:solidFill>
          <a:ln w="12700">
            <a:solidFill>
              <a:srgbClr val="4A288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09360" y="43342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6858000" y="4133088"/>
            <a:ext cx="4992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2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Expectativa del cliente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6858000" y="4462272"/>
            <a:ext cx="49926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quiere lograr con el producto? ¿Tiene plazo? ¿Tiene presupuesto definido? Comercial presenta sabiendo esto.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04800"/>
          </a:solidFill>
          <a:ln w="12700">
            <a:solidFill>
              <a:srgbClr val="C048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A870"/>
          </a:solidFill>
          <a:ln w="12700">
            <a:solidFill>
              <a:srgbClr val="F0A8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UP-SELLING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11480" y="3246120"/>
            <a:ext cx="10972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0A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MPs sin usar del plan · Hacer upgrade cuando el cliente llega al límite · CSM cierra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C04800"/>
          </a:solidFill>
          <a:ln w="12700">
            <a:solidFill>
              <a:srgbClr val="C04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Up-Selling — Los 2 tipos y el proceso de activación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" y="566928"/>
            <a:ext cx="5760720" cy="2304288"/>
          </a:xfrm>
          <a:prstGeom prst="roundRect">
            <a:avLst>
              <a:gd name="adj" fmla="val 3571"/>
            </a:avLst>
          </a:prstGeom>
          <a:solidFill>
            <a:srgbClr val="FFF0E6"/>
          </a:solidFill>
          <a:ln w="12700">
            <a:solidFill>
              <a:srgbClr val="C048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566928"/>
            <a:ext cx="5760720" cy="475488"/>
          </a:xfrm>
          <a:prstGeom prst="roundRect">
            <a:avLst>
              <a:gd name="adj" fmla="val 17308"/>
            </a:avLst>
          </a:prstGeom>
          <a:solidFill>
            <a:srgbClr val="C04800"/>
          </a:solidFill>
          <a:ln w="12700">
            <a:solidFill>
              <a:srgbClr val="C04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566928"/>
            <a:ext cx="5760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1 — Activación dentro del plan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133856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  El cliente ya paga por MPs que no está usando.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481328"/>
            <a:ext cx="5394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plan de 8 marketplaces → solo 2 activos con pedidos.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1810512"/>
            <a:ext cx="5394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Señal: qtUp muy bajo vs upPlan en el dashboard.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2139696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activar 1 MP a la vez, el de mayor potencial primero.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2487168"/>
            <a:ext cx="5394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6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CS puede cerrar esto sin Comercial.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566928"/>
            <a:ext cx="5742432" cy="2304288"/>
          </a:xfrm>
          <a:prstGeom prst="roundRect">
            <a:avLst>
              <a:gd name="adj" fmla="val 3571"/>
            </a:avLst>
          </a:prstGeom>
          <a:solidFill>
            <a:srgbClr val="FFF0E6"/>
          </a:solidFill>
          <a:ln w="12700">
            <a:solidFill>
              <a:srgbClr val="C048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566928"/>
            <a:ext cx="5742432" cy="475488"/>
          </a:xfrm>
          <a:prstGeom prst="roundRect">
            <a:avLst>
              <a:gd name="adj" fmla="val 17308"/>
            </a:avLst>
          </a:prstGeom>
          <a:solidFill>
            <a:srgbClr val="C04800"/>
          </a:solidFill>
          <a:ln w="12700">
            <a:solidFill>
              <a:srgbClr val="C04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566928"/>
            <a:ext cx="5742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2 — Upgrade de plan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1133856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El cliente usa todos los MPs de su plan y quiere más.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1481328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plan 8 MPs → 8 activos con volumen → quiere Temu, TikTok Shop.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0" y="1847088"/>
            <a:ext cx="5394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Señal: qtUp ≥ upPlan, cliente pregunta por nuevos canales.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0" y="2176272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proponer el plan superior con los beneficios claros.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0" y="2523744"/>
            <a:ext cx="5394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6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CS propone, Comercial puede apoyar en negociación.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28600" y="2962656"/>
            <a:ext cx="1170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(aplica a los 2 tipos):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28600" y="3364992"/>
            <a:ext cx="2231136" cy="3127248"/>
          </a:xfrm>
          <a:prstGeom prst="roundRect">
            <a:avLst>
              <a:gd name="adj" fmla="val 3689"/>
            </a:avLst>
          </a:prstGeom>
          <a:solidFill>
            <a:srgbClr val="FFFFFF"/>
          </a:solidFill>
          <a:ln w="12700">
            <a:solidFill>
              <a:srgbClr val="C048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6696" y="3419856"/>
            <a:ext cx="694944" cy="694944"/>
          </a:xfrm>
          <a:prstGeom prst="ellipse">
            <a:avLst/>
          </a:prstGeom>
          <a:solidFill>
            <a:srgbClr val="C04800"/>
          </a:solidFill>
          <a:ln w="12700">
            <a:solidFill>
              <a:srgbClr val="C048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6696" y="3419856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11480" y="3456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28600" y="4206240"/>
            <a:ext cx="22311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93192" y="4572000"/>
            <a:ext cx="192024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semanal: comparar qtUp vs upPlan por cliente. Filtrar los que están por debajo del 50%.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468880" y="4526280"/>
            <a:ext cx="137160" cy="347472"/>
          </a:xfrm>
          <a:prstGeom prst="rightArrow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24328" y="3364992"/>
            <a:ext cx="2231136" cy="3127248"/>
          </a:xfrm>
          <a:prstGeom prst="roundRect">
            <a:avLst>
              <a:gd name="adj" fmla="val 3689"/>
            </a:avLst>
          </a:prstGeom>
          <a:solidFill>
            <a:srgbClr val="FFFFFF"/>
          </a:solidFill>
          <a:ln w="12700">
            <a:solidFill>
              <a:srgbClr val="C048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92424" y="3419856"/>
            <a:ext cx="694944" cy="694944"/>
          </a:xfrm>
          <a:prstGeom prst="ellipse">
            <a:avLst/>
          </a:prstGeom>
          <a:solidFill>
            <a:srgbClr val="C04800"/>
          </a:solidFill>
          <a:ln w="12700">
            <a:solidFill>
              <a:srgbClr val="C048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92424" y="3419856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⚕️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2807208" y="3456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624328" y="4206240"/>
            <a:ext cx="22311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788920" y="4572000"/>
            <a:ext cx="192024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no está usando esos MPs? ¿Barrera técnica, falta de equipo, decisión estratégica?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64608" y="4526280"/>
            <a:ext cx="137160" cy="347472"/>
          </a:xfrm>
          <a:prstGeom prst="rightArrow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0056" y="3364992"/>
            <a:ext cx="2231136" cy="3127248"/>
          </a:xfrm>
          <a:prstGeom prst="roundRect">
            <a:avLst>
              <a:gd name="adj" fmla="val 3689"/>
            </a:avLst>
          </a:prstGeom>
          <a:solidFill>
            <a:srgbClr val="FFFFFF"/>
          </a:solidFill>
          <a:ln w="12700">
            <a:solidFill>
              <a:srgbClr val="C048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88152" y="3419856"/>
            <a:ext cx="694944" cy="694944"/>
          </a:xfrm>
          <a:prstGeom prst="ellipse">
            <a:avLst/>
          </a:prstGeom>
          <a:solidFill>
            <a:srgbClr val="C04800"/>
          </a:solidFill>
          <a:ln w="12700">
            <a:solidFill>
              <a:srgbClr val="C048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88152" y="3419856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202936" y="3456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020056" y="4206240"/>
            <a:ext cx="22311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CONTACTAR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184648" y="4572000"/>
            <a:ext cx="192024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"Vi que tienes [N] MPs disponibles en tu plan con solo [X] activos. ¿Es una decisión o hay algo que los frena?"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260336" y="4526280"/>
            <a:ext cx="137160" cy="347472"/>
          </a:xfrm>
          <a:prstGeom prst="rightArrow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5784" y="3364992"/>
            <a:ext cx="2231136" cy="3127248"/>
          </a:xfrm>
          <a:prstGeom prst="roundRect">
            <a:avLst>
              <a:gd name="adj" fmla="val 3689"/>
            </a:avLst>
          </a:prstGeom>
          <a:solidFill>
            <a:srgbClr val="FFFFFF"/>
          </a:solidFill>
          <a:ln w="12700">
            <a:solidFill>
              <a:srgbClr val="2A6A2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83880" y="3419856"/>
            <a:ext cx="694944" cy="694944"/>
          </a:xfrm>
          <a:prstGeom prst="ellipse">
            <a:avLst/>
          </a:prstGeom>
          <a:solidFill>
            <a:srgbClr val="2A6A2A"/>
          </a:solidFill>
          <a:ln w="12700">
            <a:solidFill>
              <a:srgbClr val="2A6A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83880" y="3419856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👂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7598664" y="3456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6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415784" y="4206240"/>
            <a:ext cx="22311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6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580376" y="4572000"/>
            <a:ext cx="192024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Escuchar el motivo real. Cada motivo tiene una respuesta distinta. (Ver slide siguiente)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9656064" y="4526280"/>
            <a:ext cx="137160" cy="347472"/>
          </a:xfrm>
          <a:prstGeom prst="rightArrow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811512" y="3364992"/>
            <a:ext cx="2231136" cy="3127248"/>
          </a:xfrm>
          <a:prstGeom prst="roundRect">
            <a:avLst>
              <a:gd name="adj" fmla="val 3689"/>
            </a:avLst>
          </a:prstGeom>
          <a:solidFill>
            <a:srgbClr val="FFFFFF"/>
          </a:solidFill>
          <a:ln w="12700">
            <a:solidFill>
              <a:srgbClr val="2A6A2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579608" y="3419856"/>
            <a:ext cx="694944" cy="694944"/>
          </a:xfrm>
          <a:prstGeom prst="ellipse">
            <a:avLst/>
          </a:prstGeom>
          <a:solidFill>
            <a:srgbClr val="2A6A2A"/>
          </a:solidFill>
          <a:ln w="12700">
            <a:solidFill>
              <a:srgbClr val="2A6A2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579608" y="3419856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9994392" y="3456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6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9811512" y="4206240"/>
            <a:ext cx="22311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6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976104" y="4572000"/>
            <a:ext cx="192024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Proponer 1 MP a la vez. Coordinar activación con Soporte. Seguimiento hasta el primer pedido.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C04800"/>
          </a:solidFill>
          <a:ln w="12700">
            <a:solidFill>
              <a:srgbClr val="C04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Up-Selling — Cómo responder según el motivo de no-activación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1170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"no" tiene un motivo. Cada motivo tiene una respuesta. Si no entiendes el motivo, no puedes activar.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" y="969264"/>
            <a:ext cx="5779008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C048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0896" y="1097280"/>
            <a:ext cx="475488" cy="475488"/>
          </a:xfrm>
          <a:prstGeom prst="ellipse">
            <a:avLst/>
          </a:prstGeom>
          <a:solidFill>
            <a:srgbClr val="C04800"/>
          </a:solidFill>
          <a:ln w="12700">
            <a:solidFill>
              <a:srgbClr val="C04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" y="10972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102412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saben que tienen MPs disponibles en el plan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96112" y="1664208"/>
            <a:ext cx="4937760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773936"/>
            <a:ext cx="4937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""Perfecto — te muestro qué MPs tienes disponibles. Podemos activar uno esta semana sin costo adicional.""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99632" y="969264"/>
            <a:ext cx="5779008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C048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097280"/>
            <a:ext cx="475488" cy="475488"/>
          </a:xfrm>
          <a:prstGeom prst="ellipse">
            <a:avLst/>
          </a:prstGeom>
          <a:solidFill>
            <a:srgbClr val="C04800"/>
          </a:solidFill>
          <a:ln w="12700">
            <a:solidFill>
              <a:srgbClr val="C04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0972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94576" y="102412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Barrera técnica (catálogo sin publicar, ERP sin integrar)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94576" y="1664208"/>
            <a:ext cx="4937760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94576" y="1773936"/>
            <a:ext cx="4937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""¿Cuándo tienes 30 minutos? Coordino con Soporte para guiarte paso a paso en la activación.""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01168" y="2889504"/>
            <a:ext cx="5779008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058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0896" y="3017520"/>
            <a:ext cx="475488" cy="475488"/>
          </a:xfrm>
          <a:prstGeom prst="ellipse">
            <a:avLst/>
          </a:prstGeom>
          <a:solidFill>
            <a:srgbClr val="E05800"/>
          </a:solidFill>
          <a:ln w="12700">
            <a:solidFill>
              <a:srgbClr val="E058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" y="30175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112" y="294436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equipo para gestionar otro canal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96112" y="3584448"/>
            <a:ext cx="4937760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3694176"/>
            <a:ext cx="4937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""¿Cuál MP de menor fricción probamos primero? Uno, medimos, y decidimos si vale la pena escalar.""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99632" y="2889504"/>
            <a:ext cx="5779008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058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3017520"/>
            <a:ext cx="475488" cy="475488"/>
          </a:xfrm>
          <a:prstGeom prst="ellipse">
            <a:avLst/>
          </a:prstGeom>
          <a:solidFill>
            <a:srgbClr val="E05800"/>
          </a:solidFill>
          <a:ln w="12700">
            <a:solidFill>
              <a:srgbClr val="E058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30175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94576" y="294436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 experiencia previa con ese marketplace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94576" y="3584448"/>
            <a:ext cx="4937760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94576" y="3694176"/>
            <a:ext cx="4937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""Cuéntame qué pasó — no empezaríamos de la misma forma. ¿Qué cambiaría para que valga intentarlo?""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01168" y="4809744"/>
            <a:ext cx="5779008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A038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0896" y="4937760"/>
            <a:ext cx="475488" cy="475488"/>
          </a:xfrm>
          <a:prstGeom prst="ellipse">
            <a:avLst/>
          </a:prstGeom>
          <a:solidFill>
            <a:srgbClr val="A03800"/>
          </a:solidFill>
          <a:ln w="12700">
            <a:solidFill>
              <a:srgbClr val="A038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" y="49377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96112" y="486460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3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de marca o acuerdo exclusivo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96112" y="5504688"/>
            <a:ext cx="4937760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" y="5614416"/>
            <a:ext cx="4937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""Entendido y lo respeto. ¿Hay algún otro MP disponible en tu plan que sí quieras explorar?""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99632" y="4809744"/>
            <a:ext cx="5779008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A038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09360" y="4937760"/>
            <a:ext cx="475488" cy="475488"/>
          </a:xfrm>
          <a:prstGeom prst="ellipse">
            <a:avLst/>
          </a:prstGeom>
          <a:solidFill>
            <a:srgbClr val="A03800"/>
          </a:solidFill>
          <a:ln w="12700">
            <a:solidFill>
              <a:srgbClr val="A038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49377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94576" y="486460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3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conoce el potencial de ese marketplace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894576" y="5504688"/>
            <a:ext cx="4937760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94576" y="5614416"/>
            <a:ext cx="4937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""¿Te puedo mostrar cómo les está yendo a empresas de tu categoría en ese canal? Puede ayudarte a decidir.""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01168" y="6675120"/>
            <a:ext cx="11612880" cy="749808"/>
          </a:xfrm>
          <a:prstGeom prst="roundRect">
            <a:avLst>
              <a:gd name="adj" fmla="val 10976"/>
            </a:avLst>
          </a:prstGeom>
          <a:solidFill>
            <a:srgbClr val="FFF8E6"/>
          </a:solidFill>
          <a:ln w="12700">
            <a:solidFill>
              <a:srgbClr val="B078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" y="6675120"/>
            <a:ext cx="4754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877824" y="6748272"/>
            <a:ext cx="10789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oro: proponer UN marketplace a la vez — no los 6 juntos. La acumulación paraliza. El foco activa.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6A5C"/>
          </a:solidFill>
          <a:ln w="12700">
            <a:solidFill>
              <a:srgbClr val="0A6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0D0C0"/>
          </a:solidFill>
          <a:ln w="12700">
            <a:solidFill>
              <a:srgbClr val="80D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0"/>
            <a:ext cx="11430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11480" y="3246120"/>
            <a:ext cx="10972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80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externo · Hunting: seller nuevo · Farming: cliente existente con brecha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0A6A5C"/>
          </a:solidFill>
          <a:ln w="12700">
            <a:solidFill>
              <a:srgbClr val="0A6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Parcerias — Cómo funciona el canal y los dos caminos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0" y="548640"/>
            <a:ext cx="3035808" cy="914400"/>
          </a:xfrm>
          <a:prstGeom prst="roundRect">
            <a:avLst>
              <a:gd name="adj" fmla="val 9000"/>
            </a:avLst>
          </a:prstGeom>
          <a:solidFill>
            <a:srgbClr val="14A090"/>
          </a:solidFill>
          <a:ln w="12700">
            <a:solidFill>
              <a:srgbClr val="0A6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0" y="548640"/>
            <a:ext cx="30358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MARKETPLACE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548640"/>
            <a:ext cx="3035808" cy="402336"/>
          </a:xfrm>
          <a:prstGeom prst="rect">
            <a:avLst/>
          </a:prstGeom>
          <a:solidFill>
            <a:srgbClr val="0A6A5C"/>
          </a:solidFill>
          <a:ln w="12700">
            <a:solidFill>
              <a:srgbClr val="0A6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950976"/>
            <a:ext cx="3035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ML, Falabella, Amazon, Ripley...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sellers sin integración AnyMarket → envía listado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833872" y="1481328"/>
            <a:ext cx="512064" cy="365760"/>
          </a:xfrm>
          <a:prstGeom prst="downArrow">
            <a:avLst/>
          </a:prstGeom>
          <a:solidFill>
            <a:srgbClr val="0A6A5C"/>
          </a:solidFill>
          <a:ln w="12700">
            <a:solidFill>
              <a:srgbClr val="0A6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883664"/>
            <a:ext cx="3035808" cy="859536"/>
          </a:xfrm>
          <a:prstGeom prst="roundRect">
            <a:avLst>
              <a:gd name="adj" fmla="val 9574"/>
            </a:avLst>
          </a:prstGeom>
          <a:solidFill>
            <a:srgbClr val="E6F5F2"/>
          </a:solidFill>
          <a:ln w="12700">
            <a:solidFill>
              <a:srgbClr val="0A9A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883664"/>
            <a:ext cx="3035808" cy="347472"/>
          </a:xfrm>
          <a:prstGeom prst="rect">
            <a:avLst/>
          </a:prstGeom>
          <a:solidFill>
            <a:srgbClr val="0A9A82"/>
          </a:solidFill>
          <a:ln w="12700">
            <a:solidFill>
              <a:srgbClr val="0A9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883664"/>
            <a:ext cx="3035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PARCERIAS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2231136"/>
            <a:ext cx="3035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· Clasifica · Enruta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78608" y="2249424"/>
            <a:ext cx="1938528" cy="384048"/>
          </a:xfrm>
          <a:prstGeom prst="rightArrow">
            <a:avLst/>
          </a:prstGeom>
          <a:solidFill>
            <a:srgbClr val="C04800"/>
          </a:solidFill>
          <a:ln w="12700">
            <a:solidFill>
              <a:srgbClr val="C04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2048256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nuevo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662672" y="2249424"/>
            <a:ext cx="1938528" cy="384048"/>
          </a:xfrm>
          <a:prstGeom prst="rightArrow">
            <a:avLst/>
          </a:prstGeom>
          <a:solidFill>
            <a:srgbClr val="2A6A2A"/>
          </a:solidFill>
          <a:ln w="12700">
            <a:solidFill>
              <a:srgbClr val="2A6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204825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6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existente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1168" y="2761488"/>
            <a:ext cx="4114800" cy="3730752"/>
          </a:xfrm>
          <a:prstGeom prst="roundRect">
            <a:avLst>
              <a:gd name="adj" fmla="val 2206"/>
            </a:avLst>
          </a:prstGeom>
          <a:solidFill>
            <a:srgbClr val="FFF0E6"/>
          </a:solidFill>
          <a:ln w="12700">
            <a:solidFill>
              <a:srgbClr val="C048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" y="2761488"/>
            <a:ext cx="4114800" cy="420624"/>
          </a:xfrm>
          <a:prstGeom prst="rect">
            <a:avLst/>
          </a:prstGeom>
          <a:solidFill>
            <a:srgbClr val="C04800"/>
          </a:solidFill>
          <a:ln w="12700">
            <a:solidFill>
              <a:srgbClr val="C048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" y="2761488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HUNTING — Seller nuevo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10896" y="3401568"/>
            <a:ext cx="402336" cy="402336"/>
          </a:xfrm>
          <a:prstGeom prst="ellipse">
            <a:avLst/>
          </a:prstGeom>
          <a:solidFill>
            <a:srgbClr val="C04800"/>
          </a:solidFill>
          <a:ln w="12700">
            <a:solidFill>
              <a:srgbClr val="C048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34015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3310128"/>
            <a:ext cx="3364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Investigar antes del contacto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2960" y="3602736"/>
            <a:ext cx="3364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 ya cliente? Categoría, volumen, ERP. Define el pitch.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10896" y="4169664"/>
            <a:ext cx="402336" cy="402336"/>
          </a:xfrm>
          <a:prstGeom prst="ellipse">
            <a:avLst/>
          </a:prstGeom>
          <a:solidFill>
            <a:srgbClr val="C04800"/>
          </a:solidFill>
          <a:ln w="12700">
            <a:solidFill>
              <a:srgbClr val="C048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" y="41696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" y="4078224"/>
            <a:ext cx="3364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contacto no invasivo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22960" y="4370832"/>
            <a:ext cx="3364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"Hola, soy [CSM] de AnyMarket. Vi tu operación en [MP] — ¿15 min esta semana?"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10896" y="4937760"/>
            <a:ext cx="402336" cy="402336"/>
          </a:xfrm>
          <a:prstGeom prst="ellipse">
            <a:avLst/>
          </a:prstGeom>
          <a:solidFill>
            <a:srgbClr val="C04800"/>
          </a:solidFill>
          <a:ln w="12700">
            <a:solidFill>
              <a:srgbClr val="C048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" y="49377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" y="4846320"/>
            <a:ext cx="3364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Calificar en reunión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22960" y="5138928"/>
            <a:ext cx="3364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¿MP es core? ¿Cuántos canales opera? ¿Tiene ERP/OMS?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10896" y="5705856"/>
            <a:ext cx="402336" cy="402336"/>
          </a:xfrm>
          <a:prstGeom prst="ellipse">
            <a:avLst/>
          </a:prstGeom>
          <a:solidFill>
            <a:srgbClr val="C04800"/>
          </a:solidFill>
          <a:ln w="12700">
            <a:solidFill>
              <a:srgbClr val="C048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0896" y="57058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2960" y="5614416"/>
            <a:ext cx="3364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22960" y="5907024"/>
            <a:ext cx="3364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Califica → Comercial. 🟡 Potencial → nutrir 90d. ❌ No aplica → documentar motivo.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882128" y="2761488"/>
            <a:ext cx="4114800" cy="3730752"/>
          </a:xfrm>
          <a:prstGeom prst="roundRect">
            <a:avLst>
              <a:gd name="adj" fmla="val 2206"/>
            </a:avLst>
          </a:prstGeom>
          <a:solidFill>
            <a:srgbClr val="E6F5F2"/>
          </a:solidFill>
          <a:ln w="12700">
            <a:solidFill>
              <a:srgbClr val="2A6A2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882128" y="2761488"/>
            <a:ext cx="4114800" cy="420624"/>
          </a:xfrm>
          <a:prstGeom prst="rect">
            <a:avLst/>
          </a:prstGeom>
          <a:solidFill>
            <a:srgbClr val="2A6A2A"/>
          </a:solidFill>
          <a:ln w="12700">
            <a:solidFill>
              <a:srgbClr val="2A6A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82128" y="2761488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FARMING — Cliente existente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7991856" y="3401568"/>
            <a:ext cx="402336" cy="402336"/>
          </a:xfrm>
          <a:prstGeom prst="ellipse">
            <a:avLst/>
          </a:prstGeom>
          <a:solidFill>
            <a:srgbClr val="2A6A2A"/>
          </a:solidFill>
          <a:ln w="12700">
            <a:solidFill>
              <a:srgbClr val="2A6A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91856" y="34015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503920" y="3310128"/>
            <a:ext cx="3364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6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estado de la cuenta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8503920" y="3602736"/>
            <a:ext cx="3364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¿Tickets urgentes, NPS bajo? Resolver primero antes de proponer expansión.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991856" y="4169664"/>
            <a:ext cx="402336" cy="402336"/>
          </a:xfrm>
          <a:prstGeom prst="ellipse">
            <a:avLst/>
          </a:prstGeom>
          <a:solidFill>
            <a:srgbClr val="2A6A2A"/>
          </a:solidFill>
          <a:ln w="12700">
            <a:solidFill>
              <a:srgbClr val="2A6A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91856" y="41696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503920" y="4078224"/>
            <a:ext cx="3364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6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en AnyMarket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8503920" y="4370832"/>
            <a:ext cx="3364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MPs del plan vs MPs con pedidos. ¿Cuál de mayor potencial?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991856" y="4937760"/>
            <a:ext cx="402336" cy="402336"/>
          </a:xfrm>
          <a:prstGeom prst="ellipse">
            <a:avLst/>
          </a:prstGeom>
          <a:solidFill>
            <a:srgbClr val="2A6A2A"/>
          </a:solidFill>
          <a:ln w="12700">
            <a:solidFill>
              <a:srgbClr val="2A6A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91856" y="49377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503920" y="4846320"/>
            <a:ext cx="3364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6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consultivo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8503920" y="5138928"/>
            <a:ext cx="3364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"Tienes [N] MPs disponibles pero solo [X] activos. ¿Es decisión estratégica o hay barrera?"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7991856" y="5705856"/>
            <a:ext cx="402336" cy="402336"/>
          </a:xfrm>
          <a:prstGeom prst="ellipse">
            <a:avLst/>
          </a:prstGeom>
          <a:solidFill>
            <a:srgbClr val="2A6A2A"/>
          </a:solidFill>
          <a:ln w="12700">
            <a:solidFill>
              <a:srgbClr val="2A6A2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91856" y="57058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503920" y="5614416"/>
            <a:ext cx="3364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6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1 MP a la vez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8503920" y="5907024"/>
            <a:ext cx="3364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Coord. con Soporte. Seguimiento hasta el primer pedido. No los 6 juntos.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434840" y="2871216"/>
            <a:ext cx="3310128" cy="3493008"/>
          </a:xfrm>
          <a:prstGeom prst="roundRect">
            <a:avLst>
              <a:gd name="adj" fmla="val 2486"/>
            </a:avLst>
          </a:prstGeom>
          <a:solidFill>
            <a:srgbClr val="E6F5F2"/>
          </a:solidFill>
          <a:ln w="12700">
            <a:solidFill>
              <a:srgbClr val="0A9A8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34840" y="2871216"/>
            <a:ext cx="33101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Farming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Up-Selling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4434840" y="3749040"/>
            <a:ext cx="33101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lo mismo en resultado: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MPs sin usar.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663440" y="4443984"/>
            <a:ext cx="2834640" cy="0"/>
          </a:xfrm>
          <a:prstGeom prst="line">
            <a:avLst/>
          </a:prstGeom>
          <a:noFill/>
          <a:ln w="6350">
            <a:solidFill>
              <a:srgbClr val="0A6A5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434840" y="4535424"/>
            <a:ext cx="3310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trigger 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diferente: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617720" y="5010912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Farming → MP avisa a Parcerias → Parcerias avisa al CSM.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4617720" y="5486400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0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Up-Selling → CSM detecta solo en el dashboard.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— Cuándo usar cada estrategia y métricas semanales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01168" y="548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decisión rápida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1168" y="932688"/>
            <a:ext cx="4700016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932688"/>
            <a:ext cx="4700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 detectada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37760" y="932688"/>
            <a:ext cx="4151376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932688"/>
            <a:ext cx="4151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25712" y="932688"/>
            <a:ext cx="2852928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25712" y="932688"/>
            <a:ext cx="2852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cierra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1168" y="1298448"/>
            <a:ext cx="1177747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" y="1499616"/>
            <a:ext cx="219456" cy="566928"/>
          </a:xfrm>
          <a:prstGeom prst="roundRect">
            <a:avLst>
              <a:gd name="adj" fmla="val 25000"/>
            </a:avLst>
          </a:prstGeom>
          <a:solidFill>
            <a:srgbClr val="4A2880"/>
          </a:solidFill>
          <a:ln w="12700">
            <a:solidFill>
              <a:srgbClr val="4A28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1353312"/>
            <a:ext cx="437083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menciona un dolor que AnyMarket no resuelve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1353312"/>
            <a:ext cx="415137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2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Predize / Koncili / Marca Seleta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25712" y="1353312"/>
            <a:ext cx="28346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 (CSM hace hand-off)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1168" y="2286000"/>
            <a:ext cx="11777472" cy="950976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1168" y="2487168"/>
            <a:ext cx="219456" cy="566928"/>
          </a:xfrm>
          <a:prstGeom prst="roundRect">
            <a:avLst>
              <a:gd name="adj" fmla="val 25000"/>
            </a:avLst>
          </a:prstGeom>
          <a:solidFill>
            <a:srgbClr val="C04800"/>
          </a:solidFill>
          <a:ln w="12700">
            <a:solidFill>
              <a:srgbClr val="C048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2340864"/>
            <a:ext cx="437083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usa menos MPs de los que paga en su plan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340864"/>
            <a:ext cx="415137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MPs dentro del plan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25712" y="2340864"/>
            <a:ext cx="28346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 cierra directamente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01168" y="3273552"/>
            <a:ext cx="1177747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1168" y="3474720"/>
            <a:ext cx="219456" cy="566928"/>
          </a:xfrm>
          <a:prstGeom prst="roundRect">
            <a:avLst>
              <a:gd name="adj" fmla="val 25000"/>
            </a:avLst>
          </a:prstGeom>
          <a:solidFill>
            <a:srgbClr val="E05800"/>
          </a:solidFill>
          <a:ln w="12700">
            <a:solidFill>
              <a:srgbClr val="E058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" y="3328416"/>
            <a:ext cx="437083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usa todos sus MPs y quiere más canales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3328416"/>
            <a:ext cx="415137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de plan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25712" y="3328416"/>
            <a:ext cx="28346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 propone, Comercial apoya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01168" y="4261104"/>
            <a:ext cx="11777472" cy="950976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1168" y="4462272"/>
            <a:ext cx="219456" cy="566928"/>
          </a:xfrm>
          <a:prstGeom prst="roundRect">
            <a:avLst>
              <a:gd name="adj" fmla="val 25000"/>
            </a:avLst>
          </a:prstGeom>
          <a:solidFill>
            <a:srgbClr val="3A208A"/>
          </a:solidFill>
          <a:ln w="12700">
            <a:solidFill>
              <a:srgbClr val="3A20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" y="4315968"/>
            <a:ext cx="437083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 detecta seller sin integración AnyMarket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37760" y="4315968"/>
            <a:ext cx="415137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2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Hunting: calificar y pasar a Comercial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25712" y="4315968"/>
            <a:ext cx="28346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 cierra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01168" y="5248656"/>
            <a:ext cx="1177747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1168" y="5449824"/>
            <a:ext cx="219456" cy="566928"/>
          </a:xfrm>
          <a:prstGeom prst="roundRect">
            <a:avLst>
              <a:gd name="adj" fmla="val 25000"/>
            </a:avLst>
          </a:prstGeom>
          <a:solidFill>
            <a:srgbClr val="0A6A5C"/>
          </a:solidFill>
          <a:ln w="12700">
            <a:solidFill>
              <a:srgbClr val="0A6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" y="5303520"/>
            <a:ext cx="437083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 detecta cliente de AnyMarket con MPs sin usar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37760" y="5303520"/>
            <a:ext cx="415137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Farming: igual que Up-Selling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125712" y="5303520"/>
            <a:ext cx="28346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 cierra directamente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01168" y="6327648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mínimas semanales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01168" y="6638544"/>
            <a:ext cx="384048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4A28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" y="6675120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2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Cross-Selling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47472" y="6967728"/>
            <a:ext cx="35478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oportunidades detectadas · # briefs enviados a Comercial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197096" y="6638544"/>
            <a:ext cx="384048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C048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43400" y="6675120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⬆️ Up-Selling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343400" y="6967728"/>
            <a:ext cx="35478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clientes con UP% &lt; 50% contactados · # MPs activados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193024" y="6638544"/>
            <a:ext cx="384048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0A6A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39328" y="6675120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Parcerias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339328" y="6967728"/>
            <a:ext cx="35478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leads Hunting calificados · # MPs activados por Farming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2026-07-10T21:16:40Z</dcterms:created>
  <dcterms:modified xsi:type="dcterms:W3CDTF">2026-07-10T21:16:40Z</dcterms:modified>
</cp:coreProperties>
</file>