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A7A6A"/>
          </a:solidFill>
          <a:ln w="12700">
            <a:solidFill>
              <a:srgbClr val="0A7A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0"/>
            <a:ext cx="54864" cy="6858000"/>
          </a:xfrm>
          <a:prstGeom prst="rect">
            <a:avLst/>
          </a:prstGeom>
          <a:solidFill>
            <a:srgbClr val="40C0A0"/>
          </a:solidFill>
          <a:ln w="12700">
            <a:solidFill>
              <a:srgbClr val="40C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74320" y="199339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 + Farming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2670048"/>
            <a:ext cx="41148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83464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los marketplaces generan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para AnyMarket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rol del CSM en convertirlas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AnyMarket LATAM — Customer Success ·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94960" y="658368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actores del canal Parcerias: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376672" y="1170432"/>
            <a:ext cx="6510528" cy="1444752"/>
          </a:xfrm>
          <a:prstGeom prst="roundRect">
            <a:avLst>
              <a:gd name="adj" fmla="val 6329"/>
            </a:avLst>
          </a:prstGeom>
          <a:solidFill>
            <a:srgbClr val="E8F0FB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76672" y="1170432"/>
            <a:ext cx="91440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64224" y="128016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64224" y="1627632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ML, Falabella, Amazon, Ripley...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sellers sin integración AnyMarket y comparte el listado con el equipo de Parcerias.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1082528" y="1920240"/>
            <a:ext cx="475488" cy="384048"/>
          </a:xfrm>
          <a:prstGeom prst="downArrow">
            <a:avLst/>
          </a:prstGeom>
          <a:solidFill>
            <a:srgbClr val="6B7A90"/>
          </a:solidFill>
          <a:ln w="12700">
            <a:solidFill>
              <a:srgbClr val="6B7A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2798064"/>
            <a:ext cx="6510528" cy="1444752"/>
          </a:xfrm>
          <a:prstGeom prst="roundRect">
            <a:avLst>
              <a:gd name="adj" fmla="val 6329"/>
            </a:avLst>
          </a:prstGeom>
          <a:solidFill>
            <a:srgbClr val="E6F5F2"/>
          </a:solidFill>
          <a:ln w="12700">
            <a:solidFill>
              <a:srgbClr val="0A7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76672" y="2798064"/>
            <a:ext cx="91440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64224" y="2907792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 (AnyMarket)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64224" y="3255264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el listado. Clasifica: ¿es un seller nuevo (→ Hunting) o un cliente existente con brecha (→ Farming)? Enruta al equipo correcto.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1082528" y="3547872"/>
            <a:ext cx="475488" cy="384048"/>
          </a:xfrm>
          <a:prstGeom prst="downArrow">
            <a:avLst/>
          </a:prstGeom>
          <a:solidFill>
            <a:srgbClr val="6B7A90"/>
          </a:solidFill>
          <a:ln w="12700">
            <a:solidFill>
              <a:srgbClr val="6B7A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4425696"/>
            <a:ext cx="6510528" cy="1444752"/>
          </a:xfrm>
          <a:prstGeom prst="roundRect">
            <a:avLst>
              <a:gd name="adj" fmla="val 6329"/>
            </a:avLst>
          </a:prstGeom>
          <a:solidFill>
            <a:srgbClr val="E6F5EC"/>
          </a:solidFill>
          <a:ln w="12700">
            <a:solidFill>
              <a:srgbClr val="1A6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76672" y="4425696"/>
            <a:ext cx="91440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364224" y="4535424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 — Hunting / Farming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64224" y="4882896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Hunting: contacta sellers nuevos y los convierte en clientes. Farming: contacta clientes existentes y activa marketplaces sin usar.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93776"/>
          </a:xfrm>
          <a:prstGeom prst="rect">
            <a:avLst/>
          </a:prstGeom>
          <a:solidFill>
            <a:srgbClr val="0A7A6A"/>
          </a:solidFill>
          <a:ln w="12700">
            <a:solidFill>
              <a:srgbClr val="0A7A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"/>
            <a:ext cx="11430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ecosistema completo — Cómo fluye el canal de Parcerias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114800" y="594360"/>
            <a:ext cx="3959352" cy="1005840"/>
          </a:xfrm>
          <a:prstGeom prst="roundRect">
            <a:avLst>
              <a:gd name="adj" fmla="val 9091"/>
            </a:avLst>
          </a:prstGeom>
          <a:solidFill>
            <a:srgbClr val="E8F0FB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0" y="59436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919472" y="65836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19472" y="987552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sellers sin integración AnyMarket.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listado a Parcerias.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52160" y="1627632"/>
            <a:ext cx="475488" cy="384048"/>
          </a:xfrm>
          <a:prstGeom prst="downArrow">
            <a:avLst/>
          </a:prstGeom>
          <a:solidFill>
            <a:srgbClr val="6B7A90"/>
          </a:solidFill>
          <a:ln w="12700">
            <a:solidFill>
              <a:srgbClr val="6B7A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2029968"/>
            <a:ext cx="3959352" cy="1005840"/>
          </a:xfrm>
          <a:prstGeom prst="roundRect">
            <a:avLst>
              <a:gd name="adj" fmla="val 9091"/>
            </a:avLst>
          </a:prstGeom>
          <a:solidFill>
            <a:srgbClr val="E6F5F2"/>
          </a:solidFill>
          <a:ln w="12700">
            <a:solidFill>
              <a:srgbClr val="0A7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2029968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19472" y="209397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242316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Recibe, clasifica y enruta.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¿Nuevo seller? → Hunting. ¿Cliente existente con brecha? → Farming.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0" y="2816352"/>
            <a:ext cx="1325880" cy="384048"/>
          </a:xfrm>
          <a:prstGeom prst="rightArrow">
            <a:avLst/>
          </a:prstGeom>
          <a:solidFill>
            <a:srgbClr val="C05000"/>
          </a:solidFill>
          <a:ln w="12700">
            <a:solidFill>
              <a:srgbClr val="C05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2816352"/>
            <a:ext cx="124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seller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19872" y="2816352"/>
            <a:ext cx="1325880" cy="384048"/>
          </a:xfrm>
          <a:prstGeom prst="rightArrow">
            <a:avLst/>
          </a:prstGeom>
          <a:solidFill>
            <a:srgbClr val="1A6A3A"/>
          </a:solidFill>
          <a:ln w="12700">
            <a:solidFill>
              <a:srgbClr val="1A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91472" y="28163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existente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310128"/>
            <a:ext cx="5212080" cy="2212848"/>
          </a:xfrm>
          <a:prstGeom prst="roundRect">
            <a:avLst>
              <a:gd name="adj" fmla="val 4132"/>
            </a:avLst>
          </a:prstGeom>
          <a:solidFill>
            <a:srgbClr val="FFF0E6"/>
          </a:solidFill>
          <a:ln w="12700">
            <a:solidFill>
              <a:srgbClr val="C05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310128"/>
            <a:ext cx="5212080" cy="530352"/>
          </a:xfrm>
          <a:prstGeom prst="roundRect">
            <a:avLst>
              <a:gd name="adj" fmla="val 17241"/>
            </a:avLst>
          </a:prstGeom>
          <a:solidFill>
            <a:srgbClr val="C05000"/>
          </a:solidFill>
          <a:ln w="12700">
            <a:solidFill>
              <a:srgbClr val="C05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310128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HUNTING — Nuevo seller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8912" y="3931920"/>
            <a:ext cx="4882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Investigar el seller antes del contacto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8912" y="4233672"/>
            <a:ext cx="4882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Primer contacto — apertura no invasiva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" y="4535424"/>
            <a:ext cx="4882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Calificar: ¿es core de negocio el MP?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" y="4837176"/>
            <a:ext cx="4882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 califica → pasar a Comercial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" y="5138928"/>
            <a:ext cx="4882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 no califica → documentar el motivo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75120" y="3310128"/>
            <a:ext cx="5212080" cy="2212848"/>
          </a:xfrm>
          <a:prstGeom prst="roundRect">
            <a:avLst>
              <a:gd name="adj" fmla="val 4132"/>
            </a:avLst>
          </a:prstGeom>
          <a:solidFill>
            <a:srgbClr val="E6F5EC"/>
          </a:solidFill>
          <a:ln w="12700">
            <a:solidFill>
              <a:srgbClr val="1A6A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0" y="3310128"/>
            <a:ext cx="5212080" cy="530352"/>
          </a:xfrm>
          <a:prstGeom prst="roundRect">
            <a:avLst>
              <a:gd name="adj" fmla="val 17241"/>
            </a:avLst>
          </a:prstGeom>
          <a:solidFill>
            <a:srgbClr val="1A6A3A"/>
          </a:solidFill>
          <a:ln w="12700">
            <a:solidFill>
              <a:srgbClr val="1A6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3310128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FARMING — Cliente existente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39712" y="3931920"/>
            <a:ext cx="4882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Verificar en AnyMarket qué MPs tiene sin usar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39712" y="4233672"/>
            <a:ext cx="4882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Confirmar que la cuenta esté saludable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39712" y="4535424"/>
            <a:ext cx="4882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Contacto consultivo: ¿decisión o barrera?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39712" y="4837176"/>
            <a:ext cx="4882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Entender el motivo y responder en consecuencia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39712" y="5138928"/>
            <a:ext cx="4882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Coordinar activación técnica con Soporte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5687568"/>
            <a:ext cx="11640312" cy="859536"/>
          </a:xfrm>
          <a:prstGeom prst="roundRect">
            <a:avLst>
              <a:gd name="adj" fmla="val 10638"/>
            </a:avLst>
          </a:prstGeom>
          <a:solidFill>
            <a:srgbClr val="E6F5F2"/>
          </a:solidFill>
          <a:ln w="12700">
            <a:solidFill>
              <a:srgbClr val="0A7A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5687568"/>
            <a:ext cx="5486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005840" y="57607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05840" y="6071616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 → nuevo cliente integrado a AnyMarket  ·  Farming → cliente existente con más marketplaces activos y mayor GMV  ·  Rechazos → inteligencia de mercado documentada para Producto y Parcerias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93776"/>
          </a:xfrm>
          <a:prstGeom prst="rect">
            <a:avLst/>
          </a:prstGeom>
          <a:solidFill>
            <a:srgbClr val="C05000"/>
          </a:solidFill>
          <a:ln w="12700">
            <a:solidFill>
              <a:srgbClr val="C05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"/>
            <a:ext cx="11430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 — Seller nuevo sin integración AnyMarket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603504"/>
            <a:ext cx="11567160" cy="1298448"/>
          </a:xfrm>
          <a:prstGeom prst="roundRect">
            <a:avLst>
              <a:gd name="adj" fmla="val 7042"/>
            </a:avLst>
          </a:prstGeom>
          <a:solidFill>
            <a:srgbClr val="FFF0E6"/>
          </a:solidFill>
          <a:ln w="12700">
            <a:solidFill>
              <a:srgbClr val="C05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603504"/>
            <a:ext cx="566928" cy="1298448"/>
          </a:xfrm>
          <a:prstGeom prst="roundRect">
            <a:avLst>
              <a:gd name="adj" fmla="val 16129"/>
            </a:avLst>
          </a:prstGeom>
          <a:solidFill>
            <a:srgbClr val="C05000"/>
          </a:solidFill>
          <a:ln w="12700">
            <a:solidFill>
              <a:srgbClr val="C05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03504"/>
            <a:ext cx="566928" cy="675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278697"/>
            <a:ext cx="566928" cy="6232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8408" y="676656"/>
            <a:ext cx="10799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antes del contacto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8408" y="1005840"/>
            <a:ext cx="1079906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en AnyMarket si el seller ya es cliente (si es así → Farming). Buscar en el marketplace: volumen, categoría, cantidad de SKUs. Definir qué plan le correspondería.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020824"/>
            <a:ext cx="11567160" cy="1298448"/>
          </a:xfrm>
          <a:prstGeom prst="roundRect">
            <a:avLst>
              <a:gd name="adj" fmla="val 7042"/>
            </a:avLst>
          </a:prstGeom>
          <a:solidFill>
            <a:srgbClr val="FFF0E6"/>
          </a:solidFill>
          <a:ln w="12700">
            <a:solidFill>
              <a:srgbClr val="C05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020824"/>
            <a:ext cx="566928" cy="1298448"/>
          </a:xfrm>
          <a:prstGeom prst="roundRect">
            <a:avLst>
              <a:gd name="adj" fmla="val 16129"/>
            </a:avLst>
          </a:prstGeom>
          <a:solidFill>
            <a:srgbClr val="C05000"/>
          </a:solidFill>
          <a:ln w="12700">
            <a:solidFill>
              <a:srgbClr val="C05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020824"/>
            <a:ext cx="566928" cy="675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" y="2696017"/>
            <a:ext cx="566928" cy="6232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78408" y="2093976"/>
            <a:ext cx="10799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contacto — apertura no invasiva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8408" y="2423160"/>
            <a:ext cx="1079906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"Hola [Nombre], soy [CSM] de AnyMarket. Vi tu operación en [Marketplace X] — tenemos una integración que empresas similares usan para gestionar varios MPs desde un solo lugar. ¿Tienes 15 minutos esta semana?"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438144"/>
            <a:ext cx="11567160" cy="1298448"/>
          </a:xfrm>
          <a:prstGeom prst="roundRect">
            <a:avLst>
              <a:gd name="adj" fmla="val 7042"/>
            </a:avLst>
          </a:prstGeom>
          <a:solidFill>
            <a:srgbClr val="FFF0E6"/>
          </a:solidFill>
          <a:ln w="12700">
            <a:solidFill>
              <a:srgbClr val="C05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438144"/>
            <a:ext cx="566928" cy="1298448"/>
          </a:xfrm>
          <a:prstGeom prst="roundRect">
            <a:avLst>
              <a:gd name="adj" fmla="val 16129"/>
            </a:avLst>
          </a:prstGeom>
          <a:solidFill>
            <a:srgbClr val="C05000"/>
          </a:solidFill>
          <a:ln w="12700">
            <a:solidFill>
              <a:srgbClr val="C05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438144"/>
            <a:ext cx="566928" cy="675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20040" y="4113337"/>
            <a:ext cx="566928" cy="6232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78408" y="3511296"/>
            <a:ext cx="10799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 en la reunión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8408" y="3840480"/>
            <a:ext cx="1079906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¿El eCommerce es su core de negocio? (2) ¿En cuántos MPs opera? (3) ¿Tiene ERP/OMS? (4) ¿Por qué no tenía integración hasta ahora? Cada respuesta define el pitch.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855464"/>
            <a:ext cx="11567160" cy="1298448"/>
          </a:xfrm>
          <a:prstGeom prst="roundRect">
            <a:avLst>
              <a:gd name="adj" fmla="val 7042"/>
            </a:avLst>
          </a:prstGeom>
          <a:solidFill>
            <a:srgbClr val="FFF0E6"/>
          </a:solidFill>
          <a:ln w="12700">
            <a:solidFill>
              <a:srgbClr val="C05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855464"/>
            <a:ext cx="566928" cy="1298448"/>
          </a:xfrm>
          <a:prstGeom prst="roundRect">
            <a:avLst>
              <a:gd name="adj" fmla="val 16129"/>
            </a:avLst>
          </a:prstGeom>
          <a:solidFill>
            <a:srgbClr val="C05000"/>
          </a:solidFill>
          <a:ln w="12700">
            <a:solidFill>
              <a:srgbClr val="C05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855464"/>
            <a:ext cx="566928" cy="675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20040" y="5530657"/>
            <a:ext cx="566928" cy="6232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78408" y="4928616"/>
            <a:ext cx="10799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post-calificación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" y="5257800"/>
            <a:ext cx="1079906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Califica (2+ MPs, core = eCommerce) → pasar a Comercial.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Potencial (MP secundario hoy) → nutrir, revisitar en 90 días.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aplica → documentar motivo y reportar a Parcerias.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6327648"/>
            <a:ext cx="11567160" cy="384048"/>
          </a:xfrm>
          <a:prstGeom prst="roundRect">
            <a:avLst>
              <a:gd name="adj" fmla="val 23810"/>
            </a:avLst>
          </a:prstGeom>
          <a:solidFill>
            <a:srgbClr val="FFF8E6"/>
          </a:solidFill>
          <a:ln w="12700">
            <a:solidFill>
              <a:srgbClr val="D08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345936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REGLA CLAVE: documentar cada rechazo con el motivo exacto — si el 60% de los leads de un MP no califica por la misma razón, hay un problema de segmentación que debe ir a Parcerias y Producto.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93776"/>
          </a:xfrm>
          <a:prstGeom prst="rect">
            <a:avLst/>
          </a:prstGeom>
          <a:solidFill>
            <a:srgbClr val="1A6A3A"/>
          </a:solidFill>
          <a:ln w="12700">
            <a:solidFill>
              <a:srgbClr val="1A6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"/>
            <a:ext cx="11430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Farming — Cliente existente con marketplaces sin activar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11567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llega este caso al CSM?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950976"/>
            <a:ext cx="5596128" cy="932688"/>
          </a:xfrm>
          <a:prstGeom prst="roundRect">
            <a:avLst>
              <a:gd name="adj" fmla="val 9804"/>
            </a:avLst>
          </a:prstGeom>
          <a:solidFill>
            <a:srgbClr val="E8F0FB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5321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Fuente 1 — Parcerias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16736"/>
            <a:ext cx="5321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marketplace detecta que un cliente de AnyMarket no tiene activa la integración para ese canal. Lo reporta a Parcerias → Parcerias avisa al CSM.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16752" y="950976"/>
            <a:ext cx="5870448" cy="932688"/>
          </a:xfrm>
          <a:prstGeom prst="roundRect">
            <a:avLst>
              <a:gd name="adj" fmla="val 9804"/>
            </a:avLst>
          </a:prstGeom>
          <a:solidFill>
            <a:srgbClr val="E6F5F2"/>
          </a:solidFill>
          <a:ln w="12700">
            <a:solidFill>
              <a:srgbClr val="0A7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53912" y="1005840"/>
            <a:ext cx="5596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Fuente 2 — Dashboard CSM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53912" y="1316736"/>
            <a:ext cx="5596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CSM detecta en AnyMarket que el cliente tiene un plan para N marketplaces pero solo usa X activos. Ejemplo: plan 8 MPs → solo 2 activos.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993392"/>
            <a:ext cx="11567160" cy="932688"/>
          </a:xfrm>
          <a:prstGeom prst="roundRect">
            <a:avLst>
              <a:gd name="adj" fmla="val 9804"/>
            </a:avLst>
          </a:prstGeom>
          <a:solidFill>
            <a:srgbClr val="E6F5EC"/>
          </a:solidFill>
          <a:ln w="12700">
            <a:solidFill>
              <a:srgbClr val="1A6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993392"/>
            <a:ext cx="566928" cy="932688"/>
          </a:xfrm>
          <a:prstGeom prst="roundRect">
            <a:avLst>
              <a:gd name="adj" fmla="val 16129"/>
            </a:avLst>
          </a:prstGeom>
          <a:solidFill>
            <a:srgbClr val="1A6A3A"/>
          </a:solidFill>
          <a:ln w="12700">
            <a:solidFill>
              <a:srgbClr val="1A6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993392"/>
            <a:ext cx="566928" cy="484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0040" y="2478390"/>
            <a:ext cx="566928" cy="4476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78408" y="2066544"/>
            <a:ext cx="10799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estado de la cuenta antes de actuar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78408" y="2395728"/>
            <a:ext cx="1079906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tickets urgentes abiertos? ¿NPS negativo? ¿Health Score &lt; 60? Si hay problemas activos → resolverlos primero. No proponer expansión cuando el cliente está frustrado.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017520"/>
            <a:ext cx="11567160" cy="932688"/>
          </a:xfrm>
          <a:prstGeom prst="roundRect">
            <a:avLst>
              <a:gd name="adj" fmla="val 9804"/>
            </a:avLst>
          </a:prstGeom>
          <a:solidFill>
            <a:srgbClr val="E6F5EC"/>
          </a:solidFill>
          <a:ln w="12700">
            <a:solidFill>
              <a:srgbClr val="1A6A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017520"/>
            <a:ext cx="566928" cy="932688"/>
          </a:xfrm>
          <a:prstGeom prst="roundRect">
            <a:avLst>
              <a:gd name="adj" fmla="val 16129"/>
            </a:avLst>
          </a:prstGeom>
          <a:solidFill>
            <a:srgbClr val="1A6A3A"/>
          </a:solidFill>
          <a:ln w="12700">
            <a:solidFill>
              <a:srgbClr val="1A6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017520"/>
            <a:ext cx="566928" cy="484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20040" y="3502518"/>
            <a:ext cx="566928" cy="4476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78408" y="3090672"/>
            <a:ext cx="10799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en AnyMarket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8408" y="3419856"/>
            <a:ext cx="1079906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Mapear: MPs disponibles en el plan vs. MPs con pedidos activos en los últimos 30 días. ¿Cuál MP de mayor potencial para su categoría? ¿Tiene catálogo listo para publicar ahí?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041648"/>
            <a:ext cx="11567160" cy="932688"/>
          </a:xfrm>
          <a:prstGeom prst="roundRect">
            <a:avLst>
              <a:gd name="adj" fmla="val 9804"/>
            </a:avLst>
          </a:prstGeom>
          <a:solidFill>
            <a:srgbClr val="E6F5EC"/>
          </a:solidFill>
          <a:ln w="12700">
            <a:solidFill>
              <a:srgbClr val="1A6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041648"/>
            <a:ext cx="566928" cy="932688"/>
          </a:xfrm>
          <a:prstGeom prst="roundRect">
            <a:avLst>
              <a:gd name="adj" fmla="val 16129"/>
            </a:avLst>
          </a:prstGeom>
          <a:solidFill>
            <a:srgbClr val="1A6A3A"/>
          </a:solidFill>
          <a:ln w="12700">
            <a:solidFill>
              <a:srgbClr val="1A6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041648"/>
            <a:ext cx="566928" cy="484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0040" y="4526646"/>
            <a:ext cx="566928" cy="4476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8408" y="4114800"/>
            <a:ext cx="10799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consultivo — la pregunta que abre todo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8408" y="4443984"/>
            <a:ext cx="1079906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"[Nombre], revisando tu operación veo que tienes [N] MPs disponibles en tu plan pero solo activos [X]. ¿Es una decisión estratégica o hay algo que los está limitando?"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5065776"/>
            <a:ext cx="11567160" cy="932688"/>
          </a:xfrm>
          <a:prstGeom prst="roundRect">
            <a:avLst>
              <a:gd name="adj" fmla="val 9804"/>
            </a:avLst>
          </a:prstGeom>
          <a:solidFill>
            <a:srgbClr val="E6F5EC"/>
          </a:solidFill>
          <a:ln w="12700">
            <a:solidFill>
              <a:srgbClr val="1A6A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5065776"/>
            <a:ext cx="566928" cy="932688"/>
          </a:xfrm>
          <a:prstGeom prst="roundRect">
            <a:avLst>
              <a:gd name="adj" fmla="val 16129"/>
            </a:avLst>
          </a:prstGeom>
          <a:solidFill>
            <a:srgbClr val="1A6A3A"/>
          </a:solidFill>
          <a:ln w="12700">
            <a:solidFill>
              <a:srgbClr val="1A6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5065776"/>
            <a:ext cx="566928" cy="484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20040" y="5550774"/>
            <a:ext cx="566928" cy="4476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78408" y="5138928"/>
            <a:ext cx="10799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1 MP a la vez — no los 6 juntos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78408" y="5468112"/>
            <a:ext cx="1079906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de mayor impacto y menor fricción técnica. Si acepta → coordinar activación con Soporte + seguimiento semanal hasta el primer pedido. Si no acepta → documentar motivo.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6126480"/>
            <a:ext cx="11567160" cy="493776"/>
          </a:xfrm>
          <a:prstGeom prst="roundRect">
            <a:avLst>
              <a:gd name="adj" fmla="val 18519"/>
            </a:avLst>
          </a:prstGeom>
          <a:solidFill>
            <a:srgbClr val="FFF8E6"/>
          </a:solidFill>
          <a:ln w="12700">
            <a:solidFill>
              <a:srgbClr val="D08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6153912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La diferencia entre Farming y Up-Selling propio del CSM: en Farming el trigger viene del marketplace (vía Parcerias). En Up-Selling propio el CSM lo detecta por monitoreo semanal del dashboard.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9377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"/>
            <a:ext cx="11430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Farming — Cómo responder según el motivo de no-activación del MP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740664"/>
            <a:ext cx="420624" cy="420624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406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9808" y="594360"/>
            <a:ext cx="3931920" cy="749808"/>
          </a:xfrm>
          <a:prstGeom prst="roundRect">
            <a:avLst>
              <a:gd name="adj" fmla="val 12195"/>
            </a:avLst>
          </a:prstGeom>
          <a:solidFill>
            <a:srgbClr val="E8F0FB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594360"/>
            <a:ext cx="36941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saben que tienen ese MP disponible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758952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66360" y="594360"/>
            <a:ext cx="67208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21808" y="594360"/>
            <a:ext cx="6446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"Perfecto — te muestro cuáles MPs tiene tu plan. Podemos activarlos esta semana sin costo adicional."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1655064"/>
            <a:ext cx="420624" cy="420624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6550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9808" y="1508760"/>
            <a:ext cx="3931920" cy="749808"/>
          </a:xfrm>
          <a:prstGeom prst="roundRect">
            <a:avLst>
              <a:gd name="adj" fmla="val 12195"/>
            </a:avLst>
          </a:prstGeom>
          <a:solidFill>
            <a:srgbClr val="E8F0FB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1508760"/>
            <a:ext cx="36941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 técnica (catálogo, ERP)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673352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66360" y="1508760"/>
            <a:ext cx="67208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21808" y="1508760"/>
            <a:ext cx="6446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"¿Cuándo tienes 30 minutos? Coordino con Soporte para guiarte paso a paso en la activación."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2569464"/>
            <a:ext cx="420624" cy="420624"/>
          </a:xfrm>
          <a:prstGeom prst="ellipse">
            <a:avLst/>
          </a:prstGeom>
          <a:solidFill>
            <a:srgbClr val="0A7A6A"/>
          </a:solidFill>
          <a:ln w="12700">
            <a:solidFill>
              <a:srgbClr val="0A7A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5694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9808" y="2423160"/>
            <a:ext cx="3931920" cy="749808"/>
          </a:xfrm>
          <a:prstGeom prst="roundRect">
            <a:avLst>
              <a:gd name="adj" fmla="val 12195"/>
            </a:avLst>
          </a:prstGeom>
          <a:solidFill>
            <a:srgbClr val="E6F5F2"/>
          </a:solidFill>
          <a:ln w="12700">
            <a:solidFill>
              <a:srgbClr val="0A7A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2423160"/>
            <a:ext cx="36941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equipo para gestionar otro canal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587752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166360" y="2423160"/>
            <a:ext cx="67208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2423160"/>
            <a:ext cx="6446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"¿Cuál canal de menor fricción probamos primero? Activamos uno, medimos el resultado y decidimos si vale escalar."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" y="3483864"/>
            <a:ext cx="420624" cy="420624"/>
          </a:xfrm>
          <a:prstGeom prst="ellipse">
            <a:avLst/>
          </a:prstGeom>
          <a:solidFill>
            <a:srgbClr val="0A7A6A"/>
          </a:solidFill>
          <a:ln w="12700">
            <a:solidFill>
              <a:srgbClr val="0A7A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4838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49808" y="3337560"/>
            <a:ext cx="3931920" cy="749808"/>
          </a:xfrm>
          <a:prstGeom prst="roundRect">
            <a:avLst>
              <a:gd name="adj" fmla="val 12195"/>
            </a:avLst>
          </a:prstGeom>
          <a:solidFill>
            <a:srgbClr val="E6F5F2"/>
          </a:solidFill>
          <a:ln w="12700">
            <a:solidFill>
              <a:srgbClr val="0A7A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3337560"/>
            <a:ext cx="36941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 experiencia previa con ese MP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3502152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166360" y="3337560"/>
            <a:ext cx="67208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21808" y="3337560"/>
            <a:ext cx="6446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"Cuéntame qué pasó — quiero que no se repita. No empezaríamos de la misma forma que antes."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74320" y="4398264"/>
            <a:ext cx="420624" cy="420624"/>
          </a:xfrm>
          <a:prstGeom prst="ellipse">
            <a:avLst/>
          </a:prstGeom>
          <a:solidFill>
            <a:srgbClr val="1A6A3A"/>
          </a:solidFill>
          <a:ln w="12700">
            <a:solidFill>
              <a:srgbClr val="1A6A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3982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49808" y="4251960"/>
            <a:ext cx="3931920" cy="749808"/>
          </a:xfrm>
          <a:prstGeom prst="roundRect">
            <a:avLst>
              <a:gd name="adj" fmla="val 12195"/>
            </a:avLst>
          </a:prstGeom>
          <a:solidFill>
            <a:srgbClr val="E6F5EC"/>
          </a:solidFill>
          <a:ln w="12700">
            <a:solidFill>
              <a:srgbClr val="1A6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7824" y="4251960"/>
            <a:ext cx="36941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marca o acuerdo exclusivo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54880" y="4416552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5166360" y="4251960"/>
            <a:ext cx="67208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21808" y="4251960"/>
            <a:ext cx="6446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 registro y respeto. ¿Hay algún otro MP disponible en tu plan que sí quieras explorar?"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74320" y="5312664"/>
            <a:ext cx="420624" cy="420624"/>
          </a:xfrm>
          <a:prstGeom prst="ellipse">
            <a:avLst/>
          </a:prstGeom>
          <a:solidFill>
            <a:srgbClr val="1A6A3A"/>
          </a:solidFill>
          <a:ln w="12700">
            <a:solidFill>
              <a:srgbClr val="1A6A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53126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49808" y="5166360"/>
            <a:ext cx="3931920" cy="749808"/>
          </a:xfrm>
          <a:prstGeom prst="roundRect">
            <a:avLst>
              <a:gd name="adj" fmla="val 12195"/>
            </a:avLst>
          </a:prstGeom>
          <a:solidFill>
            <a:srgbClr val="E6F5EC"/>
          </a:solidFill>
          <a:ln w="12700">
            <a:solidFill>
              <a:srgbClr val="1A6A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7824" y="5166360"/>
            <a:ext cx="36941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conoce el potencial de ese MP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754880" y="5330952"/>
            <a:ext cx="347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5166360" y="5166360"/>
            <a:ext cx="67208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21808" y="5166360"/>
            <a:ext cx="6446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"¿Te puedo mostrar benchmarks de clientes de tu categoría en ese canal? Puede ayudarte a decidir."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93776"/>
          </a:xfrm>
          <a:prstGeom prst="rect">
            <a:avLst/>
          </a:prstGeom>
          <a:solidFill>
            <a:srgbClr val="0A7A6A"/>
          </a:solidFill>
          <a:ln w="12700">
            <a:solidFill>
              <a:srgbClr val="0A7A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"/>
            <a:ext cx="11430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rechazos son inteligencia de mercado — qué hacer con ellos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1475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seller dice "no me interesa" o el cliente existente decide no activar el MP, ese dato tiene valor estratégico si se documenta bien.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669280" cy="2029968"/>
          </a:xfrm>
          <a:prstGeom prst="roundRect">
            <a:avLst>
              <a:gd name="adj" fmla="val 4505"/>
            </a:avLst>
          </a:prstGeom>
          <a:solidFill>
            <a:srgbClr val="E8F0FB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16152"/>
            <a:ext cx="749808" cy="1883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88720" y="1234440"/>
            <a:ext cx="4736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el motivo exacto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581912"/>
            <a:ext cx="4736592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registrar "no le interesó". Registrar el motivo real: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¿Ya tiene un integrador?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¿El MP no es su core de negocio?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¿El precio no le cierra?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¿Tuvo mala experiencia previa?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143000"/>
            <a:ext cx="5669280" cy="2029968"/>
          </a:xfrm>
          <a:prstGeom prst="roundRect">
            <a:avLst>
              <a:gd name="adj" fmla="val 4505"/>
            </a:avLst>
          </a:prstGeom>
          <a:solidFill>
            <a:srgbClr val="E6F5F2"/>
          </a:solidFill>
          <a:ln w="12700">
            <a:solidFill>
              <a:srgbClr val="0A7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216152"/>
            <a:ext cx="749808" cy="1883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132320" y="1234440"/>
            <a:ext cx="4736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patrones a Parcerias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0" y="1581912"/>
            <a:ext cx="4736592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60% de los leads de un marketplace no califica por el mismo motivo, hay un problema de segmentación.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 necesita saber esto para mejorar la calidad de los leads.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5669280" cy="2029968"/>
          </a:xfrm>
          <a:prstGeom prst="roundRect">
            <a:avLst>
              <a:gd name="adj" fmla="val 4505"/>
            </a:avLst>
          </a:prstGeom>
          <a:solidFill>
            <a:srgbClr val="F0E8FA"/>
          </a:solidFill>
          <a:ln w="12700">
            <a:solidFill>
              <a:srgbClr val="6A28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456432"/>
            <a:ext cx="749808" cy="1883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188720" y="3474720"/>
            <a:ext cx="4736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gaps a Producto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822192"/>
            <a:ext cx="4736592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muchos sellers dicen que AnyMarket no resuelve algo que necesitan, es feedback de producto real.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como insight en el canal de Producto con: tipo, frecuencia y clientes afectados.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3383280"/>
            <a:ext cx="5669280" cy="2029968"/>
          </a:xfrm>
          <a:prstGeom prst="roundRect">
            <a:avLst>
              <a:gd name="adj" fmla="val 4505"/>
            </a:avLst>
          </a:prstGeom>
          <a:solidFill>
            <a:srgbClr val="E6F5EC"/>
          </a:solidFill>
          <a:ln w="12700">
            <a:solidFill>
              <a:srgbClr val="1A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456432"/>
            <a:ext cx="749808" cy="1883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132320" y="3474720"/>
            <a:ext cx="4736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Revisitar en 90 días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0" y="3822192"/>
            <a:ext cx="4736592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"no hoy" no es un "no para siempre". El contexto del seller cambia.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en HubSpot con fecha de revisita automática para no perder la oportunidad.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5742432"/>
            <a:ext cx="11475720" cy="841248"/>
          </a:xfrm>
          <a:prstGeom prst="roundRect">
            <a:avLst>
              <a:gd name="adj" fmla="val 10870"/>
            </a:avLst>
          </a:prstGeom>
          <a:solidFill>
            <a:srgbClr val="FFF8E6"/>
          </a:solidFill>
          <a:ln w="12700">
            <a:solidFill>
              <a:srgbClr val="D08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769864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Los rechazos bien documentados tienen más valor que los leads sin contexto. Un "no" con motivo permite mejorar la segmentación, el producto y el proceso de Parcerias.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2026-07-10T21:09:16Z</dcterms:created>
  <dcterms:modified xsi:type="dcterms:W3CDTF">2026-07-10T21:09:16Z</dcterms:modified>
</cp:coreProperties>
</file>