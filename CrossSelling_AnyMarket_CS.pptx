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19872" y="0"/>
            <a:ext cx="64008" cy="685800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7406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CROSS-SELLING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CS identifica oportunidades y las pasa a Comercial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AnyMarket LATAM — Ecosistema AnyTools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366760" y="1737360"/>
            <a:ext cx="3474720" cy="594360"/>
          </a:xfrm>
          <a:prstGeom prst="roundRect">
            <a:avLst>
              <a:gd name="adj" fmla="val 13846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6760" y="1737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PREDIZE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66760" y="2697480"/>
            <a:ext cx="3474720" cy="594360"/>
          </a:xfrm>
          <a:prstGeom prst="roundRect">
            <a:avLst>
              <a:gd name="adj" fmla="val 13846"/>
            </a:avLst>
          </a:prstGeom>
          <a:solidFill>
            <a:srgbClr val="1E7A40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697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KONCILI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66760" y="3657600"/>
            <a:ext cx="3474720" cy="594360"/>
          </a:xfrm>
          <a:prstGeom prst="roundRect">
            <a:avLst>
              <a:gd name="adj" fmla="val 13846"/>
            </a:avLst>
          </a:prstGeom>
          <a:solidFill>
            <a:srgbClr val="6A35A0"/>
          </a:solidFill>
          <a:ln w="12700">
            <a:solidFill>
              <a:srgbClr val="6A3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36576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SELETA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66760" y="53035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el Cross-Selling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713232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CSM descubre el dolor.  El Comercial cierra el negocio.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reunión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2468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CSM revisa la operación con el cliente y detecta dolores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27248" y="2697480"/>
            <a:ext cx="201168" cy="594360"/>
          </a:xfrm>
          <a:prstGeom prst="rightArrow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32588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7160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37560" y="2011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429000" y="2944368"/>
            <a:ext cx="2468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¿Predize? ¿Koncili?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¿Marca Seleta? Cuál resuelve el dolor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07608" y="2697480"/>
            <a:ext cx="201168" cy="594360"/>
          </a:xfrm>
          <a:prstGeom prst="rightArrow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32588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1E7A40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37160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Comercial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09360" y="2944368"/>
            <a:ext cx="2468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documenta necesidades, stakeholder y expectativas del cliente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887968" y="2697480"/>
            <a:ext cx="201168" cy="594360"/>
          </a:xfrm>
          <a:prstGeom prst="rightArrow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132588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137160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098280" y="2011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89720" y="2944368"/>
            <a:ext cx="2468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presenta, propone según necesidad y cierra el negocio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4919472"/>
            <a:ext cx="11475720" cy="804672"/>
          </a:xfrm>
          <a:prstGeom prst="roundRect">
            <a:avLst>
              <a:gd name="adj" fmla="val 11364"/>
            </a:avLst>
          </a:prstGeom>
          <a:solidFill>
            <a:srgbClr val="1A2A1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946904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Comisión: el CSM que identifica la oportunidad y la documenta correctamente recibe un % de comisión cuando Comercial cierra el negocio.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El CS no vende — descubre y califica. Comercial propone y cierra.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— Predize · SAC especializado para marketplaces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326880" y="91440"/>
            <a:ext cx="2651760" cy="329184"/>
          </a:xfrm>
          <a:prstGeom prst="roundRect">
            <a:avLst>
              <a:gd name="adj" fmla="val 25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914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713232"/>
            <a:ext cx="5303520" cy="1572768"/>
          </a:xfrm>
          <a:prstGeom prst="roundRect">
            <a:avLst>
              <a:gd name="adj" fmla="val 5814"/>
            </a:avLst>
          </a:prstGeom>
          <a:solidFill>
            <a:srgbClr val="1A2B4A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0467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Predize?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152144"/>
            <a:ext cx="5029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atención al cliente (SAC) especializada en marketplaces. Centraliza preguntas y mensajes de ML, Amazon, WhatsApp y más canales en un solo panel. Automatiza respuestas con agentes de I.A. (Mia) para preventa, posventa y riesgo de cancelación. Reduce el esfuerzo del equipo de SAC en un 40% y multiplica por 3 la eficiencia del equipo.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713232"/>
            <a:ext cx="6035040" cy="1572768"/>
          </a:xfrm>
          <a:prstGeom prst="roundRect">
            <a:avLst>
              <a:gd name="adj" fmla="val 5814"/>
            </a:avLst>
          </a:prstGeom>
          <a:solidFill>
            <a:srgbClr val="1A2B4A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804672"/>
            <a:ext cx="5760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Discovery en la reunión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1152144"/>
            <a:ext cx="5760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¿Cómo atienden hoy las preguntas y mensajes del marketplace?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¿Tienen equipo dedicado al SAC del marketplace?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¿Cuántos canales manejan (ML, Amazon, WhatsApp)? ¿Están centralizados?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¿Qué tan difícil es cumplir los plazos de respuesta del marketplace?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¿Han perdido reputación por respuestas tardías o reclamos mal gestionados?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50592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A2B4A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3163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sin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363931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mensajes de ML en un panel, Amazon en otro, WhatsApp en el celular del dueño. Caos total.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2450592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A2B4A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401568" y="3163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del MP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19856" y="363931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marketplace exige respuesta en 24h o menos. El cliente pierde reputación por no responder a tiempo.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54496" y="2450592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A2B4A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345936" y="3163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desbordado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64224" y="363931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personas respondiendo mensajes de decenas de pedidos. Alto volumen, bajo tiempo de respuesta.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98864" y="2450592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A2B4A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98864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290304" y="3163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08592" y="363931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manualmente. No tienen plantillas, no usan IA. Gastan horas en preguntas repetitivas.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5166360"/>
            <a:ext cx="11475720" cy="658368"/>
          </a:xfrm>
          <a:prstGeom prst="roundRect">
            <a:avLst>
              <a:gd name="adj" fmla="val 13889"/>
            </a:avLst>
          </a:prstGeom>
          <a:solidFill>
            <a:srgbClr val="0A1A0A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193792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 detectas 2+ señales → registrar en HubSpot como oportunidad Predize + entregar a Comercial con: canales actuales, volumen de mensajes/día y problema principal documentado.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1E7A40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— Koncili · Conciliación financiera de marketplaces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326880" y="91440"/>
            <a:ext cx="2651760" cy="329184"/>
          </a:xfrm>
          <a:prstGeom prst="roundRect">
            <a:avLst>
              <a:gd name="adj" fmla="val 25000"/>
            </a:avLst>
          </a:prstGeom>
          <a:solidFill>
            <a:srgbClr val="1E7A40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914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KONCILI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713232"/>
            <a:ext cx="5303520" cy="1572768"/>
          </a:xfrm>
          <a:prstGeom prst="roundRect">
            <a:avLst>
              <a:gd name="adj" fmla="val 5814"/>
            </a:avLst>
          </a:prstGeom>
          <a:solidFill>
            <a:srgbClr val="1A2B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0467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Koncili?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152144"/>
            <a:ext cx="5029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financiero especializado en conciliación de repasses (pagos) de marketplaces. Un equipo de especialistas automatiza la conferencia de todos los pagos del marketplace, identifica divergencias y errores, y entrega reportes financieros completos. Integra con los principales ERPs. El seller deja de perder dinero por errores que nunca detectó.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713232"/>
            <a:ext cx="6035040" cy="1572768"/>
          </a:xfrm>
          <a:prstGeom prst="roundRect">
            <a:avLst>
              <a:gd name="adj" fmla="val 5814"/>
            </a:avLst>
          </a:prstGeom>
          <a:solidFill>
            <a:srgbClr val="1A2B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804672"/>
            <a:ext cx="5760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Discovery en la reunión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1152144"/>
            <a:ext cx="5760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¿Cómo validan que los pagos del marketplace son correctos?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¿El equipo financiero tiene que bajar reportes del MP y cruzarlos con el ERP manualmente?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¿Han detectado diferencias entre lo que el MP informó y lo que llegó al banco?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¿Cuánto tiempo dedica finanzas a conciliar los pagos de cada marketplace?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¿Operan en 2+ marketplaces y ninguno está conciliado automáticamente?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50592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A2B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3163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Repasses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auditar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363931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marketplace paga un monto y nadie verifica que sea correcto. Diferencias pasan desapercibidas por meses.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2450592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A2B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401568" y="3163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 Excel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19856" y="363931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 finanzas baja planillas del MP y las cruza manualmente con el ERP. Horas de trabajo, muchos errores.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54496" y="2450592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A2B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345936" y="3163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64224" y="363931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saben si las comisiones cobradas por el MP corresponden a lo acordado contractualmente.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98864" y="2450592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A2B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98864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290304" y="3163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MPs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unificación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08592" y="363931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 en 3+ marketplaces. Cada uno tiene su sistema de pagos. Sin visibilidad financiera consolidada.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5166360"/>
            <a:ext cx="11475720" cy="658368"/>
          </a:xfrm>
          <a:prstGeom prst="roundRect">
            <a:avLst>
              <a:gd name="adj" fmla="val 13889"/>
            </a:avLst>
          </a:prstGeom>
          <a:solidFill>
            <a:srgbClr val="0A1A0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193792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 detectas 2+ señales → registrar en HubSpot como oportunidad Koncili + entregar a Comercial con: cantidad de MPs activos, volumen de ventas mensual y quién lleva finanzas.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6A35A0"/>
          </a:solidFill>
          <a:ln w="12700">
            <a:solidFill>
              <a:srgbClr val="6A3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— Marca Seleta · Full commerce para marketplaces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326880" y="91440"/>
            <a:ext cx="2651760" cy="329184"/>
          </a:xfrm>
          <a:prstGeom prst="roundRect">
            <a:avLst>
              <a:gd name="adj" fmla="val 25000"/>
            </a:avLst>
          </a:prstGeom>
          <a:solidFill>
            <a:srgbClr val="6A35A0"/>
          </a:solidFill>
          <a:ln w="12700">
            <a:solidFill>
              <a:srgbClr val="6A3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914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SELETA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713232"/>
            <a:ext cx="5303520" cy="1572768"/>
          </a:xfrm>
          <a:prstGeom prst="roundRect">
            <a:avLst>
              <a:gd name="adj" fmla="val 5814"/>
            </a:avLst>
          </a:prstGeom>
          <a:solidFill>
            <a:srgbClr val="1A2B4A"/>
          </a:solidFill>
          <a:ln w="12700">
            <a:solidFill>
              <a:srgbClr val="6A3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0467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Marca Seleta?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152144"/>
            <a:ext cx="5029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de full commerce especializada en marketplaces. Gestiona la operación de punta a punta: catálogo, logística, SAC, estrategia, reportes e insights. Certificada por ML y Amazon. Reduce el esfuerzo del seller en 80%. Sus clientes han logrado hasta 700% de crecimiento en GMV. Lacoste, Acer, Crocs son algunos de sus clientes.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713232"/>
            <a:ext cx="6035040" cy="1572768"/>
          </a:xfrm>
          <a:prstGeom prst="roundRect">
            <a:avLst>
              <a:gd name="adj" fmla="val 5814"/>
            </a:avLst>
          </a:prstGeom>
          <a:solidFill>
            <a:srgbClr val="1A2B4A"/>
          </a:solidFill>
          <a:ln w="12700">
            <a:solidFill>
              <a:srgbClr val="6A3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804672"/>
            <a:ext cx="5760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Discovery en la reunión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1152144"/>
            <a:ext cx="5760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¿Tienen equipo propio para gestionar toda la operación en el marketplace?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¿El eCommerce crece poco porque no tienen el equipo o el conocimiento para escalarlo?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¿Cuánto tiempo dedica el equipo interno al marketplace vs. al negocio principal?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¿Tienen productos sin publicar o catálogo desactualizado por falta de tiempo?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¿Quieren crecer en más marketplaces pero no tienen capacidad para gestionarlo?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50592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A2B4A"/>
          </a:solidFill>
          <a:ln w="12700">
            <a:solidFill>
              <a:srgbClr val="6A3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3163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363931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Llevan meses en el marketplace con el mismo GMV. No saben cómo crecer. La operación está estancada.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2450592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A2B4A"/>
          </a:solidFill>
          <a:ln w="12700">
            <a:solidFill>
              <a:srgbClr val="6A3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401568" y="3163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19856" y="363931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persona gestiona todo el eCommerce: catálogo, pedidos, SAC y reportes. No da abasto para escalar.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54496" y="2450592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A2B4A"/>
          </a:solidFill>
          <a:ln w="12700">
            <a:solidFill>
              <a:srgbClr val="6A3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345936" y="3163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publicar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64224" y="363931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stock disponible pero no está publicado. Por falta de tiempo o conocimiento del MP no lo subieron.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98864" y="2450592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A2B4A"/>
          </a:solidFill>
          <a:ln w="12700">
            <a:solidFill>
              <a:srgbClr val="6A3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98864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290304" y="3163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 pero...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08592" y="363931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tiene potencial en marketplaces pero no tienen el know-how ni los recursos para explotarlo.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5166360"/>
            <a:ext cx="11475720" cy="658368"/>
          </a:xfrm>
          <a:prstGeom prst="roundRect">
            <a:avLst>
              <a:gd name="adj" fmla="val 13889"/>
            </a:avLst>
          </a:prstGeom>
          <a:solidFill>
            <a:srgbClr val="0A1A0A"/>
          </a:solidFill>
          <a:ln w="12700">
            <a:solidFill>
              <a:srgbClr val="6A3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193792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 detectas 2+ señales → registrar en HubSpot como oportunidad Marca Seleta + entregar a Comercial con: cantidad de SKUs, MPs activos, GMV actual y cuál es el cuello de botella principal.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 a Comercial — Brief de 5 puntos que el CSM debe entregar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este brief, la demo no puede ser personalizada al cliente.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760720" cy="1719072"/>
          </a:xfrm>
          <a:prstGeom prst="roundRect">
            <a:avLst>
              <a:gd name="adj" fmla="val 5319"/>
            </a:avLst>
          </a:prstGeom>
          <a:solidFill>
            <a:srgbClr val="1A2B4A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658368" cy="1719072"/>
          </a:xfrm>
          <a:prstGeom prst="roundRect">
            <a:avLst>
              <a:gd name="adj" fmla="val 125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15568"/>
            <a:ext cx="65836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207008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documentado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517904"/>
            <a:ext cx="4919472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frase exacta que el cliente usó para describir el problema. No una suposición del CSM.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"Nuestro equipo tarda 3 horas al día respondiendo mensajes en el marketplace."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944368"/>
            <a:ext cx="5760720" cy="1719072"/>
          </a:xfrm>
          <a:prstGeom prst="roundRect">
            <a:avLst>
              <a:gd name="adj" fmla="val 5319"/>
            </a:avLst>
          </a:prstGeom>
          <a:solidFill>
            <a:srgbClr val="1A2B4A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944368"/>
            <a:ext cx="658368" cy="1719072"/>
          </a:xfrm>
          <a:prstGeom prst="roundRect">
            <a:avLst>
              <a:gd name="adj" fmla="val 125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44368"/>
            <a:ext cx="65836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035808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identificado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346704"/>
            <a:ext cx="4919472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aplica y por qué. Si aplica más de uno, ordenar por prioridad.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"Predize — problema de SAC sin centralización. Alta prioridad."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773168"/>
            <a:ext cx="5760720" cy="1719072"/>
          </a:xfrm>
          <a:prstGeom prst="roundRect">
            <a:avLst>
              <a:gd name="adj" fmla="val 5319"/>
            </a:avLst>
          </a:prstGeom>
          <a:solidFill>
            <a:srgbClr val="1A2B4A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773168"/>
            <a:ext cx="658368" cy="1719072"/>
          </a:xfrm>
          <a:prstGeom prst="roundRect">
            <a:avLst>
              <a:gd name="adj" fmla="val 12500"/>
            </a:avLst>
          </a:prstGeom>
          <a:solidFill>
            <a:srgbClr val="1E7A40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773168"/>
            <a:ext cx="65836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4864608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decisor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5175504"/>
            <a:ext cx="4919472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decide la compra. No siempre es el mismo contacto del CSM.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"La decisión la toma el CFO, no el Gerente de eCommerce."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115568"/>
            <a:ext cx="5760720" cy="1719072"/>
          </a:xfrm>
          <a:prstGeom prst="roundRect">
            <a:avLst>
              <a:gd name="adj" fmla="val 5319"/>
            </a:avLst>
          </a:prstGeom>
          <a:solidFill>
            <a:srgbClr val="1A2B4A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115568"/>
            <a:ext cx="658368" cy="1719072"/>
          </a:xfrm>
          <a:prstGeom prst="roundRect">
            <a:avLst>
              <a:gd name="adj" fmla="val 12500"/>
            </a:avLst>
          </a:prstGeom>
          <a:solidFill>
            <a:srgbClr val="1E7A40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115568"/>
            <a:ext cx="65836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95160" y="1207008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del cliente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1517904"/>
            <a:ext cx="4919472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resultado espera obtener. El Comercial debe saber qué prometerle.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"Quiere reducir el tiempo de respuesta en el marketplace a menos de 2 horas."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944368"/>
            <a:ext cx="5760720" cy="1719072"/>
          </a:xfrm>
          <a:prstGeom prst="roundRect">
            <a:avLst>
              <a:gd name="adj" fmla="val 5319"/>
            </a:avLst>
          </a:prstGeom>
          <a:solidFill>
            <a:srgbClr val="1A2B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2944368"/>
            <a:ext cx="658368" cy="1719072"/>
          </a:xfrm>
          <a:prstGeom prst="roundRect">
            <a:avLst>
              <a:gd name="adj" fmla="val 125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944368"/>
            <a:ext cx="65836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3035808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la cuenta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3346704"/>
            <a:ext cx="4919472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Score, NPS, tickets abiertos. El Comercial necesita saber si este es buen momento para la demo.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"HS 78, NPS +45, sin tickets. Relación sólida. Momento ideal."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→ Propuesta → Cierre  (rol del equipo Comercial)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3749040" cy="5413248"/>
          </a:xfrm>
          <a:prstGeom prst="roundRect">
            <a:avLst>
              <a:gd name="adj" fmla="val 2927"/>
            </a:avLst>
          </a:prstGeom>
          <a:solidFill>
            <a:srgbClr val="1A2B4A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3749040" cy="896112"/>
          </a:xfrm>
          <a:prstGeom prst="roundRect">
            <a:avLst>
              <a:gd name="adj" fmla="val 12245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132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DEMO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700784"/>
            <a:ext cx="34747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Comercial coordina la demo con el equipo del producto correspondiente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724912"/>
            <a:ext cx="34747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CSM participa para dar contexto y asegurarse de que la demo apunte al dolor específico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749040"/>
            <a:ext cx="34747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demo dura máx. 30 min — muestra el PROBLEMA RESUELTO, no el catálogo de features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4773168"/>
            <a:ext cx="34747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confirman las expectativas del cliente antes de terminar la sesión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41648" y="2788920"/>
            <a:ext cx="201168" cy="594360"/>
          </a:xfrm>
          <a:prstGeom prst="rightArrow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685800"/>
            <a:ext cx="3749040" cy="5413248"/>
          </a:xfrm>
          <a:prstGeom prst="roundRect">
            <a:avLst>
              <a:gd name="adj" fmla="val 2927"/>
            </a:avLst>
          </a:prstGeom>
          <a:solidFill>
            <a:srgbClr val="1A2B4A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685800"/>
            <a:ext cx="3749040" cy="896112"/>
          </a:xfrm>
          <a:prstGeom prst="roundRect">
            <a:avLst>
              <a:gd name="adj" fmla="val 12245"/>
            </a:avLst>
          </a:prstGeom>
          <a:solidFill>
            <a:srgbClr val="1E7A40"/>
          </a:solidFill>
          <a:ln w="12700">
            <a:solidFill>
              <a:srgbClr val="1E7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7132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PROPUESTA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89120" y="1700784"/>
            <a:ext cx="34747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Comercial elabora la propuesta basada en las necesidades documentadas por el CSM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89120" y="2724912"/>
            <a:ext cx="34747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Incluye: plan recomendado, precio, ROI estimado (ej: "reducción de 40% del esfuerzo")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89120" y="3749040"/>
            <a:ext cx="34747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personaliza al stakeholder correcto — no enviar propuesta genérica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0" y="4773168"/>
            <a:ext cx="34747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CSM puede reforzar la propuesta con el champion del cliente desde adentro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19288" y="2788920"/>
            <a:ext cx="201168" cy="594360"/>
          </a:xfrm>
          <a:prstGeom prst="rightArrow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685800"/>
            <a:ext cx="3749040" cy="5413248"/>
          </a:xfrm>
          <a:prstGeom prst="roundRect">
            <a:avLst>
              <a:gd name="adj" fmla="val 2927"/>
            </a:avLst>
          </a:prstGeom>
          <a:solidFill>
            <a:srgbClr val="1A2B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685800"/>
            <a:ext cx="3749040" cy="896112"/>
          </a:xfrm>
          <a:prstGeom prst="roundRect">
            <a:avLst>
              <a:gd name="adj" fmla="val 1224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7132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CIERRE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66760" y="1700784"/>
            <a:ext cx="34747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Comercial gestiona la negociación y el cierre del contrato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66760" y="2724912"/>
            <a:ext cx="34747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CSM se mantiene como referente de confianza del cliente durante todo el proceso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66760" y="3749040"/>
            <a:ext cx="34747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el cliente dice NO: registrar el motivo (precio, timing, prioridad) — inteligencia para el equipo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66760" y="4773168"/>
            <a:ext cx="34747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dice SÍ: el CS es responsable del éxito en la implementación desde ese momento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Responsabilidades — CS vs. Comercial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5440680" cy="5349240"/>
          </a:xfrm>
          <a:prstGeom prst="roundRect">
            <a:avLst>
              <a:gd name="adj" fmla="val 2051"/>
            </a:avLst>
          </a:prstGeom>
          <a:solidFill>
            <a:srgbClr val="0A1628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"/>
            <a:ext cx="5440680" cy="749808"/>
          </a:xfrm>
          <a:prstGeom prst="roundRect">
            <a:avLst>
              <a:gd name="adj" fmla="val 14634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8368"/>
            <a:ext cx="5440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 SUCCESS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" y="150876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Conduce la reunión de seguimiento con el cliente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194767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Revisa la operación y escucha activamente los dolores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238658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Hace las preguntas de Discovery (SAC, finanzas, catálogo)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2825496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Confirma que el dolor aplica al producto correcto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8912" y="3264408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Mapea: dolor, producto, stakeholder, expectativas, estado de cuenta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" y="370332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Registra la oportunidad en HubSpot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" y="414223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Pasa el brief completo al equipo Comercial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" y="458114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Participa en la demo como referente del cliente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" y="5020056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Recibe comisión cuando Comercial cierra el deal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658368"/>
            <a:ext cx="5440680" cy="5349240"/>
          </a:xfrm>
          <a:prstGeom prst="roundRect">
            <a:avLst>
              <a:gd name="adj" fmla="val 2051"/>
            </a:avLst>
          </a:prstGeom>
          <a:solidFill>
            <a:srgbClr val="0A1A0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658368"/>
            <a:ext cx="5440680" cy="749808"/>
          </a:xfrm>
          <a:prstGeom prst="roundRect">
            <a:avLst>
              <a:gd name="adj" fmla="val 14634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658368"/>
            <a:ext cx="5440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COMERCIAL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65392" y="1508760"/>
            <a:ext cx="5138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Recibe el brief documentado del CSM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65392" y="2057400"/>
            <a:ext cx="5138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Coordina la demo con el equipo del producto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65392" y="2606040"/>
            <a:ext cx="5138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Adapta la presentación al dolor específico del cliente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65392" y="3154680"/>
            <a:ext cx="5138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Prepara y envía propuesta personalizada con ROI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65392" y="3703320"/>
            <a:ext cx="5138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Gestiona la negociación (precio, plan, condiciones)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65392" y="4251960"/>
            <a:ext cx="5138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Cierra el contrato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65392" y="4800600"/>
            <a:ext cx="5138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Informa al CSM del resultado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77840" y="2651760"/>
            <a:ext cx="640080" cy="914400"/>
          </a:xfrm>
          <a:prstGeom prst="roundRect">
            <a:avLst>
              <a:gd name="adj" fmla="val 14286"/>
            </a:avLst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6517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2026-07-10T20:43:42Z</dcterms:created>
  <dcterms:modified xsi:type="dcterms:W3CDTF">2026-07-10T20:43:42Z</dcterms:modified>
</cp:coreProperties>
</file>