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UP %</c:v>
                </c:pt>
              </c:strCache>
            </c:strRef>
          </c:tx>
          <c:spPr>
            <a:solidFill>
              <a:srgbClr val="10B981"/>
            </a:solidFill>
            <a:effectLst/>
          </c:spPr>
          <c:invertIfNegative val="0"/>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10B981"/>
              </a:solidFill>
              <a:effectLst/>
            </c:spPr>
          </c:dPt>
          <c:dPt>
            <c:idx val="2"/>
            <c:invertIfNegative val="0"/>
            <c:bubble3D val="0"/>
            <c:spPr>
              <a:solidFill>
                <a:srgbClr val="F59E0B"/>
              </a:solidFill>
              <a:effectLst/>
            </c:spPr>
          </c:dPt>
          <c:dPt>
            <c:idx val="3"/>
            <c:invertIfNegative val="0"/>
            <c:bubble3D val="0"/>
            <c:spPr>
              <a:solidFill>
                <a:srgbClr val="F59E0B"/>
              </a:solidFill>
              <a:effectLst/>
            </c:spPr>
          </c:dPt>
          <c:dPt>
            <c:idx val="4"/>
            <c:invertIfNegative val="0"/>
            <c:bubble3D val="0"/>
            <c:spPr>
              <a:solidFill>
                <a:srgbClr val="F59E0B"/>
              </a:solidFill>
              <a:effectLst/>
            </c:spPr>
          </c:dPt>
          <c:dPt>
            <c:idx val="5"/>
            <c:invertIfNegative val="0"/>
            <c:bubble3D val="0"/>
            <c:spPr>
              <a:solidFill>
                <a:srgbClr val="F59E0B"/>
              </a:solidFill>
              <a:effectLst/>
            </c:spPr>
          </c:dPt>
          <c:dPt>
            <c:idx val="6"/>
            <c:invertIfNegative val="0"/>
            <c:bubble3D val="0"/>
            <c:spPr>
              <a:solidFill>
                <a:srgbClr val="EF4444"/>
              </a:solidFill>
              <a:effectLst/>
            </c:spPr>
          </c:dPt>
          <c:dPt>
            <c:idx val="7"/>
            <c:invertIfNegative val="0"/>
            <c:bubble3D val="0"/>
            <c:spPr>
              <a:solidFill>
                <a:srgbClr val="EF4444"/>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dPt>
            <c:idx val="12"/>
            <c:invertIfNegative val="0"/>
            <c:bubble3D val="0"/>
            <c:spPr>
              <a:solidFill>
                <a:srgbClr val="EF4444"/>
              </a:solidFill>
              <a:effectLst/>
            </c:spPr>
          </c:dPt>
          <c:dPt>
            <c:idx val="13"/>
            <c:invertIfNegative val="0"/>
            <c:bubble3D val="0"/>
            <c:spPr>
              <a:solidFill>
                <a:srgbClr val="3B82F6"/>
              </a:solidFill>
              <a:effectLst/>
            </c:spPr>
          </c:dPt>
          <c:cat>
            <c:multiLvlStrRef>
              <c:f>Sheet1!$A$2:$A$15</c:f>
              <c:multiLvlStrCache>
                <c:ptCount val="14"/>
                <c:lvl>
                  <c:pt idx="0">
                    <c:v>KAYSER</c:v>
                  </c:pt>
                  <c:pt idx="1">
                    <c:v>EMMA SLEEP CL</c:v>
                  </c:pt>
                  <c:pt idx="2">
                    <c:v>FORUS PERU</c:v>
                  </c:pt>
                  <c:pt idx="3">
                    <c:v>FARMASHOP</c:v>
                  </c:pt>
                  <c:pt idx="4">
                    <c:v>BOTIGA</c:v>
                  </c:pt>
                  <c:pt idx="5">
                    <c:v>EMMA SLEEP CO</c:v>
                  </c:pt>
                  <c:pt idx="6">
                    <c:v>LACOSTE</c:v>
                  </c:pt>
                  <c:pt idx="7">
                    <c:v>BELCORP CL</c:v>
                  </c:pt>
                  <c:pt idx="8">
                    <c:v>TRAMONTINA</c:v>
                  </c:pt>
                  <c:pt idx="9">
                    <c:v>FASHIONS PARK</c:v>
                  </c:pt>
                  <c:pt idx="10">
                    <c:v>LOI</c:v>
                  </c:pt>
                  <c:pt idx="11">
                    <c:v>BELCORP PE</c:v>
                  </c:pt>
                  <c:pt idx="12">
                    <c:v>BELCORP CO</c:v>
                  </c:pt>
                  <c:pt idx="13">
                    <c:v>Promedio</c:v>
                  </c:pt>
                </c:lvl>
              </c:multiLvlStrCache>
            </c:multiLvlStrRef>
          </c:cat>
          <c:val>
            <c:numRef>
              <c:f>Sheet1!$B$2:$B$15</c:f>
              <c:numCache>
                <c:formatCode>General</c:formatCode>
                <c:ptCount val="14"/>
                <c:pt idx="0">
                  <c:v>55.6</c:v>
                </c:pt>
                <c:pt idx="1">
                  <c:v>52.8</c:v>
                </c:pt>
                <c:pt idx="2">
                  <c:v>47.2</c:v>
                </c:pt>
                <c:pt idx="3">
                  <c:v>44.4</c:v>
                </c:pt>
                <c:pt idx="4">
                  <c:v>36.1</c:v>
                </c:pt>
                <c:pt idx="5">
                  <c:v>33.3</c:v>
                </c:pt>
                <c:pt idx="6">
                  <c:v>31.9</c:v>
                </c:pt>
                <c:pt idx="7">
                  <c:v>28.6</c:v>
                </c:pt>
                <c:pt idx="8">
                  <c:v>25</c:v>
                </c:pt>
                <c:pt idx="9">
                  <c:v>22.2</c:v>
                </c:pt>
                <c:pt idx="10">
                  <c:v>19.4</c:v>
                </c:pt>
                <c:pt idx="11">
                  <c:v>11.1</c:v>
                </c:pt>
                <c:pt idx="12">
                  <c:v>8.3</c:v>
                </c:pt>
                <c:pt idx="13">
                  <c:v>33.94</c:v>
                </c:pt>
              </c:numCache>
            </c:numRef>
          </c:val>
        </c:ser>
        <c:dLbls>
          <c:numFmt formatCode="#,##0" sourceLinked="0"/>
          <c:txPr>
            <a:bodyPr/>
            <a:lstStyle/>
            <a:p>
              <a:pPr>
                <a:defRPr b="0" i="0" strike="noStrike" sz="1200" u="none">
                  <a:solidFill>
                    <a:srgbClr val="1A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E68"/>
                </a:solidFill>
                <a:latin typeface="Arial"/>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2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para equipo CS y Dirección. Cubre diagnóstico actual de adopción AnyTools, los 4 OKRs del H2 2026 y el plan de acción por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cliente está en nivel ALTO. El 34% promedio indica que los clientes pagan por capacidades que no usan — riesgo directo de renovación.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H2: mover el máximo de clientes sobre el 70% (nivel ALTO). KAYSER y EMMA SLEEP CL son los benchmarks internos. BELCORP CO (8.3%) es prioridad crítica de activación.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4 OKRs son complementarios: sin adopción (OKR1) no hay expansión (OKR2). Sin salud (OKR3) el trabajo de expansión se destruye por churn. La migración Centry (OKR4) es la mayor oportunidad de GMV nuevo del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1.1 requiere trabajar especialmente con BELCORP CO (8.3%), LOI (19.4%) y BELCORP PE (11.1%). El salto de 34% a 55% es ambicioso pero alcanzable con activaciones enfocadas en los detractores.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Predize tiene el mayor ROI demostrable para el cliente (incremento Buy Box % y GMV). Priorizar demos con clientes de alta operación en Mercado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 3.3 es la prioridad más urgente: BOTIGA y FORUS SA están en riesgo de churn activo. Sin resolverlos, el NPS promedio no puede mejorar y la narrativa de expansión pierde credibilidad.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6 clientes Centry representan la mayor oportunidad de GMV nuevo. FORUS GROUP (SA+CO+PE) es un cliente Enterprise actualmente invisible en los KPIs de AnyMarket. El debloqueo Dafiti para FORUS CO es el blocker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KPIs por herramienta se revisan mensualmente. Predize y Koncili tienen el mayor potencial de nuevas contrataciones porque resuelven problemas operativos concretos y medibles para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debe apagar los incendios críticos antes de acelerar expansión. Sin resolver BOTIGA y FORUS SA no es posible un discurso de expansión creíble.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clave para Dirección: la oportunidad de expansión existe, pero el prerrequisito es resolver los focos de NPS negativo. Sin esto, la narrativa de crecimiento pierde credibilidad.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1005840"/>
            <a:ext cx="8229600" cy="640080"/>
          </a:xfrm>
          <a:prstGeom prst="rect">
            <a:avLst/>
          </a:prstGeom>
          <a:noFill/>
          <a:ln/>
        </p:spPr>
        <p:txBody>
          <a:bodyPr wrap="square" lIns="0" tIns="0" rIns="0" bIns="0" rtlCol="0" anchor="ctr"/>
          <a:lstStyle/>
          <a:p>
            <a:pPr algn="l" indent="0" marL="0">
              <a:buNone/>
            </a:pPr>
            <a:r>
              <a:rPr lang="en-US" sz="1400" b="1" spc="800" kern="0" dirty="0">
                <a:solidFill>
                  <a:srgbClr val="F2A71B"/>
                </a:solidFill>
                <a:latin typeface="Calibri" pitchFamily="34" charset="0"/>
                <a:ea typeface="Calibri" pitchFamily="34" charset="-122"/>
                <a:cs typeface="Calibri" pitchFamily="34" charset="-120"/>
              </a:rPr>
              <a:t>AnyTools</a:t>
            </a:r>
            <a:endParaRPr lang="en-US" sz="1400" dirty="0"/>
          </a:p>
        </p:txBody>
      </p:sp>
      <p:sp>
        <p:nvSpPr>
          <p:cNvPr id="5" name="Text 3"/>
          <p:cNvSpPr/>
          <p:nvPr/>
        </p:nvSpPr>
        <p:spPr>
          <a:xfrm>
            <a:off x="502920" y="1600200"/>
            <a:ext cx="8229600" cy="1280160"/>
          </a:xfrm>
          <a:prstGeom prst="rect">
            <a:avLst/>
          </a:prstGeom>
          <a:noFill/>
          <a:ln/>
        </p:spPr>
        <p:txBody>
          <a:bodyPr wrap="square" lIns="0" tIns="0" rIns="0" bIns="0" rtlCol="0" anchor="ctr"/>
          <a:lstStyle/>
          <a:p>
            <a:pPr algn="l" indent="0" marL="0">
              <a:buNone/>
            </a:pPr>
            <a:r>
              <a:rPr lang="en-US" sz="6000" b="1" dirty="0">
                <a:solidFill>
                  <a:srgbClr val="FFFFFF"/>
                </a:solidFill>
                <a:latin typeface="Calibri" pitchFamily="34" charset="0"/>
                <a:ea typeface="Calibri" pitchFamily="34" charset="-122"/>
                <a:cs typeface="Calibri" pitchFamily="34" charset="-120"/>
              </a:rPr>
              <a:t>OKRs &amp; KPIs</a:t>
            </a:r>
            <a:endParaRPr lang="en-US" sz="6000" dirty="0"/>
          </a:p>
        </p:txBody>
      </p:sp>
      <p:sp>
        <p:nvSpPr>
          <p:cNvPr id="6" name="Text 4"/>
          <p:cNvSpPr/>
          <p:nvPr/>
        </p:nvSpPr>
        <p:spPr>
          <a:xfrm>
            <a:off x="502920" y="2834640"/>
            <a:ext cx="8229600" cy="822960"/>
          </a:xfrm>
          <a:prstGeom prst="rect">
            <a:avLst/>
          </a:prstGeom>
          <a:noFill/>
          <a:ln/>
        </p:spPr>
        <p:txBody>
          <a:bodyPr wrap="square" lIns="0" tIns="0" rIns="0" bIns="0" rtlCol="0" anchor="ctr"/>
          <a:lstStyle/>
          <a:p>
            <a:pPr algn="l" indent="0" marL="0">
              <a:buNone/>
            </a:pPr>
            <a:r>
              <a:rPr lang="en-US" sz="5200" b="1" dirty="0">
                <a:solidFill>
                  <a:srgbClr val="F2A71B"/>
                </a:solidFill>
                <a:latin typeface="Calibri" pitchFamily="34" charset="0"/>
                <a:ea typeface="Calibri" pitchFamily="34" charset="-122"/>
                <a:cs typeface="Calibri" pitchFamily="34" charset="-120"/>
              </a:rPr>
              <a:t>H2 2026</a:t>
            </a:r>
            <a:endParaRPr lang="en-US" sz="5200" dirty="0"/>
          </a:p>
        </p:txBody>
      </p:sp>
      <p:sp>
        <p:nvSpPr>
          <p:cNvPr id="7" name="Text 5"/>
          <p:cNvSpPr/>
          <p:nvPr/>
        </p:nvSpPr>
        <p:spPr>
          <a:xfrm>
            <a:off x="502920" y="4206240"/>
            <a:ext cx="8229600" cy="365760"/>
          </a:xfrm>
          <a:prstGeom prst="rect">
            <a:avLst/>
          </a:prstGeom>
          <a:noFill/>
          <a:ln/>
        </p:spPr>
        <p:txBody>
          <a:bodyPr wrap="square" lIns="0" tIns="0" rIns="0" bIns="0" rtlCol="0" anchor="ctr"/>
          <a:lstStyle/>
          <a:p>
            <a:pPr algn="l" indent="0" marL="0">
              <a:buNone/>
            </a:pPr>
            <a:r>
              <a:rPr lang="en-US" sz="1300" dirty="0">
                <a:solidFill>
                  <a:srgbClr val="7B93AA"/>
                </a:solidFill>
                <a:latin typeface="Calibri" pitchFamily="34" charset="0"/>
                <a:ea typeface="Calibri" pitchFamily="34" charset="-122"/>
                <a:cs typeface="Calibri" pitchFamily="34" charset="-120"/>
              </a:rPr>
              <a:t>AnyMarket LATAM  |  Customer Success  |  Julio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82880"/>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DIAGNÓSTICO</a:t>
            </a:r>
            <a:endParaRPr lang="en-US" sz="1000" dirty="0"/>
          </a:p>
        </p:txBody>
      </p:sp>
      <p:sp>
        <p:nvSpPr>
          <p:cNvPr id="3" name="Text 1"/>
          <p:cNvSpPr/>
          <p:nvPr/>
        </p:nvSpPr>
        <p:spPr>
          <a:xfrm>
            <a:off x="457200" y="438912"/>
            <a:ext cx="8229600" cy="594360"/>
          </a:xfrm>
          <a:prstGeom prst="rect">
            <a:avLst/>
          </a:prstGeom>
          <a:noFill/>
          <a:ln/>
        </p:spPr>
        <p:txBody>
          <a:bodyPr wrap="square" lIns="0" tIns="0" rIns="0" bIns="0" rtlCol="0" anchor="ctr"/>
          <a:lstStyle/>
          <a:p>
            <a:pPr indent="0" marL="0">
              <a:buNone/>
            </a:pPr>
            <a:r>
              <a:rPr lang="en-US" sz="3000" b="1" dirty="0">
                <a:solidFill>
                  <a:srgbClr val="0F2137"/>
                </a:solidFill>
                <a:latin typeface="Calibri" pitchFamily="34" charset="0"/>
                <a:ea typeface="Calibri" pitchFamily="34" charset="-122"/>
                <a:cs typeface="Calibri" pitchFamily="34" charset="-120"/>
              </a:rPr>
              <a:t>¿Dónde estamos hoy?</a:t>
            </a:r>
            <a:endParaRPr lang="en-US" sz="3000" dirty="0"/>
          </a:p>
        </p:txBody>
      </p:sp>
      <p:sp>
        <p:nvSpPr>
          <p:cNvPr id="4" name="Shape 2"/>
          <p:cNvSpPr/>
          <p:nvPr/>
        </p:nvSpPr>
        <p:spPr>
          <a:xfrm>
            <a:off x="411480" y="1234440"/>
            <a:ext cx="2606040" cy="1463040"/>
          </a:xfrm>
          <a:prstGeom prst="roundRect">
            <a:avLst>
              <a:gd name="adj" fmla="val 6250"/>
            </a:avLst>
          </a:prstGeom>
          <a:solidFill>
            <a:srgbClr val="FFFBEB"/>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548640" y="1325880"/>
            <a:ext cx="2331720" cy="731520"/>
          </a:xfrm>
          <a:prstGeom prst="rect">
            <a:avLst/>
          </a:prstGeom>
          <a:noFill/>
          <a:ln/>
        </p:spPr>
        <p:txBody>
          <a:bodyPr wrap="square" lIns="0" tIns="0" rIns="0" bIns="0" rtlCol="0" anchor="ctr"/>
          <a:lstStyle/>
          <a:p>
            <a:pPr algn="ctr" indent="0" marL="0">
              <a:buNone/>
            </a:pPr>
            <a:r>
              <a:rPr lang="en-US" sz="4200" b="1" dirty="0">
                <a:solidFill>
                  <a:srgbClr val="F59E0B"/>
                </a:solidFill>
                <a:latin typeface="Calibri" pitchFamily="34" charset="0"/>
                <a:ea typeface="Calibri" pitchFamily="34" charset="-122"/>
                <a:cs typeface="Calibri" pitchFamily="34" charset="-120"/>
              </a:rPr>
              <a:t>34%</a:t>
            </a:r>
            <a:endParaRPr lang="en-US" sz="4200" dirty="0"/>
          </a:p>
        </p:txBody>
      </p:sp>
      <p:sp>
        <p:nvSpPr>
          <p:cNvPr id="6" name="Text 4"/>
          <p:cNvSpPr/>
          <p:nvPr/>
        </p:nvSpPr>
        <p:spPr>
          <a:xfrm>
            <a:off x="502920" y="203911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Adopción Use Points</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Promedio cartera activa</a:t>
            </a:r>
            <a:endParaRPr lang="en-US" sz="1100" dirty="0"/>
          </a:p>
        </p:txBody>
      </p:sp>
      <p:sp>
        <p:nvSpPr>
          <p:cNvPr id="7" name="Shape 5"/>
          <p:cNvSpPr/>
          <p:nvPr/>
        </p:nvSpPr>
        <p:spPr>
          <a:xfrm>
            <a:off x="3246120" y="1234440"/>
            <a:ext cx="2606040" cy="1463040"/>
          </a:xfrm>
          <a:prstGeom prst="roundRect">
            <a:avLst>
              <a:gd name="adj" fmla="val 6250"/>
            </a:avLst>
          </a:prstGeom>
          <a:solidFill>
            <a:srgbClr val="FEF2F2"/>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383280" y="1325880"/>
            <a:ext cx="2331720" cy="731520"/>
          </a:xfrm>
          <a:prstGeom prst="rect">
            <a:avLst/>
          </a:prstGeom>
          <a:noFill/>
          <a:ln/>
        </p:spPr>
        <p:txBody>
          <a:bodyPr wrap="square" lIns="0" tIns="0" rIns="0" bIns="0" rtlCol="0" anchor="ctr"/>
          <a:lstStyle/>
          <a:p>
            <a:pPr algn="ctr" indent="0" marL="0">
              <a:buNone/>
            </a:pPr>
            <a:r>
              <a:rPr lang="en-US" sz="4200" b="1" dirty="0">
                <a:solidFill>
                  <a:srgbClr val="EF4444"/>
                </a:solidFill>
                <a:latin typeface="Calibri" pitchFamily="34" charset="0"/>
                <a:ea typeface="Calibri" pitchFamily="34" charset="-122"/>
                <a:cs typeface="Calibri" pitchFamily="34" charset="-120"/>
              </a:rPr>
              <a:t>0</a:t>
            </a:r>
            <a:endParaRPr lang="en-US" sz="4200" dirty="0"/>
          </a:p>
        </p:txBody>
      </p:sp>
      <p:sp>
        <p:nvSpPr>
          <p:cNvPr id="9" name="Text 7"/>
          <p:cNvSpPr/>
          <p:nvPr/>
        </p:nvSpPr>
        <p:spPr>
          <a:xfrm>
            <a:off x="3337560" y="203911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en nivel ALTO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(&gt;70% UP consumidos)</a:t>
            </a:r>
            <a:endParaRPr lang="en-US" sz="1100" dirty="0"/>
          </a:p>
        </p:txBody>
      </p:sp>
      <p:sp>
        <p:nvSpPr>
          <p:cNvPr id="10" name="Shape 8"/>
          <p:cNvSpPr/>
          <p:nvPr/>
        </p:nvSpPr>
        <p:spPr>
          <a:xfrm>
            <a:off x="6080760" y="1234440"/>
            <a:ext cx="2606040" cy="1463040"/>
          </a:xfrm>
          <a:prstGeom prst="roundRect">
            <a:avLst>
              <a:gd name="adj" fmla="val 6250"/>
            </a:avLst>
          </a:prstGeom>
          <a:solidFill>
            <a:srgbClr val="FFFBEB"/>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6217920" y="1325880"/>
            <a:ext cx="2331720" cy="731520"/>
          </a:xfrm>
          <a:prstGeom prst="rect">
            <a:avLst/>
          </a:prstGeom>
          <a:noFill/>
          <a:ln/>
        </p:spPr>
        <p:txBody>
          <a:bodyPr wrap="square" lIns="0" tIns="0" rIns="0" bIns="0" rtlCol="0" anchor="ctr"/>
          <a:lstStyle/>
          <a:p>
            <a:pPr algn="ctr" indent="0" marL="0">
              <a:buNone/>
            </a:pPr>
            <a:r>
              <a:rPr lang="en-US" sz="4200" b="1" dirty="0">
                <a:solidFill>
                  <a:srgbClr val="F59E0B"/>
                </a:solidFill>
                <a:latin typeface="Calibri" pitchFamily="34" charset="0"/>
                <a:ea typeface="Calibri" pitchFamily="34" charset="-122"/>
                <a:cs typeface="Calibri" pitchFamily="34" charset="-120"/>
              </a:rPr>
              <a:t>5</a:t>
            </a:r>
            <a:endParaRPr lang="en-US" sz="4200" dirty="0"/>
          </a:p>
        </p:txBody>
      </p:sp>
      <p:sp>
        <p:nvSpPr>
          <p:cNvPr id="12" name="Text 10"/>
          <p:cNvSpPr/>
          <p:nvPr/>
        </p:nvSpPr>
        <p:spPr>
          <a:xfrm>
            <a:off x="6172200" y="203911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MEDIO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(40–70% UP)</a:t>
            </a:r>
            <a:endParaRPr lang="en-US" sz="1100" dirty="0"/>
          </a:p>
        </p:txBody>
      </p:sp>
      <p:sp>
        <p:nvSpPr>
          <p:cNvPr id="13" name="Shape 11"/>
          <p:cNvSpPr/>
          <p:nvPr/>
        </p:nvSpPr>
        <p:spPr>
          <a:xfrm>
            <a:off x="411480" y="2926080"/>
            <a:ext cx="2606040" cy="1463040"/>
          </a:xfrm>
          <a:prstGeom prst="roundRect">
            <a:avLst>
              <a:gd name="adj" fmla="val 6250"/>
            </a:avLst>
          </a:prstGeom>
          <a:solidFill>
            <a:srgbClr val="FEF2F2"/>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4" name="Text 12"/>
          <p:cNvSpPr/>
          <p:nvPr/>
        </p:nvSpPr>
        <p:spPr>
          <a:xfrm>
            <a:off x="548640" y="3017520"/>
            <a:ext cx="2331720" cy="731520"/>
          </a:xfrm>
          <a:prstGeom prst="rect">
            <a:avLst/>
          </a:prstGeom>
          <a:noFill/>
          <a:ln/>
        </p:spPr>
        <p:txBody>
          <a:bodyPr wrap="square" lIns="0" tIns="0" rIns="0" bIns="0" rtlCol="0" anchor="ctr"/>
          <a:lstStyle/>
          <a:p>
            <a:pPr algn="ctr" indent="0" marL="0">
              <a:buNone/>
            </a:pPr>
            <a:r>
              <a:rPr lang="en-US" sz="4200" b="1" dirty="0">
                <a:solidFill>
                  <a:srgbClr val="EF4444"/>
                </a:solidFill>
                <a:latin typeface="Calibri" pitchFamily="34" charset="0"/>
                <a:ea typeface="Calibri" pitchFamily="34" charset="-122"/>
                <a:cs typeface="Calibri" pitchFamily="34" charset="-120"/>
              </a:rPr>
              <a:t>8</a:t>
            </a:r>
            <a:endParaRPr lang="en-US" sz="4200" dirty="0"/>
          </a:p>
        </p:txBody>
      </p:sp>
      <p:sp>
        <p:nvSpPr>
          <p:cNvPr id="15" name="Text 13"/>
          <p:cNvSpPr/>
          <p:nvPr/>
        </p:nvSpPr>
        <p:spPr>
          <a:xfrm>
            <a:off x="502920" y="373075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nivel BAJO</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(&lt;40% UP)</a:t>
            </a:r>
            <a:endParaRPr lang="en-US" sz="1100" dirty="0"/>
          </a:p>
        </p:txBody>
      </p:sp>
      <p:sp>
        <p:nvSpPr>
          <p:cNvPr id="16" name="Shape 14"/>
          <p:cNvSpPr/>
          <p:nvPr/>
        </p:nvSpPr>
        <p:spPr>
          <a:xfrm>
            <a:off x="3246120" y="2926080"/>
            <a:ext cx="2606040" cy="1463040"/>
          </a:xfrm>
          <a:prstGeom prst="roundRect">
            <a:avLst>
              <a:gd name="adj" fmla="val 6250"/>
            </a:avLst>
          </a:prstGeom>
          <a:solidFill>
            <a:srgbClr val="FEF2F2"/>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3383280" y="3017520"/>
            <a:ext cx="2331720" cy="731520"/>
          </a:xfrm>
          <a:prstGeom prst="rect">
            <a:avLst/>
          </a:prstGeom>
          <a:noFill/>
          <a:ln/>
        </p:spPr>
        <p:txBody>
          <a:bodyPr wrap="square" lIns="0" tIns="0" rIns="0" bIns="0" rtlCol="0" anchor="ctr"/>
          <a:lstStyle/>
          <a:p>
            <a:pPr algn="ctr" indent="0" marL="0">
              <a:buNone/>
            </a:pPr>
            <a:r>
              <a:rPr lang="en-US" sz="4200" b="1" dirty="0">
                <a:solidFill>
                  <a:srgbClr val="EF4444"/>
                </a:solidFill>
                <a:latin typeface="Calibri" pitchFamily="34" charset="0"/>
                <a:ea typeface="Calibri" pitchFamily="34" charset="-122"/>
                <a:cs typeface="Calibri" pitchFamily="34" charset="-120"/>
              </a:rPr>
              <a:t>1</a:t>
            </a:r>
            <a:endParaRPr lang="en-US" sz="4200" dirty="0"/>
          </a:p>
        </p:txBody>
      </p:sp>
      <p:sp>
        <p:nvSpPr>
          <p:cNvPr id="18" name="Text 16"/>
          <p:cNvSpPr/>
          <p:nvPr/>
        </p:nvSpPr>
        <p:spPr>
          <a:xfrm>
            <a:off x="3337560" y="373075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 sin ningún UP</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consumido (NO USA)</a:t>
            </a:r>
            <a:endParaRPr lang="en-US" sz="1100" dirty="0"/>
          </a:p>
        </p:txBody>
      </p:sp>
      <p:sp>
        <p:nvSpPr>
          <p:cNvPr id="19" name="Shape 17"/>
          <p:cNvSpPr/>
          <p:nvPr/>
        </p:nvSpPr>
        <p:spPr>
          <a:xfrm>
            <a:off x="6080760" y="2926080"/>
            <a:ext cx="2606040" cy="1463040"/>
          </a:xfrm>
          <a:prstGeom prst="roundRect">
            <a:avLst>
              <a:gd name="adj" fmla="val 6250"/>
            </a:avLst>
          </a:prstGeom>
          <a:solidFill>
            <a:srgbClr val="F1F5F9"/>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6217920" y="3017520"/>
            <a:ext cx="2331720" cy="731520"/>
          </a:xfrm>
          <a:prstGeom prst="rect">
            <a:avLst/>
          </a:prstGeom>
          <a:noFill/>
          <a:ln/>
        </p:spPr>
        <p:txBody>
          <a:bodyPr wrap="square" lIns="0" tIns="0" rIns="0" bIns="0" rtlCol="0" anchor="ctr"/>
          <a:lstStyle/>
          <a:p>
            <a:pPr algn="ctr" indent="0" marL="0">
              <a:buNone/>
            </a:pPr>
            <a:r>
              <a:rPr lang="en-US" sz="4200" b="1" dirty="0">
                <a:solidFill>
                  <a:srgbClr val="7B93AA"/>
                </a:solidFill>
                <a:latin typeface="Calibri" pitchFamily="34" charset="0"/>
                <a:ea typeface="Calibri" pitchFamily="34" charset="-122"/>
                <a:cs typeface="Calibri" pitchFamily="34" charset="-120"/>
              </a:rPr>
              <a:t>6</a:t>
            </a:r>
            <a:endParaRPr lang="en-US" sz="4200" dirty="0"/>
          </a:p>
        </p:txBody>
      </p:sp>
      <p:sp>
        <p:nvSpPr>
          <p:cNvPr id="21" name="Text 19"/>
          <p:cNvSpPr/>
          <p:nvPr/>
        </p:nvSpPr>
        <p:spPr>
          <a:xfrm>
            <a:off x="6172200" y="3730752"/>
            <a:ext cx="2423160" cy="594360"/>
          </a:xfrm>
          <a:prstGeom prst="rect">
            <a:avLst/>
          </a:prstGeom>
          <a:noFill/>
          <a:ln/>
        </p:spPr>
        <p:txBody>
          <a:bodyPr wrap="square" lIns="0" tIns="0" rIns="0" bIns="0" rtlCol="0" anchor="ctr"/>
          <a:lstStyle/>
          <a:p>
            <a:pPr algn="ctr" indent="0" marL="0">
              <a:buNone/>
            </a:pPr>
            <a:r>
              <a:rPr lang="en-US" sz="1100" dirty="0">
                <a:solidFill>
                  <a:srgbClr val="334E68"/>
                </a:solidFill>
                <a:latin typeface="Calibri" pitchFamily="34" charset="0"/>
                <a:ea typeface="Calibri" pitchFamily="34" charset="-122"/>
                <a:cs typeface="Calibri" pitchFamily="34" charset="-120"/>
              </a:rPr>
              <a:t>Clientes Centry</a:t>
            </a:r>
            <a:endParaRPr lang="en-US" sz="1100" dirty="0"/>
          </a:p>
          <a:p>
            <a:pPr algn="ctr" indent="0" marL="0">
              <a:buNone/>
            </a:pPr>
            <a:r>
              <a:rPr lang="en-US" sz="1100" dirty="0">
                <a:solidFill>
                  <a:srgbClr val="334E68"/>
                </a:solidFill>
                <a:latin typeface="Calibri" pitchFamily="34" charset="0"/>
                <a:ea typeface="Calibri" pitchFamily="34" charset="-122"/>
                <a:cs typeface="Calibri" pitchFamily="34" charset="-120"/>
              </a:rPr>
              <a:t>sin datos AnyMarket</a:t>
            </a:r>
            <a:endParaRPr lang="en-US" sz="1100" dirty="0"/>
          </a:p>
        </p:txBody>
      </p:sp>
      <p:sp>
        <p:nvSpPr>
          <p:cNvPr id="22" name="Text 20"/>
          <p:cNvSpPr/>
          <p:nvPr/>
        </p:nvSpPr>
        <p:spPr>
          <a:xfrm>
            <a:off x="457200" y="4846320"/>
            <a:ext cx="8229600" cy="228600"/>
          </a:xfrm>
          <a:prstGeom prst="rect">
            <a:avLst/>
          </a:prstGeom>
          <a:noFill/>
          <a:ln/>
        </p:spPr>
        <p:txBody>
          <a:bodyPr wrap="square" lIns="0" tIns="0" rIns="0" bIns="0" rtlCol="0" anchor="ctr"/>
          <a:lstStyle/>
          <a:p>
            <a:pPr indent="0" marL="0">
              <a:buNone/>
            </a:pPr>
            <a:r>
              <a:rPr lang="en-US" sz="900" i="1" dirty="0">
                <a:solidFill>
                  <a:srgbClr val="7B93AA"/>
                </a:solidFill>
                <a:latin typeface="Calibri" pitchFamily="34" charset="0"/>
                <a:ea typeface="Calibri" pitchFamily="34" charset="-122"/>
                <a:cs typeface="Calibri" pitchFamily="34" charset="-120"/>
              </a:rPr>
              <a:t>Fuente: Power BI Use Points (julio 2026). Portafolio activo: 32 clientes (6 Centry excluidos por estar en migración).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SNAPSHOT DEL PORTAFOLIO</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Adopción Use Points por cliente (julio 2026)</a:t>
            </a:r>
            <a:endParaRPr lang="en-US" sz="2800" dirty="0"/>
          </a:p>
        </p:txBody>
      </p:sp>
      <p:graphicFrame>
        <p:nvGraphicFramePr>
          <p:cNvPr id="4" name="Chart 0" descr=""/>
          <p:cNvGraphicFramePr/>
          <p:nvPr/>
        </p:nvGraphicFramePr>
        <p:xfrm>
          <a:off x="320040" y="1005840"/>
          <a:ext cx="850392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846320"/>
            <a:ext cx="8229600" cy="256032"/>
          </a:xfrm>
          <a:prstGeom prst="rect">
            <a:avLst/>
          </a:prstGeom>
          <a:noFill/>
          <a:ln/>
        </p:spPr>
        <p:txBody>
          <a:bodyPr wrap="square" lIns="0" tIns="0" rIns="0" bIns="0" rtlCol="0" anchor="ctr"/>
          <a:lstStyle/>
          <a:p>
            <a:pPr indent="0" marL="0">
              <a:buNone/>
            </a:pPr>
            <a:r>
              <a:rPr lang="en-US" sz="1000" dirty="0">
                <a:solidFill>
                  <a:srgbClr val="334E68"/>
                </a:solidFill>
                <a:latin typeface="Calibri" pitchFamily="34" charset="0"/>
                <a:ea typeface="Calibri" pitchFamily="34" charset="-122"/>
                <a:cs typeface="Calibri" pitchFamily="34" charset="-120"/>
              </a:rPr>
              <a:t>Verde = MEDIO (&gt;40%)    |    Naranja = BAJO (&lt;40%)    |    Rojo = CRITICO (&lt;20%)    |    Azul = Promedio cartera (34%)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MARCO ESTRATÉGICO H2 2026</a:t>
            </a:r>
            <a:endParaRPr lang="en-US" sz="1000" dirty="0"/>
          </a:p>
        </p:txBody>
      </p:sp>
      <p:sp>
        <p:nvSpPr>
          <p:cNvPr id="5" name="Text 3"/>
          <p:cNvSpPr/>
          <p:nvPr/>
        </p:nvSpPr>
        <p:spPr>
          <a:xfrm>
            <a:off x="45720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Los 4 OKRs de AnyTools</a:t>
            </a:r>
            <a:endParaRPr lang="en-US" sz="3000" dirty="0"/>
          </a:p>
        </p:txBody>
      </p:sp>
      <p:sp>
        <p:nvSpPr>
          <p:cNvPr id="6" name="Shape 4"/>
          <p:cNvSpPr/>
          <p:nvPr/>
        </p:nvSpPr>
        <p:spPr>
          <a:xfrm>
            <a:off x="365760" y="1261872"/>
            <a:ext cx="4160520" cy="1737360"/>
          </a:xfrm>
          <a:prstGeom prst="roundRect">
            <a:avLst>
              <a:gd name="adj" fmla="val 6316"/>
            </a:avLst>
          </a:prstGeom>
          <a:solidFill>
            <a:srgbClr val="162840"/>
          </a:solidFill>
          <a:ln w="19050">
            <a:solidFill>
              <a:srgbClr val="0F9B8E"/>
            </a:solidFill>
            <a:prstDash val="solid"/>
          </a:ln>
        </p:spPr>
      </p:sp>
      <p:sp>
        <p:nvSpPr>
          <p:cNvPr id="7" name="Text 5"/>
          <p:cNvSpPr/>
          <p:nvPr/>
        </p:nvSpPr>
        <p:spPr>
          <a:xfrm>
            <a:off x="548640" y="1371600"/>
            <a:ext cx="1280160" cy="274320"/>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1</a:t>
            </a:r>
            <a:endParaRPr lang="en-US" sz="1000" dirty="0"/>
          </a:p>
        </p:txBody>
      </p:sp>
      <p:sp>
        <p:nvSpPr>
          <p:cNvPr id="8" name="Text 6"/>
          <p:cNvSpPr/>
          <p:nvPr/>
        </p:nvSpPr>
        <p:spPr>
          <a:xfrm>
            <a:off x="548640" y="1645920"/>
            <a:ext cx="3794760" cy="47548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Activación &amp; Adopción</a:t>
            </a:r>
            <a:endParaRPr lang="en-US" sz="1800" dirty="0"/>
          </a:p>
        </p:txBody>
      </p:sp>
      <p:sp>
        <p:nvSpPr>
          <p:cNvPr id="9" name="Text 7"/>
          <p:cNvSpPr/>
          <p:nvPr/>
        </p:nvSpPr>
        <p:spPr>
          <a:xfrm>
            <a:off x="548640" y="2157984"/>
            <a:ext cx="3794760" cy="713232"/>
          </a:xfrm>
          <a:prstGeom prst="rect">
            <a:avLst/>
          </a:prstGeom>
          <a:noFill/>
          <a:ln/>
        </p:spPr>
        <p:txBody>
          <a:bodyPr wrap="square" lIns="0" tIns="0" rIns="0" bIns="0" rtlCol="0" anchor="ctr"/>
          <a:lstStyle/>
          <a:p>
            <a:pPr indent="0" marL="0">
              <a:buNone/>
            </a:pPr>
            <a:r>
              <a:rPr lang="en-US" sz="1300" dirty="0">
                <a:solidFill>
                  <a:srgbClr val="7B93AA"/>
                </a:solidFill>
                <a:latin typeface="Calibri" pitchFamily="34" charset="0"/>
                <a:ea typeface="Calibri" pitchFamily="34" charset="-122"/>
                <a:cs typeface="Calibri" pitchFamily="34" charset="-120"/>
              </a:rPr>
              <a:t>Cartera activa al 55% UP promedio</a:t>
            </a:r>
            <a:endParaRPr lang="en-US" sz="1300" dirty="0"/>
          </a:p>
          <a:p>
            <a:pPr indent="0" marL="0">
              <a:buNone/>
            </a:pPr>
            <a:r>
              <a:rPr lang="en-US" sz="1300" dirty="0">
                <a:solidFill>
                  <a:srgbClr val="7B93AA"/>
                </a:solidFill>
                <a:latin typeface="Calibri" pitchFamily="34" charset="0"/>
                <a:ea typeface="Calibri" pitchFamily="34" charset="-122"/>
                <a:cs typeface="Calibri" pitchFamily="34" charset="-120"/>
              </a:rPr>
              <a:t>8 clientes en nivel ALTO para dic</a:t>
            </a:r>
            <a:endParaRPr lang="en-US" sz="1300" dirty="0"/>
          </a:p>
        </p:txBody>
      </p:sp>
      <p:sp>
        <p:nvSpPr>
          <p:cNvPr id="10" name="Shape 8"/>
          <p:cNvSpPr/>
          <p:nvPr/>
        </p:nvSpPr>
        <p:spPr>
          <a:xfrm>
            <a:off x="4754880" y="1261872"/>
            <a:ext cx="4160520" cy="1737360"/>
          </a:xfrm>
          <a:prstGeom prst="roundRect">
            <a:avLst>
              <a:gd name="adj" fmla="val 6316"/>
            </a:avLst>
          </a:prstGeom>
          <a:solidFill>
            <a:srgbClr val="162840"/>
          </a:solidFill>
          <a:ln w="19050">
            <a:solidFill>
              <a:srgbClr val="F2A71B"/>
            </a:solidFill>
            <a:prstDash val="solid"/>
          </a:ln>
        </p:spPr>
      </p:sp>
      <p:sp>
        <p:nvSpPr>
          <p:cNvPr id="11" name="Text 9"/>
          <p:cNvSpPr/>
          <p:nvPr/>
        </p:nvSpPr>
        <p:spPr>
          <a:xfrm>
            <a:off x="4937760" y="1371600"/>
            <a:ext cx="1280160" cy="274320"/>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2</a:t>
            </a:r>
            <a:endParaRPr lang="en-US" sz="1000" dirty="0"/>
          </a:p>
        </p:txBody>
      </p:sp>
      <p:sp>
        <p:nvSpPr>
          <p:cNvPr id="12" name="Text 10"/>
          <p:cNvSpPr/>
          <p:nvPr/>
        </p:nvSpPr>
        <p:spPr>
          <a:xfrm>
            <a:off x="4937760" y="1645920"/>
            <a:ext cx="3794760" cy="47548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Revenue Expansion</a:t>
            </a:r>
            <a:endParaRPr lang="en-US" sz="1800" dirty="0"/>
          </a:p>
        </p:txBody>
      </p:sp>
      <p:sp>
        <p:nvSpPr>
          <p:cNvPr id="13" name="Text 11"/>
          <p:cNvSpPr/>
          <p:nvPr/>
        </p:nvSpPr>
        <p:spPr>
          <a:xfrm>
            <a:off x="4937760" y="2157984"/>
            <a:ext cx="3794760" cy="713232"/>
          </a:xfrm>
          <a:prstGeom prst="rect">
            <a:avLst/>
          </a:prstGeom>
          <a:noFill/>
          <a:ln/>
        </p:spPr>
        <p:txBody>
          <a:bodyPr wrap="square" lIns="0" tIns="0" rIns="0" bIns="0" rtlCol="0" anchor="ctr"/>
          <a:lstStyle/>
          <a:p>
            <a:pPr indent="0" marL="0">
              <a:buNone/>
            </a:pPr>
            <a:r>
              <a:rPr lang="en-US" sz="1300" dirty="0">
                <a:solidFill>
                  <a:srgbClr val="7B93AA"/>
                </a:solidFill>
                <a:latin typeface="Calibri" pitchFamily="34" charset="0"/>
                <a:ea typeface="Calibri" pitchFamily="34" charset="-122"/>
                <a:cs typeface="Calibri" pitchFamily="34" charset="-120"/>
              </a:rPr>
              <a:t>+15% MRR vía AnyTools</a:t>
            </a:r>
            <a:endParaRPr lang="en-US" sz="1300" dirty="0"/>
          </a:p>
          <a:p>
            <a:pPr indent="0" marL="0">
              <a:buNone/>
            </a:pPr>
            <a:r>
              <a:rPr lang="en-US" sz="1300" dirty="0">
                <a:solidFill>
                  <a:srgbClr val="7B93AA"/>
                </a:solidFill>
                <a:latin typeface="Calibri" pitchFamily="34" charset="0"/>
                <a:ea typeface="Calibri" pitchFamily="34" charset="-122"/>
                <a:cs typeface="Calibri" pitchFamily="34" charset="-120"/>
              </a:rPr>
              <a:t>5 nuevas contrataciones H2</a:t>
            </a:r>
            <a:endParaRPr lang="en-US" sz="1300" dirty="0"/>
          </a:p>
        </p:txBody>
      </p:sp>
      <p:sp>
        <p:nvSpPr>
          <p:cNvPr id="14" name="Shape 12"/>
          <p:cNvSpPr/>
          <p:nvPr/>
        </p:nvSpPr>
        <p:spPr>
          <a:xfrm>
            <a:off x="365760" y="3163824"/>
            <a:ext cx="4160520" cy="1737360"/>
          </a:xfrm>
          <a:prstGeom prst="roundRect">
            <a:avLst>
              <a:gd name="adj" fmla="val 6316"/>
            </a:avLst>
          </a:prstGeom>
          <a:solidFill>
            <a:srgbClr val="162840"/>
          </a:solidFill>
          <a:ln w="19050">
            <a:solidFill>
              <a:srgbClr val="10B981"/>
            </a:solidFill>
            <a:prstDash val="solid"/>
          </a:ln>
        </p:spPr>
      </p:sp>
      <p:sp>
        <p:nvSpPr>
          <p:cNvPr id="15" name="Text 13"/>
          <p:cNvSpPr/>
          <p:nvPr/>
        </p:nvSpPr>
        <p:spPr>
          <a:xfrm>
            <a:off x="548640" y="3273552"/>
            <a:ext cx="128016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OKR 3</a:t>
            </a:r>
            <a:endParaRPr lang="en-US" sz="1000" dirty="0"/>
          </a:p>
        </p:txBody>
      </p:sp>
      <p:sp>
        <p:nvSpPr>
          <p:cNvPr id="16" name="Text 14"/>
          <p:cNvSpPr/>
          <p:nvPr/>
        </p:nvSpPr>
        <p:spPr>
          <a:xfrm>
            <a:off x="548640" y="3547872"/>
            <a:ext cx="3794760" cy="47548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Retención &amp; Health Score</a:t>
            </a:r>
            <a:endParaRPr lang="en-US" sz="1800" dirty="0"/>
          </a:p>
        </p:txBody>
      </p:sp>
      <p:sp>
        <p:nvSpPr>
          <p:cNvPr id="17" name="Text 15"/>
          <p:cNvSpPr/>
          <p:nvPr/>
        </p:nvSpPr>
        <p:spPr>
          <a:xfrm>
            <a:off x="548640" y="4059936"/>
            <a:ext cx="3794760" cy="713232"/>
          </a:xfrm>
          <a:prstGeom prst="rect">
            <a:avLst/>
          </a:prstGeom>
          <a:noFill/>
          <a:ln/>
        </p:spPr>
        <p:txBody>
          <a:bodyPr wrap="square" lIns="0" tIns="0" rIns="0" bIns="0" rtlCol="0" anchor="ctr"/>
          <a:lstStyle/>
          <a:p>
            <a:pPr indent="0" marL="0">
              <a:buNone/>
            </a:pPr>
            <a:r>
              <a:rPr lang="en-US" sz="1300" dirty="0">
                <a:solidFill>
                  <a:srgbClr val="7B93AA"/>
                </a:solidFill>
                <a:latin typeface="Calibri" pitchFamily="34" charset="0"/>
                <a:ea typeface="Calibri" pitchFamily="34" charset="-122"/>
                <a:cs typeface="Calibri" pitchFamily="34" charset="-120"/>
              </a:rPr>
              <a:t>0% churn · NPS 67 → 75</a:t>
            </a:r>
            <a:endParaRPr lang="en-US" sz="1300" dirty="0"/>
          </a:p>
          <a:p>
            <a:pPr indent="0" marL="0">
              <a:buNone/>
            </a:pPr>
            <a:r>
              <a:rPr lang="en-US" sz="1300" dirty="0">
                <a:solidFill>
                  <a:srgbClr val="7B93AA"/>
                </a:solidFill>
                <a:latin typeface="Calibri" pitchFamily="34" charset="0"/>
                <a:ea typeface="Calibri" pitchFamily="34" charset="-122"/>
                <a:cs typeface="Calibri" pitchFamily="34" charset="-120"/>
              </a:rPr>
              <a:t>Health Score 82% → 88%</a:t>
            </a:r>
            <a:endParaRPr lang="en-US" sz="1300" dirty="0"/>
          </a:p>
        </p:txBody>
      </p:sp>
      <p:sp>
        <p:nvSpPr>
          <p:cNvPr id="18" name="Shape 16"/>
          <p:cNvSpPr/>
          <p:nvPr/>
        </p:nvSpPr>
        <p:spPr>
          <a:xfrm>
            <a:off x="4754880" y="3163824"/>
            <a:ext cx="4160520" cy="1737360"/>
          </a:xfrm>
          <a:prstGeom prst="roundRect">
            <a:avLst>
              <a:gd name="adj" fmla="val 6316"/>
            </a:avLst>
          </a:prstGeom>
          <a:solidFill>
            <a:srgbClr val="162840"/>
          </a:solidFill>
          <a:ln w="19050">
            <a:solidFill>
              <a:srgbClr val="3B82F6"/>
            </a:solidFill>
            <a:prstDash val="solid"/>
          </a:ln>
        </p:spPr>
      </p:sp>
      <p:sp>
        <p:nvSpPr>
          <p:cNvPr id="19" name="Text 17"/>
          <p:cNvSpPr/>
          <p:nvPr/>
        </p:nvSpPr>
        <p:spPr>
          <a:xfrm>
            <a:off x="4937760" y="3273552"/>
            <a:ext cx="1280160" cy="27432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4</a:t>
            </a:r>
            <a:endParaRPr lang="en-US" sz="1000" dirty="0"/>
          </a:p>
        </p:txBody>
      </p:sp>
      <p:sp>
        <p:nvSpPr>
          <p:cNvPr id="20" name="Text 18"/>
          <p:cNvSpPr/>
          <p:nvPr/>
        </p:nvSpPr>
        <p:spPr>
          <a:xfrm>
            <a:off x="4937760" y="3547872"/>
            <a:ext cx="3794760" cy="47548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Migración Centry</a:t>
            </a:r>
            <a:endParaRPr lang="en-US" sz="1800" dirty="0"/>
          </a:p>
        </p:txBody>
      </p:sp>
      <p:sp>
        <p:nvSpPr>
          <p:cNvPr id="21" name="Text 19"/>
          <p:cNvSpPr/>
          <p:nvPr/>
        </p:nvSpPr>
        <p:spPr>
          <a:xfrm>
            <a:off x="4937760" y="4059936"/>
            <a:ext cx="3794760" cy="713232"/>
          </a:xfrm>
          <a:prstGeom prst="rect">
            <a:avLst/>
          </a:prstGeom>
          <a:noFill/>
          <a:ln/>
        </p:spPr>
        <p:txBody>
          <a:bodyPr wrap="square" lIns="0" tIns="0" rIns="0" bIns="0" rtlCol="0" anchor="ctr"/>
          <a:lstStyle/>
          <a:p>
            <a:pPr indent="0" marL="0">
              <a:buNone/>
            </a:pPr>
            <a:r>
              <a:rPr lang="en-US" sz="1300" dirty="0">
                <a:solidFill>
                  <a:srgbClr val="7B93AA"/>
                </a:solidFill>
                <a:latin typeface="Calibri" pitchFamily="34" charset="0"/>
                <a:ea typeface="Calibri" pitchFamily="34" charset="-122"/>
                <a:cs typeface="Calibri" pitchFamily="34" charset="-120"/>
              </a:rPr>
              <a:t>6 clientes Centry migrados</a:t>
            </a:r>
            <a:endParaRPr lang="en-US" sz="1300" dirty="0"/>
          </a:p>
          <a:p>
            <a:pPr indent="0" marL="0">
              <a:buNone/>
            </a:pPr>
            <a:r>
              <a:rPr lang="en-US" sz="1300" dirty="0">
                <a:solidFill>
                  <a:srgbClr val="7B93AA"/>
                </a:solidFill>
                <a:latin typeface="Calibri" pitchFamily="34" charset="0"/>
                <a:ea typeface="Calibri" pitchFamily="34" charset="-122"/>
                <a:cs typeface="Calibri" pitchFamily="34" charset="-120"/>
              </a:rPr>
              <a:t>20% UP consumidos en mes 1</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1371600" cy="274320"/>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1</a:t>
            </a:r>
            <a:endParaRPr lang="en-US" sz="1000" dirty="0"/>
          </a:p>
        </p:txBody>
      </p:sp>
      <p:sp>
        <p:nvSpPr>
          <p:cNvPr id="3" name="Text 1"/>
          <p:cNvSpPr/>
          <p:nvPr/>
        </p:nvSpPr>
        <p:spPr>
          <a:xfrm>
            <a:off x="457200" y="457200"/>
            <a:ext cx="8229600" cy="594360"/>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Activación &amp; Adopción de AnyTools</a:t>
            </a:r>
            <a:endParaRPr lang="en-US" sz="2500" dirty="0"/>
          </a:p>
        </p:txBody>
      </p:sp>
      <p:sp>
        <p:nvSpPr>
          <p:cNvPr id="4" name="Text 2"/>
          <p:cNvSpPr/>
          <p:nvPr/>
        </p:nvSpPr>
        <p:spPr>
          <a:xfrm>
            <a:off x="457200" y="1024128"/>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Posicionar AnyTools como parte indispensable de la operación de cada cliente LATAM</a:t>
            </a:r>
            <a:endParaRPr lang="en-US" sz="1300" dirty="0"/>
          </a:p>
        </p:txBody>
      </p:sp>
      <p:sp>
        <p:nvSpPr>
          <p:cNvPr id="5" name="Shape 3"/>
          <p:cNvSpPr/>
          <p:nvPr/>
        </p:nvSpPr>
        <p:spPr>
          <a:xfrm>
            <a:off x="365760" y="1481328"/>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1.1</a:t>
            </a:r>
            <a:endParaRPr lang="en-US" sz="1100" dirty="0"/>
          </a:p>
        </p:txBody>
      </p:sp>
      <p:sp>
        <p:nvSpPr>
          <p:cNvPr id="7" name="Text 5"/>
          <p:cNvSpPr/>
          <p:nvPr/>
        </p:nvSpPr>
        <p:spPr>
          <a:xfrm>
            <a:off x="1572768" y="1618488"/>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Aumentar adopción promedio de Use Points de 34% → 55% para diciembre 2026</a:t>
            </a:r>
            <a:endParaRPr lang="en-US" sz="1300" dirty="0"/>
          </a:p>
        </p:txBody>
      </p:sp>
      <p:sp>
        <p:nvSpPr>
          <p:cNvPr id="8" name="Shape 6"/>
          <p:cNvSpPr/>
          <p:nvPr/>
        </p:nvSpPr>
        <p:spPr>
          <a:xfrm>
            <a:off x="7040880" y="1664208"/>
            <a:ext cx="1051560" cy="274320"/>
          </a:xfrm>
          <a:prstGeom prst="roundRect">
            <a:avLst>
              <a:gd name="adj" fmla="val 50000"/>
            </a:avLst>
          </a:prstGeom>
          <a:solidFill>
            <a:srgbClr val="0F9B8E"/>
          </a:solidFill>
          <a:ln w="12700">
            <a:solidFill>
              <a:srgbClr val="0F9B8E"/>
            </a:solidFill>
            <a:prstDash val="solid"/>
          </a:ln>
        </p:spPr>
      </p:sp>
      <p:sp>
        <p:nvSpPr>
          <p:cNvPr id="9" name="Text 7"/>
          <p:cNvSpPr/>
          <p:nvPr/>
        </p:nvSpPr>
        <p:spPr>
          <a:xfrm>
            <a:off x="7040880" y="1664208"/>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55%</a:t>
            </a:r>
            <a:endParaRPr lang="en-US" sz="1000" dirty="0"/>
          </a:p>
        </p:txBody>
      </p:sp>
      <p:sp>
        <p:nvSpPr>
          <p:cNvPr id="10" name="Shape 8"/>
          <p:cNvSpPr/>
          <p:nvPr/>
        </p:nvSpPr>
        <p:spPr>
          <a:xfrm>
            <a:off x="365760" y="2286000"/>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548640" y="2395728"/>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1.2</a:t>
            </a:r>
            <a:endParaRPr lang="en-US" sz="1100" dirty="0"/>
          </a:p>
        </p:txBody>
      </p:sp>
      <p:sp>
        <p:nvSpPr>
          <p:cNvPr id="12" name="Text 10"/>
          <p:cNvSpPr/>
          <p:nvPr/>
        </p:nvSpPr>
        <p:spPr>
          <a:xfrm>
            <a:off x="1572768" y="2423160"/>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Llevar mínimo 8 clientes activos a nivel ALTO (&gt;70% UP consumidos)</a:t>
            </a:r>
            <a:endParaRPr lang="en-US" sz="1300" dirty="0"/>
          </a:p>
        </p:txBody>
      </p:sp>
      <p:sp>
        <p:nvSpPr>
          <p:cNvPr id="13" name="Shape 11"/>
          <p:cNvSpPr/>
          <p:nvPr/>
        </p:nvSpPr>
        <p:spPr>
          <a:xfrm>
            <a:off x="7040880" y="2468880"/>
            <a:ext cx="1051560" cy="274320"/>
          </a:xfrm>
          <a:prstGeom prst="roundRect">
            <a:avLst>
              <a:gd name="adj" fmla="val 50000"/>
            </a:avLst>
          </a:prstGeom>
          <a:solidFill>
            <a:srgbClr val="0F9B8E"/>
          </a:solidFill>
          <a:ln w="12700">
            <a:solidFill>
              <a:srgbClr val="0F9B8E"/>
            </a:solidFill>
            <a:prstDash val="solid"/>
          </a:ln>
        </p:spPr>
      </p:sp>
      <p:sp>
        <p:nvSpPr>
          <p:cNvPr id="14" name="Text 12"/>
          <p:cNvSpPr/>
          <p:nvPr/>
        </p:nvSpPr>
        <p:spPr>
          <a:xfrm>
            <a:off x="7040880" y="246888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clientes</a:t>
            </a:r>
            <a:endParaRPr lang="en-US" sz="1000" dirty="0"/>
          </a:p>
        </p:txBody>
      </p:sp>
      <p:sp>
        <p:nvSpPr>
          <p:cNvPr id="15" name="Shape 13"/>
          <p:cNvSpPr/>
          <p:nvPr/>
        </p:nvSpPr>
        <p:spPr>
          <a:xfrm>
            <a:off x="365760" y="3090672"/>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48640" y="3200400"/>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1.3</a:t>
            </a:r>
            <a:endParaRPr lang="en-US" sz="1100" dirty="0"/>
          </a:p>
        </p:txBody>
      </p:sp>
      <p:sp>
        <p:nvSpPr>
          <p:cNvPr id="17" name="Text 15"/>
          <p:cNvSpPr/>
          <p:nvPr/>
        </p:nvSpPr>
        <p:spPr>
          <a:xfrm>
            <a:off x="1572768" y="3227832"/>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Eliminar nivel NO USA — 100% de clientes activos con al menos 1 UP consumido</a:t>
            </a:r>
            <a:endParaRPr lang="en-US" sz="1300" dirty="0"/>
          </a:p>
        </p:txBody>
      </p:sp>
      <p:sp>
        <p:nvSpPr>
          <p:cNvPr id="18" name="Shape 16"/>
          <p:cNvSpPr/>
          <p:nvPr/>
        </p:nvSpPr>
        <p:spPr>
          <a:xfrm>
            <a:off x="7040880" y="3273552"/>
            <a:ext cx="1051560" cy="274320"/>
          </a:xfrm>
          <a:prstGeom prst="roundRect">
            <a:avLst>
              <a:gd name="adj" fmla="val 50000"/>
            </a:avLst>
          </a:prstGeom>
          <a:solidFill>
            <a:srgbClr val="0F9B8E"/>
          </a:solidFill>
          <a:ln w="12700">
            <a:solidFill>
              <a:srgbClr val="0F9B8E"/>
            </a:solidFill>
            <a:prstDash val="solid"/>
          </a:ln>
        </p:spPr>
      </p:sp>
      <p:sp>
        <p:nvSpPr>
          <p:cNvPr id="19" name="Text 17"/>
          <p:cNvSpPr/>
          <p:nvPr/>
        </p:nvSpPr>
        <p:spPr>
          <a:xfrm>
            <a:off x="7040880" y="3273552"/>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NO USA</a:t>
            </a:r>
            <a:endParaRPr lang="en-US" sz="1000" dirty="0"/>
          </a:p>
        </p:txBody>
      </p:sp>
      <p:sp>
        <p:nvSpPr>
          <p:cNvPr id="20" name="Shape 18"/>
          <p:cNvSpPr/>
          <p:nvPr/>
        </p:nvSpPr>
        <p:spPr>
          <a:xfrm>
            <a:off x="365760" y="3895344"/>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548640" y="4005072"/>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1.4</a:t>
            </a:r>
            <a:endParaRPr lang="en-US" sz="1100" dirty="0"/>
          </a:p>
        </p:txBody>
      </p:sp>
      <p:sp>
        <p:nvSpPr>
          <p:cNvPr id="22" name="Text 20"/>
          <p:cNvSpPr/>
          <p:nvPr/>
        </p:nvSpPr>
        <p:spPr>
          <a:xfrm>
            <a:off x="1572768" y="4032504"/>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workshop de adopción AnyTools con los 5 clientes nivel MEDIO antes de sept</a:t>
            </a:r>
            <a:endParaRPr lang="en-US" sz="1300" dirty="0"/>
          </a:p>
        </p:txBody>
      </p:sp>
      <p:sp>
        <p:nvSpPr>
          <p:cNvPr id="23" name="Shape 21"/>
          <p:cNvSpPr/>
          <p:nvPr/>
        </p:nvSpPr>
        <p:spPr>
          <a:xfrm>
            <a:off x="7040880" y="4078224"/>
            <a:ext cx="1051560" cy="274320"/>
          </a:xfrm>
          <a:prstGeom prst="roundRect">
            <a:avLst>
              <a:gd name="adj" fmla="val 50000"/>
            </a:avLst>
          </a:prstGeom>
          <a:solidFill>
            <a:srgbClr val="0F9B8E"/>
          </a:solidFill>
          <a:ln w="12700">
            <a:solidFill>
              <a:srgbClr val="0F9B8E"/>
            </a:solidFill>
            <a:prstDash val="solid"/>
          </a:ln>
        </p:spPr>
      </p:sp>
      <p:sp>
        <p:nvSpPr>
          <p:cNvPr id="24" name="Text 22"/>
          <p:cNvSpPr/>
          <p:nvPr/>
        </p:nvSpPr>
        <p:spPr>
          <a:xfrm>
            <a:off x="7040880" y="4078224"/>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talleres</a:t>
            </a:r>
            <a:endParaRPr lang="en-US" sz="1000" dirty="0"/>
          </a:p>
        </p:txBody>
      </p:sp>
      <p:sp>
        <p:nvSpPr>
          <p:cNvPr id="25" name="Shape 23"/>
          <p:cNvSpPr/>
          <p:nvPr/>
        </p:nvSpPr>
        <p:spPr>
          <a:xfrm>
            <a:off x="365760" y="4736592"/>
            <a:ext cx="8412480" cy="274320"/>
          </a:xfrm>
          <a:prstGeom prst="roundRect">
            <a:avLst>
              <a:gd name="adj" fmla="val 33333"/>
            </a:avLst>
          </a:prstGeom>
          <a:solidFill>
            <a:srgbClr val="F0FDFA"/>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6" name="Text 24"/>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0F766E"/>
                </a:solidFill>
                <a:latin typeface="Calibri" pitchFamily="34" charset="0"/>
                <a:ea typeface="Calibri" pitchFamily="34" charset="-122"/>
                <a:cs typeface="Calibri" pitchFamily="34" charset="-120"/>
              </a:rPr>
              <a:t>💡 Benchmarks internos a replicar: KAYSER (55.6%) y EMMA SLEEP CL (52.8%) — invitarlos a compartir su uso con el resto del portafolio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1371600" cy="274320"/>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2</a:t>
            </a:r>
            <a:endParaRPr lang="en-US" sz="1000" dirty="0"/>
          </a:p>
        </p:txBody>
      </p:sp>
      <p:sp>
        <p:nvSpPr>
          <p:cNvPr id="3" name="Text 1"/>
          <p:cNvSpPr/>
          <p:nvPr/>
        </p:nvSpPr>
        <p:spPr>
          <a:xfrm>
            <a:off x="457200" y="457200"/>
            <a:ext cx="8229600" cy="594360"/>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Revenue Expansion vía AnyTools</a:t>
            </a:r>
            <a:endParaRPr lang="en-US" sz="2500" dirty="0"/>
          </a:p>
        </p:txBody>
      </p:sp>
      <p:sp>
        <p:nvSpPr>
          <p:cNvPr id="4" name="Text 2"/>
          <p:cNvSpPr/>
          <p:nvPr/>
        </p:nvSpPr>
        <p:spPr>
          <a:xfrm>
            <a:off x="457200" y="1024128"/>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Convertir AnyTools en motor de expansión de MRR en la cartera LATAM durante H2 2026</a:t>
            </a:r>
            <a:endParaRPr lang="en-US" sz="1300" dirty="0"/>
          </a:p>
        </p:txBody>
      </p:sp>
      <p:sp>
        <p:nvSpPr>
          <p:cNvPr id="5" name="Shape 3"/>
          <p:cNvSpPr/>
          <p:nvPr/>
        </p:nvSpPr>
        <p:spPr>
          <a:xfrm>
            <a:off x="365760" y="1481328"/>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2.1</a:t>
            </a:r>
            <a:endParaRPr lang="en-US" sz="1100" dirty="0"/>
          </a:p>
        </p:txBody>
      </p:sp>
      <p:sp>
        <p:nvSpPr>
          <p:cNvPr id="7" name="Text 5"/>
          <p:cNvSpPr/>
          <p:nvPr/>
        </p:nvSpPr>
        <p:spPr>
          <a:xfrm>
            <a:off x="1572768" y="1618488"/>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Cerrar 5 nuevas contrataciones de herramientas AnyTools en cartera activa</a:t>
            </a:r>
            <a:endParaRPr lang="en-US" sz="1300" dirty="0"/>
          </a:p>
        </p:txBody>
      </p:sp>
      <p:sp>
        <p:nvSpPr>
          <p:cNvPr id="8" name="Shape 6"/>
          <p:cNvSpPr/>
          <p:nvPr/>
        </p:nvSpPr>
        <p:spPr>
          <a:xfrm>
            <a:off x="7040880" y="1664208"/>
            <a:ext cx="1051560" cy="274320"/>
          </a:xfrm>
          <a:prstGeom prst="roundRect">
            <a:avLst>
              <a:gd name="adj" fmla="val 50000"/>
            </a:avLst>
          </a:prstGeom>
          <a:solidFill>
            <a:srgbClr val="D4920F"/>
          </a:solidFill>
          <a:ln w="12700">
            <a:solidFill>
              <a:srgbClr val="D4920F"/>
            </a:solidFill>
            <a:prstDash val="solid"/>
          </a:ln>
        </p:spPr>
      </p:sp>
      <p:sp>
        <p:nvSpPr>
          <p:cNvPr id="9" name="Text 7"/>
          <p:cNvSpPr/>
          <p:nvPr/>
        </p:nvSpPr>
        <p:spPr>
          <a:xfrm>
            <a:off x="7040880" y="1664208"/>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deals</a:t>
            </a:r>
            <a:endParaRPr lang="en-US" sz="1000" dirty="0"/>
          </a:p>
        </p:txBody>
      </p:sp>
      <p:sp>
        <p:nvSpPr>
          <p:cNvPr id="10" name="Shape 8"/>
          <p:cNvSpPr/>
          <p:nvPr/>
        </p:nvSpPr>
        <p:spPr>
          <a:xfrm>
            <a:off x="365760" y="2286000"/>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548640" y="2395728"/>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2.2</a:t>
            </a:r>
            <a:endParaRPr lang="en-US" sz="1100" dirty="0"/>
          </a:p>
        </p:txBody>
      </p:sp>
      <p:sp>
        <p:nvSpPr>
          <p:cNvPr id="12" name="Text 10"/>
          <p:cNvSpPr/>
          <p:nvPr/>
        </p:nvSpPr>
        <p:spPr>
          <a:xfrm>
            <a:off x="1572768" y="2423160"/>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Generar +15% de MRR vía upsell/cross-sell AnyTools vs cierre H1 2026</a:t>
            </a:r>
            <a:endParaRPr lang="en-US" sz="1300" dirty="0"/>
          </a:p>
        </p:txBody>
      </p:sp>
      <p:sp>
        <p:nvSpPr>
          <p:cNvPr id="13" name="Shape 11"/>
          <p:cNvSpPr/>
          <p:nvPr/>
        </p:nvSpPr>
        <p:spPr>
          <a:xfrm>
            <a:off x="7040880" y="2468880"/>
            <a:ext cx="1051560" cy="274320"/>
          </a:xfrm>
          <a:prstGeom prst="roundRect">
            <a:avLst>
              <a:gd name="adj" fmla="val 50000"/>
            </a:avLst>
          </a:prstGeom>
          <a:solidFill>
            <a:srgbClr val="D4920F"/>
          </a:solidFill>
          <a:ln w="12700">
            <a:solidFill>
              <a:srgbClr val="D4920F"/>
            </a:solidFill>
            <a:prstDash val="solid"/>
          </a:ln>
        </p:spPr>
      </p:sp>
      <p:sp>
        <p:nvSpPr>
          <p:cNvPr id="14" name="Text 12"/>
          <p:cNvSpPr/>
          <p:nvPr/>
        </p:nvSpPr>
        <p:spPr>
          <a:xfrm>
            <a:off x="7040880" y="246888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 MRR</a:t>
            </a:r>
            <a:endParaRPr lang="en-US" sz="1000" dirty="0"/>
          </a:p>
        </p:txBody>
      </p:sp>
      <p:sp>
        <p:nvSpPr>
          <p:cNvPr id="15" name="Shape 13"/>
          <p:cNvSpPr/>
          <p:nvPr/>
        </p:nvSpPr>
        <p:spPr>
          <a:xfrm>
            <a:off x="365760" y="3090672"/>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48640" y="3200400"/>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2.3</a:t>
            </a:r>
            <a:endParaRPr lang="en-US" sz="1100" dirty="0"/>
          </a:p>
        </p:txBody>
      </p:sp>
      <p:sp>
        <p:nvSpPr>
          <p:cNvPr id="17" name="Text 15"/>
          <p:cNvSpPr/>
          <p:nvPr/>
        </p:nvSpPr>
        <p:spPr>
          <a:xfrm>
            <a:off x="1572768" y="3227832"/>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Presentar propuesta comercial de Predize a todos los clientes tier A y B del portafolio</a:t>
            </a:r>
            <a:endParaRPr lang="en-US" sz="1300" dirty="0"/>
          </a:p>
        </p:txBody>
      </p:sp>
      <p:sp>
        <p:nvSpPr>
          <p:cNvPr id="18" name="Shape 16"/>
          <p:cNvSpPr/>
          <p:nvPr/>
        </p:nvSpPr>
        <p:spPr>
          <a:xfrm>
            <a:off x="7040880" y="3273552"/>
            <a:ext cx="1051560" cy="274320"/>
          </a:xfrm>
          <a:prstGeom prst="roundRect">
            <a:avLst>
              <a:gd name="adj" fmla="val 50000"/>
            </a:avLst>
          </a:prstGeom>
          <a:solidFill>
            <a:srgbClr val="D4920F"/>
          </a:solidFill>
          <a:ln w="12700">
            <a:solidFill>
              <a:srgbClr val="D4920F"/>
            </a:solidFill>
            <a:prstDash val="solid"/>
          </a:ln>
        </p:spPr>
      </p:sp>
      <p:sp>
        <p:nvSpPr>
          <p:cNvPr id="19" name="Text 17"/>
          <p:cNvSpPr/>
          <p:nvPr/>
        </p:nvSpPr>
        <p:spPr>
          <a:xfrm>
            <a:off x="7040880" y="3273552"/>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tier A/B</a:t>
            </a:r>
            <a:endParaRPr lang="en-US" sz="1000" dirty="0"/>
          </a:p>
        </p:txBody>
      </p:sp>
      <p:sp>
        <p:nvSpPr>
          <p:cNvPr id="20" name="Shape 18"/>
          <p:cNvSpPr/>
          <p:nvPr/>
        </p:nvSpPr>
        <p:spPr>
          <a:xfrm>
            <a:off x="365760" y="3895344"/>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548640" y="4005072"/>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2.4</a:t>
            </a:r>
            <a:endParaRPr lang="en-US" sz="1100" dirty="0"/>
          </a:p>
        </p:txBody>
      </p:sp>
      <p:sp>
        <p:nvSpPr>
          <p:cNvPr id="22" name="Text 20"/>
          <p:cNvSpPr/>
          <p:nvPr/>
        </p:nvSpPr>
        <p:spPr>
          <a:xfrm>
            <a:off x="1572768" y="4032504"/>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Convertir 3 demos de Predize o Koncili en contratos efectivos antes de octubre</a:t>
            </a:r>
            <a:endParaRPr lang="en-US" sz="1300" dirty="0"/>
          </a:p>
        </p:txBody>
      </p:sp>
      <p:sp>
        <p:nvSpPr>
          <p:cNvPr id="23" name="Shape 21"/>
          <p:cNvSpPr/>
          <p:nvPr/>
        </p:nvSpPr>
        <p:spPr>
          <a:xfrm>
            <a:off x="7040880" y="4078224"/>
            <a:ext cx="1051560" cy="274320"/>
          </a:xfrm>
          <a:prstGeom prst="roundRect">
            <a:avLst>
              <a:gd name="adj" fmla="val 50000"/>
            </a:avLst>
          </a:prstGeom>
          <a:solidFill>
            <a:srgbClr val="D4920F"/>
          </a:solidFill>
          <a:ln w="12700">
            <a:solidFill>
              <a:srgbClr val="D4920F"/>
            </a:solidFill>
            <a:prstDash val="solid"/>
          </a:ln>
        </p:spPr>
      </p:sp>
      <p:sp>
        <p:nvSpPr>
          <p:cNvPr id="24" name="Text 22"/>
          <p:cNvSpPr/>
          <p:nvPr/>
        </p:nvSpPr>
        <p:spPr>
          <a:xfrm>
            <a:off x="7040880" y="4078224"/>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contratos</a:t>
            </a:r>
            <a:endParaRPr lang="en-US" sz="1000" dirty="0"/>
          </a:p>
        </p:txBody>
      </p:sp>
      <p:sp>
        <p:nvSpPr>
          <p:cNvPr id="25" name="Shape 23"/>
          <p:cNvSpPr/>
          <p:nvPr/>
        </p:nvSpPr>
        <p:spPr>
          <a:xfrm>
            <a:off x="365760" y="4736592"/>
            <a:ext cx="8412480" cy="274320"/>
          </a:xfrm>
          <a:prstGeom prst="roundRect">
            <a:avLst>
              <a:gd name="adj" fmla="val 33333"/>
            </a:avLst>
          </a:prstGeom>
          <a:solidFill>
            <a:srgbClr val="FFFBEB"/>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6" name="Text 24"/>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 Mayor oportunidad Predize: KAYSER, TRAMONTINA CL y LACOSTE — alto volumen SKUs en marketplaces competitivos (ML, Paris, Falabella)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137160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OKR 3</a:t>
            </a:r>
            <a:endParaRPr lang="en-US" sz="1000" dirty="0"/>
          </a:p>
        </p:txBody>
      </p:sp>
      <p:sp>
        <p:nvSpPr>
          <p:cNvPr id="3" name="Text 1"/>
          <p:cNvSpPr/>
          <p:nvPr/>
        </p:nvSpPr>
        <p:spPr>
          <a:xfrm>
            <a:off x="457200" y="457200"/>
            <a:ext cx="8229600" cy="594360"/>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Retención &amp; Health Score del Portafolio</a:t>
            </a:r>
            <a:endParaRPr lang="en-US" sz="2500" dirty="0"/>
          </a:p>
        </p:txBody>
      </p:sp>
      <p:sp>
        <p:nvSpPr>
          <p:cNvPr id="4" name="Text 2"/>
          <p:cNvSpPr/>
          <p:nvPr/>
        </p:nvSpPr>
        <p:spPr>
          <a:xfrm>
            <a:off x="457200" y="1024128"/>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Proteger el 100% del revenue y mejorar la salud promedio de la cartera antes de diciembre 2026</a:t>
            </a:r>
            <a:endParaRPr lang="en-US" sz="1300" dirty="0"/>
          </a:p>
        </p:txBody>
      </p:sp>
      <p:sp>
        <p:nvSpPr>
          <p:cNvPr id="5" name="Shape 3"/>
          <p:cNvSpPr/>
          <p:nvPr/>
        </p:nvSpPr>
        <p:spPr>
          <a:xfrm>
            <a:off x="365760" y="1481328"/>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3.1</a:t>
            </a:r>
            <a:endParaRPr lang="en-US" sz="1100" dirty="0"/>
          </a:p>
        </p:txBody>
      </p:sp>
      <p:sp>
        <p:nvSpPr>
          <p:cNvPr id="7" name="Text 5"/>
          <p:cNvSpPr/>
          <p:nvPr/>
        </p:nvSpPr>
        <p:spPr>
          <a:xfrm>
            <a:off x="1572768" y="1618488"/>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Mantener churn en 0% durante todo H2 2026 — cero cancelaciones</a:t>
            </a:r>
            <a:endParaRPr lang="en-US" sz="1300" dirty="0"/>
          </a:p>
        </p:txBody>
      </p:sp>
      <p:sp>
        <p:nvSpPr>
          <p:cNvPr id="8" name="Shape 6"/>
          <p:cNvSpPr/>
          <p:nvPr/>
        </p:nvSpPr>
        <p:spPr>
          <a:xfrm>
            <a:off x="7040880" y="1664208"/>
            <a:ext cx="1051560" cy="274320"/>
          </a:xfrm>
          <a:prstGeom prst="roundRect">
            <a:avLst>
              <a:gd name="adj" fmla="val 50000"/>
            </a:avLst>
          </a:prstGeom>
          <a:solidFill>
            <a:srgbClr val="10B981"/>
          </a:solidFill>
          <a:ln w="12700">
            <a:solidFill>
              <a:srgbClr val="10B981"/>
            </a:solidFill>
            <a:prstDash val="solid"/>
          </a:ln>
        </p:spPr>
      </p:sp>
      <p:sp>
        <p:nvSpPr>
          <p:cNvPr id="9" name="Text 7"/>
          <p:cNvSpPr/>
          <p:nvPr/>
        </p:nvSpPr>
        <p:spPr>
          <a:xfrm>
            <a:off x="7040880" y="1664208"/>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churn</a:t>
            </a:r>
            <a:endParaRPr lang="en-US" sz="1000" dirty="0"/>
          </a:p>
        </p:txBody>
      </p:sp>
      <p:sp>
        <p:nvSpPr>
          <p:cNvPr id="10" name="Shape 8"/>
          <p:cNvSpPr/>
          <p:nvPr/>
        </p:nvSpPr>
        <p:spPr>
          <a:xfrm>
            <a:off x="365760" y="2286000"/>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548640" y="2395728"/>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3.2</a:t>
            </a:r>
            <a:endParaRPr lang="en-US" sz="1100" dirty="0"/>
          </a:p>
        </p:txBody>
      </p:sp>
      <p:sp>
        <p:nvSpPr>
          <p:cNvPr id="12" name="Text 10"/>
          <p:cNvSpPr/>
          <p:nvPr/>
        </p:nvSpPr>
        <p:spPr>
          <a:xfrm>
            <a:off x="1572768" y="2423160"/>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Mejorar NPS promedio de cartera de 67 → 75 para diciembre 2026</a:t>
            </a:r>
            <a:endParaRPr lang="en-US" sz="1300" dirty="0"/>
          </a:p>
        </p:txBody>
      </p:sp>
      <p:sp>
        <p:nvSpPr>
          <p:cNvPr id="13" name="Shape 11"/>
          <p:cNvSpPr/>
          <p:nvPr/>
        </p:nvSpPr>
        <p:spPr>
          <a:xfrm>
            <a:off x="7040880" y="2468880"/>
            <a:ext cx="1051560" cy="274320"/>
          </a:xfrm>
          <a:prstGeom prst="roundRect">
            <a:avLst>
              <a:gd name="adj" fmla="val 50000"/>
            </a:avLst>
          </a:prstGeom>
          <a:solidFill>
            <a:srgbClr val="10B981"/>
          </a:solidFill>
          <a:ln w="12700">
            <a:solidFill>
              <a:srgbClr val="10B981"/>
            </a:solidFill>
            <a:prstDash val="solid"/>
          </a:ln>
        </p:spPr>
      </p:sp>
      <p:sp>
        <p:nvSpPr>
          <p:cNvPr id="14" name="Text 12"/>
          <p:cNvSpPr/>
          <p:nvPr/>
        </p:nvSpPr>
        <p:spPr>
          <a:xfrm>
            <a:off x="7040880" y="246888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NPS 75</a:t>
            </a:r>
            <a:endParaRPr lang="en-US" sz="1000" dirty="0"/>
          </a:p>
        </p:txBody>
      </p:sp>
      <p:sp>
        <p:nvSpPr>
          <p:cNvPr id="15" name="Shape 13"/>
          <p:cNvSpPr/>
          <p:nvPr/>
        </p:nvSpPr>
        <p:spPr>
          <a:xfrm>
            <a:off x="365760" y="3090672"/>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48640" y="3200400"/>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3.3</a:t>
            </a:r>
            <a:endParaRPr lang="en-US" sz="1100" dirty="0"/>
          </a:p>
        </p:txBody>
      </p:sp>
      <p:sp>
        <p:nvSpPr>
          <p:cNvPr id="17" name="Text 15"/>
          <p:cNvSpPr/>
          <p:nvPr/>
        </p:nvSpPr>
        <p:spPr>
          <a:xfrm>
            <a:off x="1572768" y="3227832"/>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Resolver NPS crítico COBOE BOTIGA y FORUS SA (NPS -100) antes de agosto 2026</a:t>
            </a:r>
            <a:endParaRPr lang="en-US" sz="1300" dirty="0"/>
          </a:p>
        </p:txBody>
      </p:sp>
      <p:sp>
        <p:nvSpPr>
          <p:cNvPr id="18" name="Shape 16"/>
          <p:cNvSpPr/>
          <p:nvPr/>
        </p:nvSpPr>
        <p:spPr>
          <a:xfrm>
            <a:off x="7040880" y="3273552"/>
            <a:ext cx="1051560" cy="274320"/>
          </a:xfrm>
          <a:prstGeom prst="roundRect">
            <a:avLst>
              <a:gd name="adj" fmla="val 50000"/>
            </a:avLst>
          </a:prstGeom>
          <a:solidFill>
            <a:srgbClr val="10B981"/>
          </a:solidFill>
          <a:ln w="12700">
            <a:solidFill>
              <a:srgbClr val="10B981"/>
            </a:solidFill>
            <a:prstDash val="solid"/>
          </a:ln>
        </p:spPr>
      </p:sp>
      <p:sp>
        <p:nvSpPr>
          <p:cNvPr id="19" name="Text 17"/>
          <p:cNvSpPr/>
          <p:nvPr/>
        </p:nvSpPr>
        <p:spPr>
          <a:xfrm>
            <a:off x="7040880" y="3273552"/>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NPS ≥ 0</a:t>
            </a:r>
            <a:endParaRPr lang="en-US" sz="1000" dirty="0"/>
          </a:p>
        </p:txBody>
      </p:sp>
      <p:sp>
        <p:nvSpPr>
          <p:cNvPr id="20" name="Shape 18"/>
          <p:cNvSpPr/>
          <p:nvPr/>
        </p:nvSpPr>
        <p:spPr>
          <a:xfrm>
            <a:off x="365760" y="3895344"/>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548640" y="4005072"/>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3.4</a:t>
            </a:r>
            <a:endParaRPr lang="en-US" sz="1100" dirty="0"/>
          </a:p>
        </p:txBody>
      </p:sp>
      <p:sp>
        <p:nvSpPr>
          <p:cNvPr id="22" name="Text 20"/>
          <p:cNvSpPr/>
          <p:nvPr/>
        </p:nvSpPr>
        <p:spPr>
          <a:xfrm>
            <a:off x="1572768" y="4032504"/>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Llevar Health Score promedio de portafolio de 82% → 88% para diciembre 2026</a:t>
            </a:r>
            <a:endParaRPr lang="en-US" sz="1300" dirty="0"/>
          </a:p>
        </p:txBody>
      </p:sp>
      <p:sp>
        <p:nvSpPr>
          <p:cNvPr id="23" name="Shape 21"/>
          <p:cNvSpPr/>
          <p:nvPr/>
        </p:nvSpPr>
        <p:spPr>
          <a:xfrm>
            <a:off x="7040880" y="4078224"/>
            <a:ext cx="1051560" cy="274320"/>
          </a:xfrm>
          <a:prstGeom prst="roundRect">
            <a:avLst>
              <a:gd name="adj" fmla="val 50000"/>
            </a:avLst>
          </a:prstGeom>
          <a:solidFill>
            <a:srgbClr val="10B981"/>
          </a:solidFill>
          <a:ln w="12700">
            <a:solidFill>
              <a:srgbClr val="10B981"/>
            </a:solidFill>
            <a:prstDash val="solid"/>
          </a:ln>
        </p:spPr>
      </p:sp>
      <p:sp>
        <p:nvSpPr>
          <p:cNvPr id="24" name="Text 22"/>
          <p:cNvSpPr/>
          <p:nvPr/>
        </p:nvSpPr>
        <p:spPr>
          <a:xfrm>
            <a:off x="7040880" y="4078224"/>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HS 88%</a:t>
            </a:r>
            <a:endParaRPr lang="en-US" sz="1000" dirty="0"/>
          </a:p>
        </p:txBody>
      </p:sp>
      <p:sp>
        <p:nvSpPr>
          <p:cNvPr id="25" name="Shape 23"/>
          <p:cNvSpPr/>
          <p:nvPr/>
        </p:nvSpPr>
        <p:spPr>
          <a:xfrm>
            <a:off x="365760" y="4736592"/>
            <a:ext cx="8412480" cy="274320"/>
          </a:xfrm>
          <a:prstGeom prst="roundRect">
            <a:avLst>
              <a:gd name="adj" fmla="val 33333"/>
            </a:avLst>
          </a:prstGeom>
          <a:solidFill>
            <a:srgbClr val="FEF2F2"/>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6" name="Text 24"/>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 Críticos activos: FORUS COLOMBIA (migración bloqueada Dafiti) · COBOE BOTIGA (NPS -100) · FORUS SA (NPS -100) — prioridad semana 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1371600" cy="27432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4</a:t>
            </a:r>
            <a:endParaRPr lang="en-US" sz="1000" dirty="0"/>
          </a:p>
        </p:txBody>
      </p:sp>
      <p:sp>
        <p:nvSpPr>
          <p:cNvPr id="3" name="Text 1"/>
          <p:cNvSpPr/>
          <p:nvPr/>
        </p:nvSpPr>
        <p:spPr>
          <a:xfrm>
            <a:off x="457200" y="457200"/>
            <a:ext cx="8229600" cy="594360"/>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Migración Centry → AnyMarket</a:t>
            </a:r>
            <a:endParaRPr lang="en-US" sz="2500" dirty="0"/>
          </a:p>
        </p:txBody>
      </p:sp>
      <p:sp>
        <p:nvSpPr>
          <p:cNvPr id="4" name="Text 2"/>
          <p:cNvSpPr/>
          <p:nvPr/>
        </p:nvSpPr>
        <p:spPr>
          <a:xfrm>
            <a:off x="457200" y="1024128"/>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Completar migración de los 6 clientes Centry con adopción funcional desde el primer mes post-migración</a:t>
            </a:r>
            <a:endParaRPr lang="en-US" sz="1300" dirty="0"/>
          </a:p>
        </p:txBody>
      </p:sp>
      <p:sp>
        <p:nvSpPr>
          <p:cNvPr id="5" name="Shape 3"/>
          <p:cNvSpPr/>
          <p:nvPr/>
        </p:nvSpPr>
        <p:spPr>
          <a:xfrm>
            <a:off x="365760" y="1481328"/>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4.1</a:t>
            </a:r>
            <a:endParaRPr lang="en-US" sz="1100" dirty="0"/>
          </a:p>
        </p:txBody>
      </p:sp>
      <p:sp>
        <p:nvSpPr>
          <p:cNvPr id="7" name="Text 5"/>
          <p:cNvSpPr/>
          <p:nvPr/>
        </p:nvSpPr>
        <p:spPr>
          <a:xfrm>
            <a:off x="1572768" y="1618488"/>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los 6 clientes Centry con migración técnica completada antes de octubre 2026</a:t>
            </a:r>
            <a:endParaRPr lang="en-US" sz="1300" dirty="0"/>
          </a:p>
        </p:txBody>
      </p:sp>
      <p:sp>
        <p:nvSpPr>
          <p:cNvPr id="8" name="Shape 6"/>
          <p:cNvSpPr/>
          <p:nvPr/>
        </p:nvSpPr>
        <p:spPr>
          <a:xfrm>
            <a:off x="7040880" y="1664208"/>
            <a:ext cx="1051560" cy="274320"/>
          </a:xfrm>
          <a:prstGeom prst="roundRect">
            <a:avLst>
              <a:gd name="adj" fmla="val 50000"/>
            </a:avLst>
          </a:prstGeom>
          <a:solidFill>
            <a:srgbClr val="3B82F6"/>
          </a:solidFill>
          <a:ln w="12700">
            <a:solidFill>
              <a:srgbClr val="3B82F6"/>
            </a:solidFill>
            <a:prstDash val="solid"/>
          </a:ln>
        </p:spPr>
      </p:sp>
      <p:sp>
        <p:nvSpPr>
          <p:cNvPr id="9" name="Text 7"/>
          <p:cNvSpPr/>
          <p:nvPr/>
        </p:nvSpPr>
        <p:spPr>
          <a:xfrm>
            <a:off x="7040880" y="1664208"/>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oct 2026</a:t>
            </a:r>
            <a:endParaRPr lang="en-US" sz="1000" dirty="0"/>
          </a:p>
        </p:txBody>
      </p:sp>
      <p:sp>
        <p:nvSpPr>
          <p:cNvPr id="10" name="Shape 8"/>
          <p:cNvSpPr/>
          <p:nvPr/>
        </p:nvSpPr>
        <p:spPr>
          <a:xfrm>
            <a:off x="365760" y="2286000"/>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548640" y="2395728"/>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4.2</a:t>
            </a:r>
            <a:endParaRPr lang="en-US" sz="1100" dirty="0"/>
          </a:p>
        </p:txBody>
      </p:sp>
      <p:sp>
        <p:nvSpPr>
          <p:cNvPr id="12" name="Text 10"/>
          <p:cNvSpPr/>
          <p:nvPr/>
        </p:nvSpPr>
        <p:spPr>
          <a:xfrm>
            <a:off x="1572768" y="2423160"/>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Lograr ≥20% de Use Points consumidos en primer mes AnyMarket para cada cliente Centry</a:t>
            </a:r>
            <a:endParaRPr lang="en-US" sz="1300" dirty="0"/>
          </a:p>
        </p:txBody>
      </p:sp>
      <p:sp>
        <p:nvSpPr>
          <p:cNvPr id="13" name="Shape 11"/>
          <p:cNvSpPr/>
          <p:nvPr/>
        </p:nvSpPr>
        <p:spPr>
          <a:xfrm>
            <a:off x="7040880" y="2468880"/>
            <a:ext cx="1051560" cy="274320"/>
          </a:xfrm>
          <a:prstGeom prst="roundRect">
            <a:avLst>
              <a:gd name="adj" fmla="val 50000"/>
            </a:avLst>
          </a:prstGeom>
          <a:solidFill>
            <a:srgbClr val="3B82F6"/>
          </a:solidFill>
          <a:ln w="12700">
            <a:solidFill>
              <a:srgbClr val="3B82F6"/>
            </a:solidFill>
            <a:prstDash val="solid"/>
          </a:ln>
        </p:spPr>
      </p:sp>
      <p:sp>
        <p:nvSpPr>
          <p:cNvPr id="14" name="Text 12"/>
          <p:cNvSpPr/>
          <p:nvPr/>
        </p:nvSpPr>
        <p:spPr>
          <a:xfrm>
            <a:off x="7040880" y="246888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 UP mes 1</a:t>
            </a:r>
            <a:endParaRPr lang="en-US" sz="1000" dirty="0"/>
          </a:p>
        </p:txBody>
      </p:sp>
      <p:sp>
        <p:nvSpPr>
          <p:cNvPr id="15" name="Shape 13"/>
          <p:cNvSpPr/>
          <p:nvPr/>
        </p:nvSpPr>
        <p:spPr>
          <a:xfrm>
            <a:off x="365760" y="3090672"/>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48640" y="3200400"/>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4.3</a:t>
            </a:r>
            <a:endParaRPr lang="en-US" sz="1100" dirty="0"/>
          </a:p>
        </p:txBody>
      </p:sp>
      <p:sp>
        <p:nvSpPr>
          <p:cNvPr id="17" name="Text 15"/>
          <p:cNvSpPr/>
          <p:nvPr/>
        </p:nvSpPr>
        <p:spPr>
          <a:xfrm>
            <a:off x="1572768" y="3227832"/>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Completar debloqueo de FORUS COLOMBIA en Dafiti antes de agosto 2026</a:t>
            </a:r>
            <a:endParaRPr lang="en-US" sz="1300" dirty="0"/>
          </a:p>
        </p:txBody>
      </p:sp>
      <p:sp>
        <p:nvSpPr>
          <p:cNvPr id="18" name="Shape 16"/>
          <p:cNvSpPr/>
          <p:nvPr/>
        </p:nvSpPr>
        <p:spPr>
          <a:xfrm>
            <a:off x="7040880" y="3273552"/>
            <a:ext cx="1051560" cy="274320"/>
          </a:xfrm>
          <a:prstGeom prst="roundRect">
            <a:avLst>
              <a:gd name="adj" fmla="val 50000"/>
            </a:avLst>
          </a:prstGeom>
          <a:solidFill>
            <a:srgbClr val="3B82F6"/>
          </a:solidFill>
          <a:ln w="12700">
            <a:solidFill>
              <a:srgbClr val="3B82F6"/>
            </a:solidFill>
            <a:prstDash val="solid"/>
          </a:ln>
        </p:spPr>
      </p:sp>
      <p:sp>
        <p:nvSpPr>
          <p:cNvPr id="19" name="Text 17"/>
          <p:cNvSpPr/>
          <p:nvPr/>
        </p:nvSpPr>
        <p:spPr>
          <a:xfrm>
            <a:off x="7040880" y="3273552"/>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ago 2026</a:t>
            </a:r>
            <a:endParaRPr lang="en-US" sz="1000" dirty="0"/>
          </a:p>
        </p:txBody>
      </p:sp>
      <p:sp>
        <p:nvSpPr>
          <p:cNvPr id="20" name="Shape 18"/>
          <p:cNvSpPr/>
          <p:nvPr/>
        </p:nvSpPr>
        <p:spPr>
          <a:xfrm>
            <a:off x="365760" y="3895344"/>
            <a:ext cx="8412480" cy="685800"/>
          </a:xfrm>
          <a:prstGeom prst="roundRect">
            <a:avLst>
              <a:gd name="adj" fmla="val 13333"/>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1" name="Text 19"/>
          <p:cNvSpPr/>
          <p:nvPr/>
        </p:nvSpPr>
        <p:spPr>
          <a:xfrm>
            <a:off x="548640" y="4005072"/>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4.4</a:t>
            </a:r>
            <a:endParaRPr lang="en-US" sz="1100" dirty="0"/>
          </a:p>
        </p:txBody>
      </p:sp>
      <p:sp>
        <p:nvSpPr>
          <p:cNvPr id="22" name="Text 20"/>
          <p:cNvSpPr/>
          <p:nvPr/>
        </p:nvSpPr>
        <p:spPr>
          <a:xfrm>
            <a:off x="1572768" y="4032504"/>
            <a:ext cx="525780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primer Executive Business Review con Forus Group (SA+CO+PE) antes de septiembre</a:t>
            </a:r>
            <a:endParaRPr lang="en-US" sz="1300" dirty="0"/>
          </a:p>
        </p:txBody>
      </p:sp>
      <p:sp>
        <p:nvSpPr>
          <p:cNvPr id="23" name="Shape 21"/>
          <p:cNvSpPr/>
          <p:nvPr/>
        </p:nvSpPr>
        <p:spPr>
          <a:xfrm>
            <a:off x="7040880" y="4078224"/>
            <a:ext cx="1051560" cy="274320"/>
          </a:xfrm>
          <a:prstGeom prst="roundRect">
            <a:avLst>
              <a:gd name="adj" fmla="val 50000"/>
            </a:avLst>
          </a:prstGeom>
          <a:solidFill>
            <a:srgbClr val="3B82F6"/>
          </a:solidFill>
          <a:ln w="12700">
            <a:solidFill>
              <a:srgbClr val="3B82F6"/>
            </a:solidFill>
            <a:prstDash val="solid"/>
          </a:ln>
        </p:spPr>
      </p:sp>
      <p:sp>
        <p:nvSpPr>
          <p:cNvPr id="24" name="Text 22"/>
          <p:cNvSpPr/>
          <p:nvPr/>
        </p:nvSpPr>
        <p:spPr>
          <a:xfrm>
            <a:off x="7040880" y="4078224"/>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sept 2026</a:t>
            </a:r>
            <a:endParaRPr lang="en-US" sz="1000" dirty="0"/>
          </a:p>
        </p:txBody>
      </p:sp>
      <p:sp>
        <p:nvSpPr>
          <p:cNvPr id="25" name="Shape 23"/>
          <p:cNvSpPr/>
          <p:nvPr/>
        </p:nvSpPr>
        <p:spPr>
          <a:xfrm>
            <a:off x="365760" y="4736592"/>
            <a:ext cx="8412480" cy="274320"/>
          </a:xfrm>
          <a:prstGeom prst="roundRect">
            <a:avLst>
              <a:gd name="adj" fmla="val 33333"/>
            </a:avLst>
          </a:prstGeom>
          <a:solidFill>
            <a:srgbClr val="EFF6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6" name="Text 24"/>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1E40AF"/>
                </a:solidFill>
                <a:latin typeface="Calibri" pitchFamily="34" charset="0"/>
                <a:ea typeface="Calibri" pitchFamily="34" charset="-122"/>
                <a:cs typeface="Calibri" pitchFamily="34" charset="-120"/>
              </a:rPr>
              <a:t>📦 Clientes Centry: FORUS SA · FORUS CO · FORUS PE · GINO · LOUNGE S/A · MAISA — mayor oportunidad de GMV nuevo del semestre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KPIs POR HERRAMIENTA</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AnyTools — Métricas de éxito H2 2026</a:t>
            </a:r>
            <a:endParaRPr lang="en-US" sz="2600" dirty="0"/>
          </a:p>
        </p:txBody>
      </p:sp>
      <p:sp>
        <p:nvSpPr>
          <p:cNvPr id="4" name="Shape 2"/>
          <p:cNvSpPr/>
          <p:nvPr/>
        </p:nvSpPr>
        <p:spPr>
          <a:xfrm>
            <a:off x="320040" y="1024128"/>
            <a:ext cx="4206240" cy="1828800"/>
          </a:xfrm>
          <a:prstGeom prst="roundRect">
            <a:avLst>
              <a:gd name="adj" fmla="val 6000"/>
            </a:avLst>
          </a:prstGeom>
          <a:solidFill>
            <a:srgbClr val="F5F3FF"/>
          </a:solidFill>
          <a:ln w="12700">
            <a:solidFill>
              <a:srgbClr val="7C3AED"/>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502920" y="1133856"/>
            <a:ext cx="3840480" cy="347472"/>
          </a:xfrm>
          <a:prstGeom prst="rect">
            <a:avLst/>
          </a:prstGeom>
          <a:noFill/>
          <a:ln/>
        </p:spPr>
        <p:txBody>
          <a:bodyPr wrap="square" lIns="0" tIns="0" rIns="0" bIns="0" rtlCol="0" anchor="ctr"/>
          <a:lstStyle/>
          <a:p>
            <a:pPr indent="0" marL="0">
              <a:buNone/>
            </a:pPr>
            <a:r>
              <a:rPr lang="en-US" sz="1600" b="1" dirty="0">
                <a:solidFill>
                  <a:srgbClr val="7C3AED"/>
                </a:solidFill>
                <a:latin typeface="Calibri" pitchFamily="34" charset="0"/>
                <a:ea typeface="Calibri" pitchFamily="34" charset="-122"/>
                <a:cs typeface="Calibri" pitchFamily="34" charset="-120"/>
              </a:rPr>
              <a:t>⚡ Predize</a:t>
            </a:r>
            <a:endParaRPr lang="en-US" sz="1600" dirty="0"/>
          </a:p>
        </p:txBody>
      </p:sp>
      <p:sp>
        <p:nvSpPr>
          <p:cNvPr id="6" name="Text 4"/>
          <p:cNvSpPr/>
          <p:nvPr/>
        </p:nvSpPr>
        <p:spPr>
          <a:xfrm>
            <a:off x="502920" y="1463040"/>
            <a:ext cx="3840480" cy="256032"/>
          </a:xfrm>
          <a:prstGeom prst="rect">
            <a:avLst/>
          </a:prstGeom>
          <a:noFill/>
          <a:ln/>
        </p:spPr>
        <p:txBody>
          <a:bodyPr wrap="square" lIns="0" tIns="0" rIns="0" bIns="0" rtlCol="0" anchor="ctr"/>
          <a:lstStyle/>
          <a:p>
            <a:pPr indent="0" marL="0">
              <a:buNone/>
            </a:pPr>
            <a:r>
              <a:rPr lang="en-US" sz="1100" i="1" dirty="0">
                <a:solidFill>
                  <a:srgbClr val="7B93AA"/>
                </a:solidFill>
                <a:latin typeface="Calibri" pitchFamily="34" charset="0"/>
                <a:ea typeface="Calibri" pitchFamily="34" charset="-122"/>
                <a:cs typeface="Calibri" pitchFamily="34" charset="-120"/>
              </a:rPr>
              <a:t>Repricing inteligente</a:t>
            </a:r>
            <a:endParaRPr lang="en-US" sz="1100" dirty="0"/>
          </a:p>
        </p:txBody>
      </p:sp>
      <p:sp>
        <p:nvSpPr>
          <p:cNvPr id="7" name="Text 5"/>
          <p:cNvSpPr/>
          <p:nvPr/>
        </p:nvSpPr>
        <p:spPr>
          <a:xfrm>
            <a:off x="502920" y="1755648"/>
            <a:ext cx="388620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Adopt. rate → 30% cartera activa</a:t>
            </a:r>
            <a:endParaRPr lang="en-US" sz="1200" dirty="0"/>
          </a:p>
        </p:txBody>
      </p:sp>
      <p:sp>
        <p:nvSpPr>
          <p:cNvPr id="8" name="Text 6"/>
          <p:cNvSpPr/>
          <p:nvPr/>
        </p:nvSpPr>
        <p:spPr>
          <a:xfrm>
            <a:off x="502920" y="2029968"/>
            <a:ext cx="388620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Demos realizadas → 5 en H2</a:t>
            </a:r>
            <a:endParaRPr lang="en-US" sz="1200" dirty="0"/>
          </a:p>
        </p:txBody>
      </p:sp>
      <p:sp>
        <p:nvSpPr>
          <p:cNvPr id="9" name="Text 7"/>
          <p:cNvSpPr/>
          <p:nvPr/>
        </p:nvSpPr>
        <p:spPr>
          <a:xfrm>
            <a:off x="502920" y="2304288"/>
            <a:ext cx="388620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Contratos nuevos → 3</a:t>
            </a:r>
            <a:endParaRPr lang="en-US" sz="1200" dirty="0"/>
          </a:p>
        </p:txBody>
      </p:sp>
      <p:sp>
        <p:nvSpPr>
          <p:cNvPr id="10" name="Text 8"/>
          <p:cNvSpPr/>
          <p:nvPr/>
        </p:nvSpPr>
        <p:spPr>
          <a:xfrm>
            <a:off x="502920" y="2578608"/>
            <a:ext cx="3886200" cy="256032"/>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Buy Box mejora → +8pp por cliente</a:t>
            </a:r>
            <a:endParaRPr lang="en-US" sz="1200" dirty="0"/>
          </a:p>
        </p:txBody>
      </p:sp>
      <p:sp>
        <p:nvSpPr>
          <p:cNvPr id="11" name="Shape 9"/>
          <p:cNvSpPr/>
          <p:nvPr/>
        </p:nvSpPr>
        <p:spPr>
          <a:xfrm>
            <a:off x="4709160" y="1024128"/>
            <a:ext cx="4206240" cy="1828800"/>
          </a:xfrm>
          <a:prstGeom prst="roundRect">
            <a:avLst>
              <a:gd name="adj" fmla="val 6000"/>
            </a:avLst>
          </a:prstGeom>
          <a:solidFill>
            <a:srgbClr val="FDF2F8"/>
          </a:solidFill>
          <a:ln w="12700">
            <a:solidFill>
              <a:srgbClr val="DB2777"/>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4892040" y="1133856"/>
            <a:ext cx="3840480" cy="347472"/>
          </a:xfrm>
          <a:prstGeom prst="rect">
            <a:avLst/>
          </a:prstGeom>
          <a:noFill/>
          <a:ln/>
        </p:spPr>
        <p:txBody>
          <a:bodyPr wrap="square" lIns="0" tIns="0" rIns="0" bIns="0" rtlCol="0" anchor="ctr"/>
          <a:lstStyle/>
          <a:p>
            <a:pPr indent="0" marL="0">
              <a:buNone/>
            </a:pPr>
            <a:r>
              <a:rPr lang="en-US" sz="1600" b="1" dirty="0">
                <a:solidFill>
                  <a:srgbClr val="DB2777"/>
                </a:solidFill>
                <a:latin typeface="Calibri" pitchFamily="34" charset="0"/>
                <a:ea typeface="Calibri" pitchFamily="34" charset="-122"/>
                <a:cs typeface="Calibri" pitchFamily="34" charset="-120"/>
              </a:rPr>
              <a:t>🏷 Marca Seleta</a:t>
            </a:r>
            <a:endParaRPr lang="en-US" sz="1600" dirty="0"/>
          </a:p>
        </p:txBody>
      </p:sp>
      <p:sp>
        <p:nvSpPr>
          <p:cNvPr id="13" name="Text 11"/>
          <p:cNvSpPr/>
          <p:nvPr/>
        </p:nvSpPr>
        <p:spPr>
          <a:xfrm>
            <a:off x="4892040" y="1463040"/>
            <a:ext cx="3840480" cy="256032"/>
          </a:xfrm>
          <a:prstGeom prst="rect">
            <a:avLst/>
          </a:prstGeom>
          <a:noFill/>
          <a:ln/>
        </p:spPr>
        <p:txBody>
          <a:bodyPr wrap="square" lIns="0" tIns="0" rIns="0" bIns="0" rtlCol="0" anchor="ctr"/>
          <a:lstStyle/>
          <a:p>
            <a:pPr indent="0" marL="0">
              <a:buNone/>
            </a:pPr>
            <a:r>
              <a:rPr lang="en-US" sz="1100" i="1" dirty="0">
                <a:solidFill>
                  <a:srgbClr val="7B93AA"/>
                </a:solidFill>
                <a:latin typeface="Calibri" pitchFamily="34" charset="0"/>
                <a:ea typeface="Calibri" pitchFamily="34" charset="-122"/>
                <a:cs typeface="Calibri" pitchFamily="34" charset="-120"/>
              </a:rPr>
              <a:t>Protección de marca</a:t>
            </a:r>
            <a:endParaRPr lang="en-US" sz="1100" dirty="0"/>
          </a:p>
        </p:txBody>
      </p:sp>
      <p:sp>
        <p:nvSpPr>
          <p:cNvPr id="14" name="Text 12"/>
          <p:cNvSpPr/>
          <p:nvPr/>
        </p:nvSpPr>
        <p:spPr>
          <a:xfrm>
            <a:off x="4892040" y="1755648"/>
            <a:ext cx="3886200" cy="256032"/>
          </a:xfrm>
          <a:prstGeom prst="rect">
            <a:avLst/>
          </a:prstGeom>
          <a:noFill/>
          <a:ln/>
        </p:spPr>
        <p:txBody>
          <a:bodyPr wrap="square" lIns="0" tIns="0" rIns="0" bIns="0" rtlCol="0" anchor="ctr"/>
          <a:lstStyle/>
          <a:p>
            <a:pPr indent="0" marL="0">
              <a:buNone/>
            </a:pPr>
            <a:r>
              <a:rPr lang="en-US" sz="1200" b="1" dirty="0">
                <a:solidFill>
                  <a:srgbClr val="DB2777"/>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Adopt. rate → 20% cartera activa</a:t>
            </a:r>
            <a:endParaRPr lang="en-US" sz="1200" dirty="0"/>
          </a:p>
        </p:txBody>
      </p:sp>
      <p:sp>
        <p:nvSpPr>
          <p:cNvPr id="15" name="Text 13"/>
          <p:cNvSpPr/>
          <p:nvPr/>
        </p:nvSpPr>
        <p:spPr>
          <a:xfrm>
            <a:off x="4892040" y="2029968"/>
            <a:ext cx="3886200" cy="256032"/>
          </a:xfrm>
          <a:prstGeom prst="rect">
            <a:avLst/>
          </a:prstGeom>
          <a:noFill/>
          <a:ln/>
        </p:spPr>
        <p:txBody>
          <a:bodyPr wrap="square" lIns="0" tIns="0" rIns="0" bIns="0" rtlCol="0" anchor="ctr"/>
          <a:lstStyle/>
          <a:p>
            <a:pPr indent="0" marL="0">
              <a:buNone/>
            </a:pPr>
            <a:r>
              <a:rPr lang="en-US" sz="1200" b="1" dirty="0">
                <a:solidFill>
                  <a:srgbClr val="DB2777"/>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Clientes Enterprise → 100% presentados</a:t>
            </a:r>
            <a:endParaRPr lang="en-US" sz="1200" dirty="0"/>
          </a:p>
        </p:txBody>
      </p:sp>
      <p:sp>
        <p:nvSpPr>
          <p:cNvPr id="16" name="Text 14"/>
          <p:cNvSpPr/>
          <p:nvPr/>
        </p:nvSpPr>
        <p:spPr>
          <a:xfrm>
            <a:off x="4892040" y="2304288"/>
            <a:ext cx="3886200" cy="256032"/>
          </a:xfrm>
          <a:prstGeom prst="rect">
            <a:avLst/>
          </a:prstGeom>
          <a:noFill/>
          <a:ln/>
        </p:spPr>
        <p:txBody>
          <a:bodyPr wrap="square" lIns="0" tIns="0" rIns="0" bIns="0" rtlCol="0" anchor="ctr"/>
          <a:lstStyle/>
          <a:p>
            <a:pPr indent="0" marL="0">
              <a:buNone/>
            </a:pPr>
            <a:r>
              <a:rPr lang="en-US" sz="1200" b="1" dirty="0">
                <a:solidFill>
                  <a:srgbClr val="DB2777"/>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Activaciones nuevas → 2</a:t>
            </a:r>
            <a:endParaRPr lang="en-US" sz="1200" dirty="0"/>
          </a:p>
        </p:txBody>
      </p:sp>
      <p:sp>
        <p:nvSpPr>
          <p:cNvPr id="17" name="Text 15"/>
          <p:cNvSpPr/>
          <p:nvPr/>
        </p:nvSpPr>
        <p:spPr>
          <a:xfrm>
            <a:off x="4892040" y="2578608"/>
            <a:ext cx="3886200" cy="256032"/>
          </a:xfrm>
          <a:prstGeom prst="rect">
            <a:avLst/>
          </a:prstGeom>
          <a:noFill/>
          <a:ln/>
        </p:spPr>
        <p:txBody>
          <a:bodyPr wrap="square" lIns="0" tIns="0" rIns="0" bIns="0" rtlCol="0" anchor="ctr"/>
          <a:lstStyle/>
          <a:p>
            <a:pPr indent="0" marL="0">
              <a:buNone/>
            </a:pPr>
            <a:r>
              <a:rPr lang="en-US" sz="1200" b="1" dirty="0">
                <a:solidFill>
                  <a:srgbClr val="DB2777"/>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NPS post-activación → ≥70</a:t>
            </a:r>
            <a:endParaRPr lang="en-US" sz="1200" dirty="0"/>
          </a:p>
        </p:txBody>
      </p:sp>
      <p:sp>
        <p:nvSpPr>
          <p:cNvPr id="18" name="Shape 16"/>
          <p:cNvSpPr/>
          <p:nvPr/>
        </p:nvSpPr>
        <p:spPr>
          <a:xfrm>
            <a:off x="320040" y="2990088"/>
            <a:ext cx="4206240" cy="1828800"/>
          </a:xfrm>
          <a:prstGeom prst="roundRect">
            <a:avLst>
              <a:gd name="adj" fmla="val 6000"/>
            </a:avLst>
          </a:prstGeom>
          <a:solidFill>
            <a:srgbClr val="ECFEFF"/>
          </a:solidFill>
          <a:ln w="12700">
            <a:solidFill>
              <a:srgbClr val="0891B2"/>
            </a:solidFill>
            <a:prstDash val="solid"/>
          </a:ln>
          <a:effectLst>
            <a:outerShdw sx="100000" sy="100000" kx="0" ky="0" algn="bl" rotWithShape="0" blurRad="101600" dist="38100" dir="2700000">
              <a:srgbClr val="000000">
                <a:alpha val="18000"/>
              </a:srgbClr>
            </a:outerShdw>
          </a:effectLst>
        </p:spPr>
      </p:sp>
      <p:sp>
        <p:nvSpPr>
          <p:cNvPr id="19" name="Text 17"/>
          <p:cNvSpPr/>
          <p:nvPr/>
        </p:nvSpPr>
        <p:spPr>
          <a:xfrm>
            <a:off x="502920" y="3099816"/>
            <a:ext cx="3840480" cy="347472"/>
          </a:xfrm>
          <a:prstGeom prst="rect">
            <a:avLst/>
          </a:prstGeom>
          <a:noFill/>
          <a:ln/>
        </p:spPr>
        <p:txBody>
          <a:bodyPr wrap="square" lIns="0" tIns="0" rIns="0" bIns="0" rtlCol="0" anchor="ctr"/>
          <a:lstStyle/>
          <a:p>
            <a:pPr indent="0" marL="0">
              <a:buNone/>
            </a:pPr>
            <a:r>
              <a:rPr lang="en-US" sz="1600" b="1" dirty="0">
                <a:solidFill>
                  <a:srgbClr val="0891B2"/>
                </a:solidFill>
                <a:latin typeface="Calibri" pitchFamily="34" charset="0"/>
                <a:ea typeface="Calibri" pitchFamily="34" charset="-122"/>
                <a:cs typeface="Calibri" pitchFamily="34" charset="-120"/>
              </a:rPr>
              <a:t>🔢 Koncili</a:t>
            </a:r>
            <a:endParaRPr lang="en-US" sz="1600" dirty="0"/>
          </a:p>
        </p:txBody>
      </p:sp>
      <p:sp>
        <p:nvSpPr>
          <p:cNvPr id="20" name="Text 18"/>
          <p:cNvSpPr/>
          <p:nvPr/>
        </p:nvSpPr>
        <p:spPr>
          <a:xfrm>
            <a:off x="502920" y="3429000"/>
            <a:ext cx="3840480" cy="256032"/>
          </a:xfrm>
          <a:prstGeom prst="rect">
            <a:avLst/>
          </a:prstGeom>
          <a:noFill/>
          <a:ln/>
        </p:spPr>
        <p:txBody>
          <a:bodyPr wrap="square" lIns="0" tIns="0" rIns="0" bIns="0" rtlCol="0" anchor="ctr"/>
          <a:lstStyle/>
          <a:p>
            <a:pPr indent="0" marL="0">
              <a:buNone/>
            </a:pPr>
            <a:r>
              <a:rPr lang="en-US" sz="1100" i="1" dirty="0">
                <a:solidFill>
                  <a:srgbClr val="7B93AA"/>
                </a:solidFill>
                <a:latin typeface="Calibri" pitchFamily="34" charset="0"/>
                <a:ea typeface="Calibri" pitchFamily="34" charset="-122"/>
                <a:cs typeface="Calibri" pitchFamily="34" charset="-120"/>
              </a:rPr>
              <a:t>Conciliación financiera</a:t>
            </a:r>
            <a:endParaRPr lang="en-US" sz="1100" dirty="0"/>
          </a:p>
        </p:txBody>
      </p:sp>
      <p:sp>
        <p:nvSpPr>
          <p:cNvPr id="21" name="Text 19"/>
          <p:cNvSpPr/>
          <p:nvPr/>
        </p:nvSpPr>
        <p:spPr>
          <a:xfrm>
            <a:off x="502920" y="3721608"/>
            <a:ext cx="388620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Adopt. rate → 25% cartera activa</a:t>
            </a:r>
            <a:endParaRPr lang="en-US" sz="1200" dirty="0"/>
          </a:p>
        </p:txBody>
      </p:sp>
      <p:sp>
        <p:nvSpPr>
          <p:cNvPr id="22" name="Text 20"/>
          <p:cNvSpPr/>
          <p:nvPr/>
        </p:nvSpPr>
        <p:spPr>
          <a:xfrm>
            <a:off x="502920" y="3995928"/>
            <a:ext cx="388620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Onboarding &lt; 30 días</a:t>
            </a:r>
            <a:endParaRPr lang="en-US" sz="1200" dirty="0"/>
          </a:p>
        </p:txBody>
      </p:sp>
      <p:sp>
        <p:nvSpPr>
          <p:cNvPr id="23" name="Text 21"/>
          <p:cNvSpPr/>
          <p:nvPr/>
        </p:nvSpPr>
        <p:spPr>
          <a:xfrm>
            <a:off x="502920" y="4270248"/>
            <a:ext cx="388620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Contratos nuevos → 2</a:t>
            </a:r>
            <a:endParaRPr lang="en-US" sz="1200" dirty="0"/>
          </a:p>
        </p:txBody>
      </p:sp>
      <p:sp>
        <p:nvSpPr>
          <p:cNvPr id="24" name="Text 22"/>
          <p:cNvSpPr/>
          <p:nvPr/>
        </p:nvSpPr>
        <p:spPr>
          <a:xfrm>
            <a:off x="502920" y="4544568"/>
            <a:ext cx="3886200" cy="256032"/>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Errores financieros detectados → KPI base</a:t>
            </a:r>
            <a:endParaRPr lang="en-US" sz="1200" dirty="0"/>
          </a:p>
        </p:txBody>
      </p:sp>
      <p:sp>
        <p:nvSpPr>
          <p:cNvPr id="25" name="Shape 23"/>
          <p:cNvSpPr/>
          <p:nvPr/>
        </p:nvSpPr>
        <p:spPr>
          <a:xfrm>
            <a:off x="4709160" y="2990088"/>
            <a:ext cx="4206240" cy="1828800"/>
          </a:xfrm>
          <a:prstGeom prst="roundRect">
            <a:avLst>
              <a:gd name="adj" fmla="val 6000"/>
            </a:avLst>
          </a:prstGeom>
          <a:solidFill>
            <a:srgbClr val="ECFDF5"/>
          </a:solidFill>
          <a:ln w="12700">
            <a:solidFill>
              <a:srgbClr val="059669"/>
            </a:solidFill>
            <a:prstDash val="solid"/>
          </a:ln>
          <a:effectLst>
            <a:outerShdw sx="100000" sy="100000" kx="0" ky="0" algn="bl" rotWithShape="0" blurRad="101600" dist="38100" dir="2700000">
              <a:srgbClr val="000000">
                <a:alpha val="18000"/>
              </a:srgbClr>
            </a:outerShdw>
          </a:effectLst>
        </p:spPr>
      </p:sp>
      <p:sp>
        <p:nvSpPr>
          <p:cNvPr id="26" name="Text 24"/>
          <p:cNvSpPr/>
          <p:nvPr/>
        </p:nvSpPr>
        <p:spPr>
          <a:xfrm>
            <a:off x="4892040" y="3099816"/>
            <a:ext cx="3840480" cy="347472"/>
          </a:xfrm>
          <a:prstGeom prst="rect">
            <a:avLst/>
          </a:prstGeom>
          <a:noFill/>
          <a:ln/>
        </p:spPr>
        <p:txBody>
          <a:bodyPr wrap="square" lIns="0" tIns="0" rIns="0" bIns="0" rtlCol="0" anchor="ctr"/>
          <a:lstStyle/>
          <a:p>
            <a:pPr indent="0" marL="0">
              <a:buNone/>
            </a:pPr>
            <a:r>
              <a:rPr lang="en-US" sz="1600" b="1" dirty="0">
                <a:solidFill>
                  <a:srgbClr val="059669"/>
                </a:solidFill>
                <a:latin typeface="Calibri" pitchFamily="34" charset="0"/>
                <a:ea typeface="Calibri" pitchFamily="34" charset="-122"/>
                <a:cs typeface="Calibri" pitchFamily="34" charset="-120"/>
              </a:rPr>
              <a:t>👁 WinnerBox</a:t>
            </a:r>
            <a:endParaRPr lang="en-US" sz="1600" dirty="0"/>
          </a:p>
        </p:txBody>
      </p:sp>
      <p:sp>
        <p:nvSpPr>
          <p:cNvPr id="27" name="Text 25"/>
          <p:cNvSpPr/>
          <p:nvPr/>
        </p:nvSpPr>
        <p:spPr>
          <a:xfrm>
            <a:off x="4892040" y="3429000"/>
            <a:ext cx="3840480" cy="256032"/>
          </a:xfrm>
          <a:prstGeom prst="rect">
            <a:avLst/>
          </a:prstGeom>
          <a:noFill/>
          <a:ln/>
        </p:spPr>
        <p:txBody>
          <a:bodyPr wrap="square" lIns="0" tIns="0" rIns="0" bIns="0" rtlCol="0" anchor="ctr"/>
          <a:lstStyle/>
          <a:p>
            <a:pPr indent="0" marL="0">
              <a:buNone/>
            </a:pPr>
            <a:r>
              <a:rPr lang="en-US" sz="1100" i="1" dirty="0">
                <a:solidFill>
                  <a:srgbClr val="7B93AA"/>
                </a:solidFill>
                <a:latin typeface="Calibri" pitchFamily="34" charset="0"/>
                <a:ea typeface="Calibri" pitchFamily="34" charset="-122"/>
                <a:cs typeface="Calibri" pitchFamily="34" charset="-120"/>
              </a:rPr>
              <a:t>Inteligencia competitiva</a:t>
            </a:r>
            <a:endParaRPr lang="en-US" sz="1100" dirty="0"/>
          </a:p>
        </p:txBody>
      </p:sp>
      <p:sp>
        <p:nvSpPr>
          <p:cNvPr id="28" name="Text 26"/>
          <p:cNvSpPr/>
          <p:nvPr/>
        </p:nvSpPr>
        <p:spPr>
          <a:xfrm>
            <a:off x="4892040" y="3721608"/>
            <a:ext cx="3886200" cy="256032"/>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Clientes con acceso → 4 nuevos</a:t>
            </a:r>
            <a:endParaRPr lang="en-US" sz="1200" dirty="0"/>
          </a:p>
        </p:txBody>
      </p:sp>
      <p:sp>
        <p:nvSpPr>
          <p:cNvPr id="29" name="Text 27"/>
          <p:cNvSpPr/>
          <p:nvPr/>
        </p:nvSpPr>
        <p:spPr>
          <a:xfrm>
            <a:off x="4892040" y="3995928"/>
            <a:ext cx="3886200" cy="256032"/>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Demos realizadas → 6 en H2</a:t>
            </a:r>
            <a:endParaRPr lang="en-US" sz="1200" dirty="0"/>
          </a:p>
        </p:txBody>
      </p:sp>
      <p:sp>
        <p:nvSpPr>
          <p:cNvPr id="30" name="Text 28"/>
          <p:cNvSpPr/>
          <p:nvPr/>
        </p:nvSpPr>
        <p:spPr>
          <a:xfrm>
            <a:off x="4892040" y="4270248"/>
            <a:ext cx="3886200" cy="256032"/>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Penetración tier A → 100%</a:t>
            </a:r>
            <a:endParaRPr lang="en-US" sz="1200" dirty="0"/>
          </a:p>
        </p:txBody>
      </p:sp>
      <p:sp>
        <p:nvSpPr>
          <p:cNvPr id="31" name="Text 29"/>
          <p:cNvSpPr/>
          <p:nvPr/>
        </p:nvSpPr>
        <p:spPr>
          <a:xfrm>
            <a:off x="4892040" y="4544568"/>
            <a:ext cx="3886200" cy="256032"/>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 </a:t>
            </a:r>
            <a:pPr indent="0" marL="0">
              <a:buNone/>
            </a:pPr>
            <a:r>
              <a:rPr lang="en-US" sz="1200" dirty="0">
                <a:solidFill>
                  <a:srgbClr val="0F2137"/>
                </a:solidFill>
                <a:latin typeface="Calibri" pitchFamily="34" charset="0"/>
                <a:ea typeface="Calibri" pitchFamily="34" charset="-122"/>
                <a:cs typeface="Calibri" pitchFamily="34" charset="-120"/>
              </a:rPr>
              <a:t>Reports de insights → mensual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PLAN DE ACCIÓN</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Roadmap de ejecución — Jul → Sep 2026</a:t>
            </a:r>
            <a:endParaRPr lang="en-US" sz="2600" dirty="0"/>
          </a:p>
        </p:txBody>
      </p:sp>
      <p:sp>
        <p:nvSpPr>
          <p:cNvPr id="4" name="Shape 2"/>
          <p:cNvSpPr/>
          <p:nvPr/>
        </p:nvSpPr>
        <p:spPr>
          <a:xfrm>
            <a:off x="320040" y="1005840"/>
            <a:ext cx="2788920" cy="393192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320040" y="1005840"/>
            <a:ext cx="2788920" cy="365760"/>
          </a:xfrm>
          <a:prstGeom prst="roundRect">
            <a:avLst>
              <a:gd name="adj" fmla="val 25000"/>
            </a:avLst>
          </a:prstGeom>
          <a:solidFill>
            <a:srgbClr val="0F9B8E"/>
          </a:solidFill>
          <a:ln w="12700">
            <a:solidFill>
              <a:srgbClr val="0F9B8E"/>
            </a:solidFill>
            <a:prstDash val="solid"/>
          </a:ln>
        </p:spPr>
      </p:sp>
      <p:sp>
        <p:nvSpPr>
          <p:cNvPr id="6" name="Text 4"/>
          <p:cNvSpPr/>
          <p:nvPr/>
        </p:nvSpPr>
        <p:spPr>
          <a:xfrm>
            <a:off x="320040" y="1005840"/>
            <a:ext cx="2788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JULIO 2026</a:t>
            </a:r>
            <a:endParaRPr lang="en-US" sz="1300" dirty="0"/>
          </a:p>
        </p:txBody>
      </p:sp>
      <p:sp>
        <p:nvSpPr>
          <p:cNvPr id="7" name="Shape 5"/>
          <p:cNvSpPr/>
          <p:nvPr/>
        </p:nvSpPr>
        <p:spPr>
          <a:xfrm>
            <a:off x="457200" y="1554480"/>
            <a:ext cx="201168" cy="201168"/>
          </a:xfrm>
          <a:prstGeom prst="ellipse">
            <a:avLst/>
          </a:prstGeom>
          <a:solidFill>
            <a:srgbClr val="0F9B8E"/>
          </a:solidFill>
          <a:ln w="12700">
            <a:solidFill>
              <a:srgbClr val="0F9B8E"/>
            </a:solidFill>
            <a:prstDash val="solid"/>
          </a:ln>
        </p:spPr>
      </p:sp>
      <p:sp>
        <p:nvSpPr>
          <p:cNvPr id="8" name="Text 6"/>
          <p:cNvSpPr/>
          <p:nvPr/>
        </p:nvSpPr>
        <p:spPr>
          <a:xfrm>
            <a:off x="731520" y="148132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Contactar BOTIGA + FORUS SA (NPS -100)</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plan de recuperación escrito</a:t>
            </a:r>
            <a:endParaRPr lang="en-US" sz="1100" dirty="0"/>
          </a:p>
        </p:txBody>
      </p:sp>
      <p:sp>
        <p:nvSpPr>
          <p:cNvPr id="9" name="Shape 7"/>
          <p:cNvSpPr/>
          <p:nvPr/>
        </p:nvSpPr>
        <p:spPr>
          <a:xfrm>
            <a:off x="457200" y="2377440"/>
            <a:ext cx="201168" cy="201168"/>
          </a:xfrm>
          <a:prstGeom prst="ellipse">
            <a:avLst/>
          </a:prstGeom>
          <a:solidFill>
            <a:srgbClr val="0F9B8E"/>
          </a:solidFill>
          <a:ln w="12700">
            <a:solidFill>
              <a:srgbClr val="0F9B8E"/>
            </a:solidFill>
            <a:prstDash val="solid"/>
          </a:ln>
        </p:spPr>
      </p:sp>
      <p:sp>
        <p:nvSpPr>
          <p:cNvPr id="10" name="Text 8"/>
          <p:cNvSpPr/>
          <p:nvPr/>
        </p:nvSpPr>
        <p:spPr>
          <a:xfrm>
            <a:off x="731520" y="230428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Mapear clientes UP &lt; 20%</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plan de activación personalizado</a:t>
            </a:r>
            <a:endParaRPr lang="en-US" sz="1100" dirty="0"/>
          </a:p>
        </p:txBody>
      </p:sp>
      <p:sp>
        <p:nvSpPr>
          <p:cNvPr id="11" name="Shape 9"/>
          <p:cNvSpPr/>
          <p:nvPr/>
        </p:nvSpPr>
        <p:spPr>
          <a:xfrm>
            <a:off x="457200" y="3200400"/>
            <a:ext cx="201168" cy="201168"/>
          </a:xfrm>
          <a:prstGeom prst="ellipse">
            <a:avLst/>
          </a:prstGeom>
          <a:solidFill>
            <a:srgbClr val="0F9B8E"/>
          </a:solidFill>
          <a:ln w="12700">
            <a:solidFill>
              <a:srgbClr val="0F9B8E"/>
            </a:solidFill>
            <a:prstDash val="solid"/>
          </a:ln>
        </p:spPr>
      </p:sp>
      <p:sp>
        <p:nvSpPr>
          <p:cNvPr id="12" name="Text 10"/>
          <p:cNvSpPr/>
          <p:nvPr/>
        </p:nvSpPr>
        <p:spPr>
          <a:xfrm>
            <a:off x="731520" y="312724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Escalar debloqueo Dafiti FORUS CO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con Product Manager</a:t>
            </a:r>
            <a:endParaRPr lang="en-US" sz="1100" dirty="0"/>
          </a:p>
        </p:txBody>
      </p:sp>
      <p:sp>
        <p:nvSpPr>
          <p:cNvPr id="13" name="Shape 11"/>
          <p:cNvSpPr/>
          <p:nvPr/>
        </p:nvSpPr>
        <p:spPr>
          <a:xfrm>
            <a:off x="457200" y="4023360"/>
            <a:ext cx="201168" cy="201168"/>
          </a:xfrm>
          <a:prstGeom prst="ellipse">
            <a:avLst/>
          </a:prstGeom>
          <a:solidFill>
            <a:srgbClr val="0F9B8E"/>
          </a:solidFill>
          <a:ln w="12700">
            <a:solidFill>
              <a:srgbClr val="0F9B8E"/>
            </a:solidFill>
            <a:prstDash val="solid"/>
          </a:ln>
        </p:spPr>
      </p:sp>
      <p:sp>
        <p:nvSpPr>
          <p:cNvPr id="14" name="Text 12"/>
          <p:cNvSpPr/>
          <p:nvPr/>
        </p:nvSpPr>
        <p:spPr>
          <a:xfrm>
            <a:off x="731520" y="395020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Quick wins: revisar UP con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KAYSER, EMMA SLEEP, FORUS PE</a:t>
            </a:r>
            <a:endParaRPr lang="en-US" sz="1100" dirty="0"/>
          </a:p>
        </p:txBody>
      </p:sp>
      <p:sp>
        <p:nvSpPr>
          <p:cNvPr id="15" name="Shape 13"/>
          <p:cNvSpPr/>
          <p:nvPr/>
        </p:nvSpPr>
        <p:spPr>
          <a:xfrm>
            <a:off x="3246120" y="1005840"/>
            <a:ext cx="2788920" cy="393192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16" name="Shape 14"/>
          <p:cNvSpPr/>
          <p:nvPr/>
        </p:nvSpPr>
        <p:spPr>
          <a:xfrm>
            <a:off x="3246120" y="1005840"/>
            <a:ext cx="2788920" cy="365760"/>
          </a:xfrm>
          <a:prstGeom prst="roundRect">
            <a:avLst>
              <a:gd name="adj" fmla="val 25000"/>
            </a:avLst>
          </a:prstGeom>
          <a:solidFill>
            <a:srgbClr val="F2A71B"/>
          </a:solidFill>
          <a:ln w="12700">
            <a:solidFill>
              <a:srgbClr val="F2A71B"/>
            </a:solidFill>
            <a:prstDash val="solid"/>
          </a:ln>
        </p:spPr>
      </p:sp>
      <p:sp>
        <p:nvSpPr>
          <p:cNvPr id="17" name="Text 15"/>
          <p:cNvSpPr/>
          <p:nvPr/>
        </p:nvSpPr>
        <p:spPr>
          <a:xfrm>
            <a:off x="3246120" y="1005840"/>
            <a:ext cx="2788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AGOSTO 2026</a:t>
            </a:r>
            <a:endParaRPr lang="en-US" sz="1300" dirty="0"/>
          </a:p>
        </p:txBody>
      </p:sp>
      <p:sp>
        <p:nvSpPr>
          <p:cNvPr id="18" name="Shape 16"/>
          <p:cNvSpPr/>
          <p:nvPr/>
        </p:nvSpPr>
        <p:spPr>
          <a:xfrm>
            <a:off x="3383280" y="1554480"/>
            <a:ext cx="201168" cy="201168"/>
          </a:xfrm>
          <a:prstGeom prst="ellipse">
            <a:avLst/>
          </a:prstGeom>
          <a:solidFill>
            <a:srgbClr val="F2A71B"/>
          </a:solidFill>
          <a:ln w="12700">
            <a:solidFill>
              <a:srgbClr val="F2A71B"/>
            </a:solidFill>
            <a:prstDash val="solid"/>
          </a:ln>
        </p:spPr>
      </p:sp>
      <p:sp>
        <p:nvSpPr>
          <p:cNvPr id="19" name="Text 17"/>
          <p:cNvSpPr/>
          <p:nvPr/>
        </p:nvSpPr>
        <p:spPr>
          <a:xfrm>
            <a:off x="3657600" y="148132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Workshops adopción con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5 clientes nivel MEDIO</a:t>
            </a:r>
            <a:endParaRPr lang="en-US" sz="1100" dirty="0"/>
          </a:p>
        </p:txBody>
      </p:sp>
      <p:sp>
        <p:nvSpPr>
          <p:cNvPr id="20" name="Shape 18"/>
          <p:cNvSpPr/>
          <p:nvPr/>
        </p:nvSpPr>
        <p:spPr>
          <a:xfrm>
            <a:off x="3383280" y="2377440"/>
            <a:ext cx="201168" cy="201168"/>
          </a:xfrm>
          <a:prstGeom prst="ellipse">
            <a:avLst/>
          </a:prstGeom>
          <a:solidFill>
            <a:srgbClr val="F2A71B"/>
          </a:solidFill>
          <a:ln w="12700">
            <a:solidFill>
              <a:srgbClr val="F2A71B"/>
            </a:solidFill>
            <a:prstDash val="solid"/>
          </a:ln>
        </p:spPr>
      </p:sp>
      <p:sp>
        <p:nvSpPr>
          <p:cNvPr id="21" name="Text 19"/>
          <p:cNvSpPr/>
          <p:nvPr/>
        </p:nvSpPr>
        <p:spPr>
          <a:xfrm>
            <a:off x="3657600" y="230428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Propuesta Predize a</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KAYSER, TRAMONTINA, LACOSTE</a:t>
            </a:r>
            <a:endParaRPr lang="en-US" sz="1100" dirty="0"/>
          </a:p>
        </p:txBody>
      </p:sp>
      <p:sp>
        <p:nvSpPr>
          <p:cNvPr id="22" name="Shape 20"/>
          <p:cNvSpPr/>
          <p:nvPr/>
        </p:nvSpPr>
        <p:spPr>
          <a:xfrm>
            <a:off x="3383280" y="3200400"/>
            <a:ext cx="201168" cy="201168"/>
          </a:xfrm>
          <a:prstGeom prst="ellipse">
            <a:avLst/>
          </a:prstGeom>
          <a:solidFill>
            <a:srgbClr val="F2A71B"/>
          </a:solidFill>
          <a:ln w="12700">
            <a:solidFill>
              <a:srgbClr val="F2A71B"/>
            </a:solidFill>
            <a:prstDash val="solid"/>
          </a:ln>
        </p:spPr>
      </p:sp>
      <p:sp>
        <p:nvSpPr>
          <p:cNvPr id="23" name="Text 21"/>
          <p:cNvSpPr/>
          <p:nvPr/>
        </p:nvSpPr>
        <p:spPr>
          <a:xfrm>
            <a:off x="3657600" y="312724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Check-in migración Centry</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validar avance técnico</a:t>
            </a:r>
            <a:endParaRPr lang="en-US" sz="1100" dirty="0"/>
          </a:p>
        </p:txBody>
      </p:sp>
      <p:sp>
        <p:nvSpPr>
          <p:cNvPr id="24" name="Shape 22"/>
          <p:cNvSpPr/>
          <p:nvPr/>
        </p:nvSpPr>
        <p:spPr>
          <a:xfrm>
            <a:off x="3383280" y="4023360"/>
            <a:ext cx="201168" cy="201168"/>
          </a:xfrm>
          <a:prstGeom prst="ellipse">
            <a:avLst/>
          </a:prstGeom>
          <a:solidFill>
            <a:srgbClr val="F2A71B"/>
          </a:solidFill>
          <a:ln w="12700">
            <a:solidFill>
              <a:srgbClr val="F2A71B"/>
            </a:solidFill>
            <a:prstDash val="solid"/>
          </a:ln>
        </p:spPr>
      </p:sp>
      <p:sp>
        <p:nvSpPr>
          <p:cNvPr id="25" name="Text 23"/>
          <p:cNvSpPr/>
          <p:nvPr/>
        </p:nvSpPr>
        <p:spPr>
          <a:xfrm>
            <a:off x="3657600" y="395020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Executive review a</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todos los clientes tier A y B</a:t>
            </a:r>
            <a:endParaRPr lang="en-US" sz="1100" dirty="0"/>
          </a:p>
        </p:txBody>
      </p:sp>
      <p:sp>
        <p:nvSpPr>
          <p:cNvPr id="26" name="Shape 24"/>
          <p:cNvSpPr/>
          <p:nvPr/>
        </p:nvSpPr>
        <p:spPr>
          <a:xfrm>
            <a:off x="6172200" y="1005840"/>
            <a:ext cx="2788920" cy="393192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8000"/>
              </a:srgbClr>
            </a:outerShdw>
          </a:effectLst>
        </p:spPr>
      </p:sp>
      <p:sp>
        <p:nvSpPr>
          <p:cNvPr id="27" name="Shape 25"/>
          <p:cNvSpPr/>
          <p:nvPr/>
        </p:nvSpPr>
        <p:spPr>
          <a:xfrm>
            <a:off x="6172200" y="1005840"/>
            <a:ext cx="2788920" cy="365760"/>
          </a:xfrm>
          <a:prstGeom prst="roundRect">
            <a:avLst>
              <a:gd name="adj" fmla="val 25000"/>
            </a:avLst>
          </a:prstGeom>
          <a:solidFill>
            <a:srgbClr val="3B82F6"/>
          </a:solidFill>
          <a:ln w="12700">
            <a:solidFill>
              <a:srgbClr val="3B82F6"/>
            </a:solidFill>
            <a:prstDash val="solid"/>
          </a:ln>
        </p:spPr>
      </p:sp>
      <p:sp>
        <p:nvSpPr>
          <p:cNvPr id="28" name="Text 26"/>
          <p:cNvSpPr/>
          <p:nvPr/>
        </p:nvSpPr>
        <p:spPr>
          <a:xfrm>
            <a:off x="6172200" y="1005840"/>
            <a:ext cx="27889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SEPTIEMBRE 2026</a:t>
            </a:r>
            <a:endParaRPr lang="en-US" sz="1300" dirty="0"/>
          </a:p>
        </p:txBody>
      </p:sp>
      <p:sp>
        <p:nvSpPr>
          <p:cNvPr id="29" name="Shape 27"/>
          <p:cNvSpPr/>
          <p:nvPr/>
        </p:nvSpPr>
        <p:spPr>
          <a:xfrm>
            <a:off x="6309360" y="1554480"/>
            <a:ext cx="201168" cy="201168"/>
          </a:xfrm>
          <a:prstGeom prst="ellipse">
            <a:avLst/>
          </a:prstGeom>
          <a:solidFill>
            <a:srgbClr val="3B82F6"/>
          </a:solidFill>
          <a:ln w="12700">
            <a:solidFill>
              <a:srgbClr val="3B82F6"/>
            </a:solidFill>
            <a:prstDash val="solid"/>
          </a:ln>
        </p:spPr>
      </p:sp>
      <p:sp>
        <p:nvSpPr>
          <p:cNvPr id="30" name="Text 28"/>
          <p:cNvSpPr/>
          <p:nvPr/>
        </p:nvSpPr>
        <p:spPr>
          <a:xfrm>
            <a:off x="6583680" y="148132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QBR Forus Group (SA+CO+PE)</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primera reunión ejecutiva conjunta</a:t>
            </a:r>
            <a:endParaRPr lang="en-US" sz="1100" dirty="0"/>
          </a:p>
        </p:txBody>
      </p:sp>
      <p:sp>
        <p:nvSpPr>
          <p:cNvPr id="31" name="Shape 29"/>
          <p:cNvSpPr/>
          <p:nvPr/>
        </p:nvSpPr>
        <p:spPr>
          <a:xfrm>
            <a:off x="6309360" y="2377440"/>
            <a:ext cx="201168" cy="201168"/>
          </a:xfrm>
          <a:prstGeom prst="ellipse">
            <a:avLst/>
          </a:prstGeom>
          <a:solidFill>
            <a:srgbClr val="3B82F6"/>
          </a:solidFill>
          <a:ln w="12700">
            <a:solidFill>
              <a:srgbClr val="3B82F6"/>
            </a:solidFill>
            <a:prstDash val="solid"/>
          </a:ln>
        </p:spPr>
      </p:sp>
      <p:sp>
        <p:nvSpPr>
          <p:cNvPr id="32" name="Text 30"/>
          <p:cNvSpPr/>
          <p:nvPr/>
        </p:nvSpPr>
        <p:spPr>
          <a:xfrm>
            <a:off x="6583680" y="230428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Cerrar min. 2 demos convertidas</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en contratos AnyTools</a:t>
            </a:r>
            <a:endParaRPr lang="en-US" sz="1100" dirty="0"/>
          </a:p>
        </p:txBody>
      </p:sp>
      <p:sp>
        <p:nvSpPr>
          <p:cNvPr id="33" name="Shape 31"/>
          <p:cNvSpPr/>
          <p:nvPr/>
        </p:nvSpPr>
        <p:spPr>
          <a:xfrm>
            <a:off x="6309360" y="3200400"/>
            <a:ext cx="201168" cy="201168"/>
          </a:xfrm>
          <a:prstGeom prst="ellipse">
            <a:avLst/>
          </a:prstGeom>
          <a:solidFill>
            <a:srgbClr val="3B82F6"/>
          </a:solidFill>
          <a:ln w="12700">
            <a:solidFill>
              <a:srgbClr val="3B82F6"/>
            </a:solidFill>
            <a:prstDash val="solid"/>
          </a:ln>
        </p:spPr>
      </p:sp>
      <p:sp>
        <p:nvSpPr>
          <p:cNvPr id="34" name="Text 32"/>
          <p:cNvSpPr/>
          <p:nvPr/>
        </p:nvSpPr>
        <p:spPr>
          <a:xfrm>
            <a:off x="6583680" y="312724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Medir delta adopción vs julio</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ajustar plan Q4</a:t>
            </a:r>
            <a:endParaRPr lang="en-US" sz="1100" dirty="0"/>
          </a:p>
        </p:txBody>
      </p:sp>
      <p:sp>
        <p:nvSpPr>
          <p:cNvPr id="35" name="Shape 33"/>
          <p:cNvSpPr/>
          <p:nvPr/>
        </p:nvSpPr>
        <p:spPr>
          <a:xfrm>
            <a:off x="6309360" y="4023360"/>
            <a:ext cx="201168" cy="201168"/>
          </a:xfrm>
          <a:prstGeom prst="ellipse">
            <a:avLst/>
          </a:prstGeom>
          <a:solidFill>
            <a:srgbClr val="3B82F6"/>
          </a:solidFill>
          <a:ln w="12700">
            <a:solidFill>
              <a:srgbClr val="3B82F6"/>
            </a:solidFill>
            <a:prstDash val="solid"/>
          </a:ln>
        </p:spPr>
      </p:sp>
      <p:sp>
        <p:nvSpPr>
          <p:cNvPr id="36" name="Text 34"/>
          <p:cNvSpPr/>
          <p:nvPr/>
        </p:nvSpPr>
        <p:spPr>
          <a:xfrm>
            <a:off x="6583680" y="3950208"/>
            <a:ext cx="2267712"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Revisión OKRs con</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Dirección CS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384048"/>
            <a:ext cx="8229600" cy="320040"/>
          </a:xfrm>
          <a:prstGeom prst="rect">
            <a:avLst/>
          </a:prstGeom>
          <a:noFill/>
          <a:ln/>
        </p:spPr>
        <p:txBody>
          <a:bodyPr wrap="square" lIns="0" tIns="0" rIns="0" bIns="0" rtlCol="0" anchor="ctr"/>
          <a:lstStyle/>
          <a:p>
            <a:pPr indent="0" marL="0">
              <a:buNone/>
            </a:pPr>
            <a:r>
              <a:rPr lang="en-US" sz="1100" b="1" spc="500" kern="0" dirty="0">
                <a:solidFill>
                  <a:srgbClr val="F2A71B"/>
                </a:solidFill>
                <a:latin typeface="Calibri" pitchFamily="34" charset="0"/>
                <a:ea typeface="Calibri" pitchFamily="34" charset="-122"/>
                <a:cs typeface="Calibri" pitchFamily="34" charset="-120"/>
              </a:rPr>
              <a:t>PRÓXIMAS ACCIONES</a:t>
            </a:r>
            <a:endParaRPr lang="en-US" sz="1100" dirty="0"/>
          </a:p>
        </p:txBody>
      </p:sp>
      <p:sp>
        <p:nvSpPr>
          <p:cNvPr id="5" name="Text 3"/>
          <p:cNvSpPr/>
          <p:nvPr/>
        </p:nvSpPr>
        <p:spPr>
          <a:xfrm>
            <a:off x="502920" y="713232"/>
            <a:ext cx="6400800" cy="56692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prioridades para la semana 1 de julio:</a:t>
            </a:r>
            <a:endParaRPr lang="en-US" sz="2200" dirty="0"/>
          </a:p>
        </p:txBody>
      </p:sp>
      <p:sp>
        <p:nvSpPr>
          <p:cNvPr id="6" name="Shape 4"/>
          <p:cNvSpPr/>
          <p:nvPr/>
        </p:nvSpPr>
        <p:spPr>
          <a:xfrm>
            <a:off x="365760" y="1353312"/>
            <a:ext cx="8412480" cy="896112"/>
          </a:xfrm>
          <a:prstGeom prst="roundRect">
            <a:avLst>
              <a:gd name="adj" fmla="val 10204"/>
            </a:avLst>
          </a:prstGeom>
          <a:solidFill>
            <a:srgbClr val="162840"/>
          </a:solidFill>
          <a:ln w="15240">
            <a:solidFill>
              <a:srgbClr val="EF4444"/>
            </a:solidFill>
            <a:prstDash val="solid"/>
          </a:ln>
        </p:spPr>
      </p:sp>
      <p:sp>
        <p:nvSpPr>
          <p:cNvPr id="7" name="Text 5"/>
          <p:cNvSpPr/>
          <p:nvPr/>
        </p:nvSpPr>
        <p:spPr>
          <a:xfrm>
            <a:off x="530352" y="1554480"/>
            <a:ext cx="502920" cy="457200"/>
          </a:xfrm>
          <a:prstGeom prst="rect">
            <a:avLst/>
          </a:prstGeom>
          <a:noFill/>
          <a:ln/>
        </p:spPr>
        <p:txBody>
          <a:bodyPr wrap="square" lIns="0" tIns="0" rIns="0" bIns="0" rtlCol="0" anchor="ctr"/>
          <a:lstStyle/>
          <a:p>
            <a:pPr indent="0" marL="0">
              <a:buNone/>
            </a:pPr>
            <a:r>
              <a:rPr lang="en-US" sz="2600" b="1" dirty="0">
                <a:solidFill>
                  <a:srgbClr val="EF4444"/>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143000" y="1463040"/>
            <a:ext cx="7406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Llamar HOY a COBOE BOTIGA y FORUS SA. Entender la raíz del NPS -100 y generar un plan de recuperación escrito antes del viernes.</a:t>
            </a:r>
            <a:endParaRPr lang="en-US" sz="1300" dirty="0"/>
          </a:p>
        </p:txBody>
      </p:sp>
      <p:sp>
        <p:nvSpPr>
          <p:cNvPr id="9" name="Shape 7"/>
          <p:cNvSpPr/>
          <p:nvPr/>
        </p:nvSpPr>
        <p:spPr>
          <a:xfrm>
            <a:off x="365760" y="2468880"/>
            <a:ext cx="8412480" cy="896112"/>
          </a:xfrm>
          <a:prstGeom prst="roundRect">
            <a:avLst>
              <a:gd name="adj" fmla="val 10204"/>
            </a:avLst>
          </a:prstGeom>
          <a:solidFill>
            <a:srgbClr val="162840"/>
          </a:solidFill>
          <a:ln w="15240">
            <a:solidFill>
              <a:srgbClr val="F59E0B"/>
            </a:solidFill>
            <a:prstDash val="solid"/>
          </a:ln>
        </p:spPr>
      </p:sp>
      <p:sp>
        <p:nvSpPr>
          <p:cNvPr id="10" name="Text 8"/>
          <p:cNvSpPr/>
          <p:nvPr/>
        </p:nvSpPr>
        <p:spPr>
          <a:xfrm>
            <a:off x="530352" y="2670048"/>
            <a:ext cx="502920"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1143000" y="2578608"/>
            <a:ext cx="7406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Escalar con el PM el debloqueo de FORUS COLOMBIA en Dafiti. Establecer fecha límite y stakeholders responsables.</a:t>
            </a:r>
            <a:endParaRPr lang="en-US" sz="1300" dirty="0"/>
          </a:p>
        </p:txBody>
      </p:sp>
      <p:sp>
        <p:nvSpPr>
          <p:cNvPr id="12" name="Shape 10"/>
          <p:cNvSpPr/>
          <p:nvPr/>
        </p:nvSpPr>
        <p:spPr>
          <a:xfrm>
            <a:off x="365760" y="3584448"/>
            <a:ext cx="8412480" cy="896112"/>
          </a:xfrm>
          <a:prstGeom prst="roundRect">
            <a:avLst>
              <a:gd name="adj" fmla="val 10204"/>
            </a:avLst>
          </a:prstGeom>
          <a:solidFill>
            <a:srgbClr val="162840"/>
          </a:solidFill>
          <a:ln w="15240">
            <a:solidFill>
              <a:srgbClr val="0F9B8E"/>
            </a:solidFill>
            <a:prstDash val="solid"/>
          </a:ln>
        </p:spPr>
      </p:sp>
      <p:sp>
        <p:nvSpPr>
          <p:cNvPr id="13" name="Text 11"/>
          <p:cNvSpPr/>
          <p:nvPr/>
        </p:nvSpPr>
        <p:spPr>
          <a:xfrm>
            <a:off x="530352" y="3785616"/>
            <a:ext cx="502920" cy="457200"/>
          </a:xfrm>
          <a:prstGeom prst="rect">
            <a:avLst/>
          </a:prstGeom>
          <a:noFill/>
          <a:ln/>
        </p:spPr>
        <p:txBody>
          <a:bodyPr wrap="square" lIns="0" tIns="0" rIns="0" bIns="0" rtlCol="0" anchor="ctr"/>
          <a:lstStyle/>
          <a:p>
            <a:pPr indent="0" marL="0">
              <a:buNone/>
            </a:pPr>
            <a:r>
              <a:rPr lang="en-US" sz="2600" b="1" dirty="0">
                <a:solidFill>
                  <a:srgbClr val="0F9B8E"/>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1143000" y="3694176"/>
            <a:ext cx="74066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Agendar sesiones de adopción con BELCORP CO (8.3% UP). Es la cuenta con mayor brecha y mayor potencial de mejora rápida.</a:t>
            </a:r>
            <a:endParaRPr lang="en-US" sz="1300" dirty="0"/>
          </a:p>
        </p:txBody>
      </p:sp>
      <p:sp>
        <p:nvSpPr>
          <p:cNvPr id="15" name="Text 13"/>
          <p:cNvSpPr/>
          <p:nvPr/>
        </p:nvSpPr>
        <p:spPr>
          <a:xfrm>
            <a:off x="457200" y="4864608"/>
            <a:ext cx="8229600" cy="228600"/>
          </a:xfrm>
          <a:prstGeom prst="rect">
            <a:avLst/>
          </a:prstGeom>
          <a:noFill/>
          <a:ln/>
        </p:spPr>
        <p:txBody>
          <a:bodyPr wrap="square" lIns="0" tIns="0" rIns="0" bIns="0" rtlCol="0" anchor="ctr"/>
          <a:lstStyle/>
          <a:p>
            <a:pPr algn="ctr" indent="0" marL="0">
              <a:buNone/>
            </a:pPr>
            <a:r>
              <a:rPr lang="en-US" sz="1100" dirty="0">
                <a:solidFill>
                  <a:srgbClr val="7B93AA"/>
                </a:solidFill>
                <a:latin typeface="Calibri" pitchFamily="34" charset="0"/>
                <a:ea typeface="Calibri" pitchFamily="34" charset="-122"/>
                <a:cs typeface="Calibri" pitchFamily="34" charset="-120"/>
              </a:rPr>
              <a:t>AnyMarket LATAM  ·  Customer Success  ·  Sami  ·  H2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OKRs &amp; KPIs AnyTools H2 2026</dc:title>
  <dc:subject>PptxGenJS Presentation</dc:subject>
  <dc:creator>Sami - CS AnyMarket LATAM</dc:creator>
  <cp:lastModifiedBy>Sami - CS AnyMarket LATAM</cp:lastModifiedBy>
  <cp:revision>1</cp:revision>
  <dcterms:created xsi:type="dcterms:W3CDTF">2026-07-08T22:01:40Z</dcterms:created>
  <dcterms:modified xsi:type="dcterms:W3CDTF">2026-07-08T22:01:40Z</dcterms:modified>
</cp:coreProperties>
</file>