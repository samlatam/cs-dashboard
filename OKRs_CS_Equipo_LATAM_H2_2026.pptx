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OKRs del equipo completo de CS AnyMarket LATAM. Cubre diagnóstico sistémico, 5 OKRs de operación, condiciones necesarias y plan de 90 días para convertir CS de soporte premium a motor de crecimiento.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no son problemas de clientes individuales — son problemas de sistema. Un CSM no puede resolver un sistema roto siendo más heroico. Necesita procesos, herramientas y acuerdos organizacionales.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transicion de reactivo a proactivo no ocurre sola. Necesita procesos documentados, acuerdos con otras areas y tiempo protegido. Sin esas condiciones, el equipo seguira en modo 'apaga incendios' indefinidamente.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tres pilares son la base operacional. Sin ellos, los OKRs son solo aspiraciones. La conversacion con el Director debe girar en torno a cuales de estas condiciones se pueden crear en H2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5 OKRs son secuenciales en prioridad: sin cobertura (OKR1) no hay onboarding efectivo (OKR2). Sin proteccion de revenue (OKR3) el equipo siempre esta apagando incendios. El conocimiento (OKR4) es el multiplicador. La expansion (OKR5) es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OKR es la base de todo. Si no sabemos como esta cada cliente al menos una vez por mes, no podemos detectar riesgos ni oportunidades. La cadencia no es lujo — es el minimo para hacer CS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valor (first value moment) es el predictor mas fuerte de renovacion. Un cliente que consume UP en los primeros 30 dias tiene 3x mas probabilidad de renovar que uno que no lo hace. Este OKR protege directamente el ARR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KR mas importante es el 3.2: 0 churns no anticipados. Esto no significa 0 churns — significa que si perdemos un cliente, fue una decision gestionada, no una sorpresa. Eso demuestra madurez del proceso 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OKR es el multiplicador. Sin el, cada CSM opera en silos y el equipo nunca escala su capacidad. Con el, la experiencia de los mejores eleva el piso de toda la operacion. Es el OKR mas facil de ejecutar y el menos urgente — por eso siempre queda para despues.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expansion sostenible no viene de presion comercial — viene de clientes que confian en el CSM y ven valor real en el producto. Por eso este OKR es el ultimo en la lista: solo funciona si los 4 anteriores estan en marcha.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 apagar incendios y mapear. Agosto = documentar el conocimiento que ya existe. Septiembre = comenzar a crecer sobre una base estable. No se puede quemar etapas.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ya sabe que hay que hacer. Lo que necesita es que la organizacion cree las condiciones para poder hacerlo. Estas 3 preguntas son la diferencia entre OKRs como documento y OKRs como sistema de trabajo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502920" y="914400"/>
            <a:ext cx="8229600" cy="502920"/>
          </a:xfrm>
          <a:prstGeom prst="rect">
            <a:avLst/>
          </a:prstGeom>
          <a:noFill/>
          <a:ln/>
        </p:spPr>
        <p:txBody>
          <a:bodyPr wrap="square" lIns="0" tIns="0" rIns="0" bIns="0" rtlCol="0" anchor="ctr"/>
          <a:lstStyle/>
          <a:p>
            <a:pPr algn="l" indent="0" marL="0">
              <a:buNone/>
            </a:pPr>
            <a:r>
              <a:rPr lang="en-US" sz="1400" b="1" spc="600" kern="0" dirty="0">
                <a:solidFill>
                  <a:srgbClr val="F2A71B"/>
                </a:solidFill>
                <a:latin typeface="Calibri" pitchFamily="34" charset="0"/>
                <a:ea typeface="Calibri" pitchFamily="34" charset="-122"/>
                <a:cs typeface="Calibri" pitchFamily="34" charset="-120"/>
              </a:rPr>
              <a:t>Customer Success</a:t>
            </a:r>
            <a:endParaRPr lang="en-US" sz="1400" dirty="0"/>
          </a:p>
        </p:txBody>
      </p:sp>
      <p:sp>
        <p:nvSpPr>
          <p:cNvPr id="5" name="Text 3"/>
          <p:cNvSpPr/>
          <p:nvPr/>
        </p:nvSpPr>
        <p:spPr>
          <a:xfrm>
            <a:off x="502920" y="1389888"/>
            <a:ext cx="8229600" cy="1234440"/>
          </a:xfrm>
          <a:prstGeom prst="rect">
            <a:avLst/>
          </a:prstGeom>
          <a:noFill/>
          <a:ln/>
        </p:spPr>
        <p:txBody>
          <a:bodyPr wrap="square" lIns="0" tIns="0" rIns="0" bIns="0" rtlCol="0" anchor="ctr"/>
          <a:lstStyle/>
          <a:p>
            <a:pPr algn="l" indent="0" marL="0">
              <a:buNone/>
            </a:pPr>
            <a:r>
              <a:rPr lang="en-US" sz="5800" b="1" dirty="0">
                <a:solidFill>
                  <a:srgbClr val="FFFFFF"/>
                </a:solidFill>
                <a:latin typeface="Calibri" pitchFamily="34" charset="0"/>
                <a:ea typeface="Calibri" pitchFamily="34" charset="-122"/>
                <a:cs typeface="Calibri" pitchFamily="34" charset="-120"/>
              </a:rPr>
              <a:t>OKRs del Equipo</a:t>
            </a:r>
            <a:endParaRPr lang="en-US" sz="5800" dirty="0"/>
          </a:p>
        </p:txBody>
      </p:sp>
      <p:sp>
        <p:nvSpPr>
          <p:cNvPr id="6" name="Text 4"/>
          <p:cNvSpPr/>
          <p:nvPr/>
        </p:nvSpPr>
        <p:spPr>
          <a:xfrm>
            <a:off x="502920" y="2606040"/>
            <a:ext cx="8229600" cy="822960"/>
          </a:xfrm>
          <a:prstGeom prst="rect">
            <a:avLst/>
          </a:prstGeom>
          <a:noFill/>
          <a:ln/>
        </p:spPr>
        <p:txBody>
          <a:bodyPr wrap="square" lIns="0" tIns="0" rIns="0" bIns="0" rtlCol="0" anchor="ctr"/>
          <a:lstStyle/>
          <a:p>
            <a:pPr algn="l" indent="0" marL="0">
              <a:buNone/>
            </a:pPr>
            <a:r>
              <a:rPr lang="en-US" sz="5000" b="1" dirty="0">
                <a:solidFill>
                  <a:srgbClr val="F2A71B"/>
                </a:solidFill>
                <a:latin typeface="Calibri" pitchFamily="34" charset="0"/>
                <a:ea typeface="Calibri" pitchFamily="34" charset="-122"/>
                <a:cs typeface="Calibri" pitchFamily="34" charset="-120"/>
              </a:rPr>
              <a:t>H2 2026</a:t>
            </a:r>
            <a:endParaRPr lang="en-US" sz="5000" dirty="0"/>
          </a:p>
        </p:txBody>
      </p:sp>
      <p:sp>
        <p:nvSpPr>
          <p:cNvPr id="7" name="Text 5"/>
          <p:cNvSpPr/>
          <p:nvPr/>
        </p:nvSpPr>
        <p:spPr>
          <a:xfrm>
            <a:off x="502920" y="4187952"/>
            <a:ext cx="8229600" cy="347472"/>
          </a:xfrm>
          <a:prstGeom prst="rect">
            <a:avLst/>
          </a:prstGeom>
          <a:noFill/>
          <a:ln/>
        </p:spPr>
        <p:txBody>
          <a:bodyPr wrap="square" lIns="0" tIns="0" rIns="0" bIns="0" rtlCol="0" anchor="ctr"/>
          <a:lstStyle/>
          <a:p>
            <a:pPr algn="l" indent="0" marL="0">
              <a:buNone/>
            </a:pPr>
            <a:r>
              <a:rPr lang="en-US" sz="1200" dirty="0">
                <a:solidFill>
                  <a:srgbClr val="7B93AA"/>
                </a:solidFill>
                <a:latin typeface="Calibri" pitchFamily="34" charset="0"/>
                <a:ea typeface="Calibri" pitchFamily="34" charset="-122"/>
                <a:cs typeface="Calibri" pitchFamily="34" charset="-120"/>
              </a:rPr>
              <a:t>AnyMarket LATAM  |  Chile  Colombia  Uruguay  Peru  Mexico  |  Julio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DIAGNÓSTICO DEL EQUIPO</a:t>
            </a:r>
            <a:endParaRPr lang="en-US" sz="1000" dirty="0"/>
          </a:p>
        </p:txBody>
      </p:sp>
      <p:sp>
        <p:nvSpPr>
          <p:cNvPr id="3" name="Text 1"/>
          <p:cNvSpPr/>
          <p:nvPr/>
        </p:nvSpPr>
        <p:spPr>
          <a:xfrm>
            <a:off x="457200" y="411480"/>
            <a:ext cx="8229600" cy="548640"/>
          </a:xfrm>
          <a:prstGeom prst="rect">
            <a:avLst/>
          </a:prstGeom>
          <a:noFill/>
          <a:ln/>
        </p:spPr>
        <p:txBody>
          <a:bodyPr wrap="square" lIns="0" tIns="0" rIns="0" bIns="0" rtlCol="0" anchor="ctr"/>
          <a:lstStyle/>
          <a:p>
            <a:pPr indent="0" marL="0">
              <a:buNone/>
            </a:pPr>
            <a:r>
              <a:rPr lang="en-US" sz="2800" b="1" dirty="0">
                <a:solidFill>
                  <a:srgbClr val="0F2137"/>
                </a:solidFill>
                <a:latin typeface="Calibri" pitchFamily="34" charset="0"/>
                <a:ea typeface="Calibri" pitchFamily="34" charset="-122"/>
                <a:cs typeface="Calibri" pitchFamily="34" charset="-120"/>
              </a:rPr>
              <a:t>Los 5 problemas sistémicos de CS LATAM</a:t>
            </a:r>
            <a:endParaRPr lang="en-US" sz="2800" dirty="0"/>
          </a:p>
        </p:txBody>
      </p:sp>
      <p:sp>
        <p:nvSpPr>
          <p:cNvPr id="4" name="Shape 2"/>
          <p:cNvSpPr/>
          <p:nvPr/>
        </p:nvSpPr>
        <p:spPr>
          <a:xfrm>
            <a:off x="365760" y="1078992"/>
            <a:ext cx="8412480" cy="658368"/>
          </a:xfrm>
          <a:prstGeom prst="roundRect">
            <a:avLst>
              <a:gd name="adj" fmla="val 13889"/>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Shape 3"/>
          <p:cNvSpPr/>
          <p:nvPr/>
        </p:nvSpPr>
        <p:spPr>
          <a:xfrm>
            <a:off x="365760" y="1078992"/>
            <a:ext cx="475488" cy="658368"/>
          </a:xfrm>
          <a:prstGeom prst="roundRect">
            <a:avLst>
              <a:gd name="adj" fmla="val 19231"/>
            </a:avLst>
          </a:prstGeom>
          <a:solidFill>
            <a:srgbClr val="EF4444"/>
          </a:solidFill>
          <a:ln w="12700">
            <a:solidFill>
              <a:srgbClr val="EF4444"/>
            </a:solidFill>
            <a:prstDash val="solid"/>
          </a:ln>
        </p:spPr>
      </p:sp>
      <p:sp>
        <p:nvSpPr>
          <p:cNvPr id="6" name="Text 4"/>
          <p:cNvSpPr/>
          <p:nvPr/>
        </p:nvSpPr>
        <p:spPr>
          <a:xfrm>
            <a:off x="365760" y="1078992"/>
            <a:ext cx="47548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932688" y="1152144"/>
            <a:ext cx="3474720" cy="292608"/>
          </a:xfrm>
          <a:prstGeom prst="rect">
            <a:avLst/>
          </a:prstGeom>
          <a:noFill/>
          <a:ln/>
        </p:spPr>
        <p:txBody>
          <a:bodyPr wrap="square" lIns="0" tIns="0" rIns="0" bIns="0" rtlCol="0" anchor="ctr"/>
          <a:lstStyle/>
          <a:p>
            <a:pPr indent="0" marL="0">
              <a:buNone/>
            </a:pPr>
            <a:r>
              <a:rPr lang="en-US" sz="1300" b="1" dirty="0">
                <a:solidFill>
                  <a:srgbClr val="0F2137"/>
                </a:solidFill>
                <a:latin typeface="Calibri" pitchFamily="34" charset="0"/>
                <a:ea typeface="Calibri" pitchFamily="34" charset="-122"/>
                <a:cs typeface="Calibri" pitchFamily="34" charset="-120"/>
              </a:rPr>
              <a:t>CS opera como soporte premium</a:t>
            </a:r>
            <a:endParaRPr lang="en-US" sz="1300" dirty="0"/>
          </a:p>
        </p:txBody>
      </p:sp>
      <p:sp>
        <p:nvSpPr>
          <p:cNvPr id="8" name="Text 6"/>
          <p:cNvSpPr/>
          <p:nvPr/>
        </p:nvSpPr>
        <p:spPr>
          <a:xfrm>
            <a:off x="932688" y="1426464"/>
            <a:ext cx="7754112" cy="256032"/>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60-70% del tiempo en tareas reactivas. El trabajo proactivo (EBRs, expansión, adopción) siempre queda para despues.</a:t>
            </a:r>
            <a:endParaRPr lang="en-US" sz="1100" dirty="0"/>
          </a:p>
        </p:txBody>
      </p:sp>
      <p:sp>
        <p:nvSpPr>
          <p:cNvPr id="9" name="Shape 7"/>
          <p:cNvSpPr/>
          <p:nvPr/>
        </p:nvSpPr>
        <p:spPr>
          <a:xfrm>
            <a:off x="365760" y="1837944"/>
            <a:ext cx="8412480" cy="658368"/>
          </a:xfrm>
          <a:prstGeom prst="roundRect">
            <a:avLst>
              <a:gd name="adj" fmla="val 1388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0" name="Shape 8"/>
          <p:cNvSpPr/>
          <p:nvPr/>
        </p:nvSpPr>
        <p:spPr>
          <a:xfrm>
            <a:off x="365760" y="1837944"/>
            <a:ext cx="475488" cy="658368"/>
          </a:xfrm>
          <a:prstGeom prst="roundRect">
            <a:avLst>
              <a:gd name="adj" fmla="val 19231"/>
            </a:avLst>
          </a:prstGeom>
          <a:solidFill>
            <a:srgbClr val="F59E0B"/>
          </a:solidFill>
          <a:ln w="12700">
            <a:solidFill>
              <a:srgbClr val="F59E0B"/>
            </a:solidFill>
            <a:prstDash val="solid"/>
          </a:ln>
        </p:spPr>
      </p:sp>
      <p:sp>
        <p:nvSpPr>
          <p:cNvPr id="11" name="Text 9"/>
          <p:cNvSpPr/>
          <p:nvPr/>
        </p:nvSpPr>
        <p:spPr>
          <a:xfrm>
            <a:off x="365760" y="1837944"/>
            <a:ext cx="47548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932688" y="1911096"/>
            <a:ext cx="3474720" cy="292608"/>
          </a:xfrm>
          <a:prstGeom prst="rect">
            <a:avLst/>
          </a:prstGeom>
          <a:noFill/>
          <a:ln/>
        </p:spPr>
        <p:txBody>
          <a:bodyPr wrap="square" lIns="0" tIns="0" rIns="0" bIns="0" rtlCol="0" anchor="ctr"/>
          <a:lstStyle/>
          <a:p>
            <a:pPr indent="0" marL="0">
              <a:buNone/>
            </a:pPr>
            <a:r>
              <a:rPr lang="en-US" sz="1300" b="1" dirty="0">
                <a:solidFill>
                  <a:srgbClr val="0F2137"/>
                </a:solidFill>
                <a:latin typeface="Calibri" pitchFamily="34" charset="0"/>
                <a:ea typeface="Calibri" pitchFamily="34" charset="-122"/>
                <a:cs typeface="Calibri" pitchFamily="34" charset="-120"/>
              </a:rPr>
              <a:t>No hay playbooks estandarizados</a:t>
            </a:r>
            <a:endParaRPr lang="en-US" sz="1300" dirty="0"/>
          </a:p>
        </p:txBody>
      </p:sp>
      <p:sp>
        <p:nvSpPr>
          <p:cNvPr id="13" name="Text 11"/>
          <p:cNvSpPr/>
          <p:nvPr/>
        </p:nvSpPr>
        <p:spPr>
          <a:xfrm>
            <a:off x="932688" y="2185416"/>
            <a:ext cx="7754112" cy="256032"/>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Lo que funciono con KAYSER (55.6% UP) no esta documentado ni replicado. El conocimiento vive en la cabeza de cada CSM.</a:t>
            </a:r>
            <a:endParaRPr lang="en-US" sz="1100" dirty="0"/>
          </a:p>
        </p:txBody>
      </p:sp>
      <p:sp>
        <p:nvSpPr>
          <p:cNvPr id="14" name="Shape 12"/>
          <p:cNvSpPr/>
          <p:nvPr/>
        </p:nvSpPr>
        <p:spPr>
          <a:xfrm>
            <a:off x="365760" y="2596896"/>
            <a:ext cx="8412480" cy="658368"/>
          </a:xfrm>
          <a:prstGeom prst="roundRect">
            <a:avLst>
              <a:gd name="adj" fmla="val 13889"/>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5" name="Shape 13"/>
          <p:cNvSpPr/>
          <p:nvPr/>
        </p:nvSpPr>
        <p:spPr>
          <a:xfrm>
            <a:off x="365760" y="2596896"/>
            <a:ext cx="475488" cy="658368"/>
          </a:xfrm>
          <a:prstGeom prst="roundRect">
            <a:avLst>
              <a:gd name="adj" fmla="val 19231"/>
            </a:avLst>
          </a:prstGeom>
          <a:solidFill>
            <a:srgbClr val="EF4444"/>
          </a:solidFill>
          <a:ln w="12700">
            <a:solidFill>
              <a:srgbClr val="EF4444"/>
            </a:solidFill>
            <a:prstDash val="solid"/>
          </a:ln>
        </p:spPr>
      </p:sp>
      <p:sp>
        <p:nvSpPr>
          <p:cNvPr id="16" name="Text 14"/>
          <p:cNvSpPr/>
          <p:nvPr/>
        </p:nvSpPr>
        <p:spPr>
          <a:xfrm>
            <a:off x="365760" y="2596896"/>
            <a:ext cx="47548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932688" y="2670048"/>
            <a:ext cx="3474720" cy="292608"/>
          </a:xfrm>
          <a:prstGeom prst="rect">
            <a:avLst/>
          </a:prstGeom>
          <a:noFill/>
          <a:ln/>
        </p:spPr>
        <p:txBody>
          <a:bodyPr wrap="square" lIns="0" tIns="0" rIns="0" bIns="0" rtlCol="0" anchor="ctr"/>
          <a:lstStyle/>
          <a:p>
            <a:pPr indent="0" marL="0">
              <a:buNone/>
            </a:pPr>
            <a:r>
              <a:rPr lang="en-US" sz="1300" b="1" dirty="0">
                <a:solidFill>
                  <a:srgbClr val="0F2137"/>
                </a:solidFill>
                <a:latin typeface="Calibri" pitchFamily="34" charset="0"/>
                <a:ea typeface="Calibri" pitchFamily="34" charset="-122"/>
                <a:cs typeface="Calibri" pitchFamily="34" charset="-120"/>
              </a:rPr>
              <a:t>Migracion Centry sin dueno claro</a:t>
            </a:r>
            <a:endParaRPr lang="en-US" sz="1300" dirty="0"/>
          </a:p>
        </p:txBody>
      </p:sp>
      <p:sp>
        <p:nvSpPr>
          <p:cNvPr id="18" name="Text 16"/>
          <p:cNvSpPr/>
          <p:nvPr/>
        </p:nvSpPr>
        <p:spPr>
          <a:xfrm>
            <a:off x="932688" y="2944368"/>
            <a:ext cx="7754112" cy="256032"/>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6 clientes en sistema legado. CS recibe el impacto (NPS bajo, tickets, frustración) sin poder resolver la causa raiz.</a:t>
            </a:r>
            <a:endParaRPr lang="en-US" sz="1100" dirty="0"/>
          </a:p>
        </p:txBody>
      </p:sp>
      <p:sp>
        <p:nvSpPr>
          <p:cNvPr id="19" name="Shape 17"/>
          <p:cNvSpPr/>
          <p:nvPr/>
        </p:nvSpPr>
        <p:spPr>
          <a:xfrm>
            <a:off x="365760" y="3355848"/>
            <a:ext cx="8412480" cy="658368"/>
          </a:xfrm>
          <a:prstGeom prst="roundRect">
            <a:avLst>
              <a:gd name="adj" fmla="val 1388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0" name="Shape 18"/>
          <p:cNvSpPr/>
          <p:nvPr/>
        </p:nvSpPr>
        <p:spPr>
          <a:xfrm>
            <a:off x="365760" y="3355848"/>
            <a:ext cx="475488" cy="658368"/>
          </a:xfrm>
          <a:prstGeom prst="roundRect">
            <a:avLst>
              <a:gd name="adj" fmla="val 19231"/>
            </a:avLst>
          </a:prstGeom>
          <a:solidFill>
            <a:srgbClr val="F59E0B"/>
          </a:solidFill>
          <a:ln w="12700">
            <a:solidFill>
              <a:srgbClr val="F59E0B"/>
            </a:solidFill>
            <a:prstDash val="solid"/>
          </a:ln>
        </p:spPr>
      </p:sp>
      <p:sp>
        <p:nvSpPr>
          <p:cNvPr id="21" name="Text 19"/>
          <p:cNvSpPr/>
          <p:nvPr/>
        </p:nvSpPr>
        <p:spPr>
          <a:xfrm>
            <a:off x="365760" y="3355848"/>
            <a:ext cx="47548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932688" y="3429000"/>
            <a:ext cx="3474720" cy="292608"/>
          </a:xfrm>
          <a:prstGeom prst="rect">
            <a:avLst/>
          </a:prstGeom>
          <a:noFill/>
          <a:ln/>
        </p:spPr>
        <p:txBody>
          <a:bodyPr wrap="square" lIns="0" tIns="0" rIns="0" bIns="0" rtlCol="0" anchor="ctr"/>
          <a:lstStyle/>
          <a:p>
            <a:pPr indent="0" marL="0">
              <a:buNone/>
            </a:pPr>
            <a:r>
              <a:rPr lang="en-US" sz="1300" b="1" dirty="0">
                <a:solidFill>
                  <a:srgbClr val="0F2137"/>
                </a:solidFill>
                <a:latin typeface="Calibri" pitchFamily="34" charset="0"/>
                <a:ea typeface="Calibri" pitchFamily="34" charset="-122"/>
                <a:cs typeface="Calibri" pitchFamily="34" charset="-120"/>
              </a:rPr>
              <a:t>Sin segmentacion de cartera</a:t>
            </a:r>
            <a:endParaRPr lang="en-US" sz="1300" dirty="0"/>
          </a:p>
        </p:txBody>
      </p:sp>
      <p:sp>
        <p:nvSpPr>
          <p:cNvPr id="23" name="Text 21"/>
          <p:cNvSpPr/>
          <p:nvPr/>
        </p:nvSpPr>
        <p:spPr>
          <a:xfrm>
            <a:off x="932688" y="3703320"/>
            <a:ext cx="7754112" cy="256032"/>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Todos los clientes consumen el mismo tiempo del CSM sin importar su ARR o potencial. Los cuentas grandes no reciben atencion proporcional.</a:t>
            </a:r>
            <a:endParaRPr lang="en-US" sz="1100" dirty="0"/>
          </a:p>
        </p:txBody>
      </p:sp>
      <p:sp>
        <p:nvSpPr>
          <p:cNvPr id="24" name="Shape 22"/>
          <p:cNvSpPr/>
          <p:nvPr/>
        </p:nvSpPr>
        <p:spPr>
          <a:xfrm>
            <a:off x="365760" y="4114800"/>
            <a:ext cx="8412480" cy="658368"/>
          </a:xfrm>
          <a:prstGeom prst="roundRect">
            <a:avLst>
              <a:gd name="adj" fmla="val 13889"/>
            </a:avLst>
          </a:prstGeom>
          <a:solidFill>
            <a:srgbClr val="FAFA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5" name="Shape 23"/>
          <p:cNvSpPr/>
          <p:nvPr/>
        </p:nvSpPr>
        <p:spPr>
          <a:xfrm>
            <a:off x="365760" y="4114800"/>
            <a:ext cx="475488" cy="658368"/>
          </a:xfrm>
          <a:prstGeom prst="roundRect">
            <a:avLst>
              <a:gd name="adj" fmla="val 19231"/>
            </a:avLst>
          </a:prstGeom>
          <a:solidFill>
            <a:srgbClr val="F59E0B"/>
          </a:solidFill>
          <a:ln w="12700">
            <a:solidFill>
              <a:srgbClr val="F59E0B"/>
            </a:solidFill>
            <a:prstDash val="solid"/>
          </a:ln>
        </p:spPr>
      </p:sp>
      <p:sp>
        <p:nvSpPr>
          <p:cNvPr id="26" name="Text 24"/>
          <p:cNvSpPr/>
          <p:nvPr/>
        </p:nvSpPr>
        <p:spPr>
          <a:xfrm>
            <a:off x="365760" y="4114800"/>
            <a:ext cx="47548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7" name="Text 25"/>
          <p:cNvSpPr/>
          <p:nvPr/>
        </p:nvSpPr>
        <p:spPr>
          <a:xfrm>
            <a:off x="932688" y="4187952"/>
            <a:ext cx="3474720" cy="292608"/>
          </a:xfrm>
          <a:prstGeom prst="rect">
            <a:avLst/>
          </a:prstGeom>
          <a:noFill/>
          <a:ln/>
        </p:spPr>
        <p:txBody>
          <a:bodyPr wrap="square" lIns="0" tIns="0" rIns="0" bIns="0" rtlCol="0" anchor="ctr"/>
          <a:lstStyle/>
          <a:p>
            <a:pPr indent="0" marL="0">
              <a:buNone/>
            </a:pPr>
            <a:r>
              <a:rPr lang="en-US" sz="1300" b="1" dirty="0">
                <a:solidFill>
                  <a:srgbClr val="0F2137"/>
                </a:solidFill>
                <a:latin typeface="Calibri" pitchFamily="34" charset="0"/>
                <a:ea typeface="Calibri" pitchFamily="34" charset="-122"/>
                <a:cs typeface="Calibri" pitchFamily="34" charset="-120"/>
              </a:rPr>
              <a:t>CS no es dueno del ciclo de valor</a:t>
            </a:r>
            <a:endParaRPr lang="en-US" sz="1300" dirty="0"/>
          </a:p>
        </p:txBody>
      </p:sp>
      <p:sp>
        <p:nvSpPr>
          <p:cNvPr id="28" name="Text 26"/>
          <p:cNvSpPr/>
          <p:nvPr/>
        </p:nvSpPr>
        <p:spPr>
          <a:xfrm>
            <a:off x="932688" y="4462272"/>
            <a:ext cx="7754112" cy="256032"/>
          </a:xfrm>
          <a:prstGeom prst="rect">
            <a:avLst/>
          </a:prstGeom>
          <a:noFill/>
          <a:ln/>
        </p:spPr>
        <p:txBody>
          <a:bodyPr wrap="square" lIns="0" tIns="0" rIns="0" bIns="0" rtlCol="0" anchor="ctr"/>
          <a:lstStyle/>
          <a:p>
            <a:pPr indent="0" marL="0">
              <a:buNone/>
            </a:pPr>
            <a:r>
              <a:rPr lang="en-US" sz="1100" dirty="0">
                <a:solidFill>
                  <a:srgbClr val="334E68"/>
                </a:solidFill>
                <a:latin typeface="Calibri" pitchFamily="34" charset="0"/>
                <a:ea typeface="Calibri" pitchFamily="34" charset="-122"/>
                <a:cs typeface="Calibri" pitchFamily="34" charset="-120"/>
              </a:rPr>
              <a:t>Onboarding, expansion y renovacion estan fragmentados entre areas. CS queda en el medio sin north star claro.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457200" y="201168"/>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EL ROL DEL EQUIPO CS</a:t>
            </a:r>
            <a:endParaRPr lang="en-US" sz="1000" dirty="0"/>
          </a:p>
        </p:txBody>
      </p:sp>
      <p:sp>
        <p:nvSpPr>
          <p:cNvPr id="5" name="Text 3"/>
          <p:cNvSpPr/>
          <p:nvPr/>
        </p:nvSpPr>
        <p:spPr>
          <a:xfrm>
            <a:off x="457200" y="457200"/>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 soporte premium a motor de crecimiento</a:t>
            </a:r>
            <a:endParaRPr lang="en-US" sz="2800" dirty="0"/>
          </a:p>
        </p:txBody>
      </p:sp>
      <p:sp>
        <p:nvSpPr>
          <p:cNvPr id="6" name="Shape 4"/>
          <p:cNvSpPr/>
          <p:nvPr/>
        </p:nvSpPr>
        <p:spPr>
          <a:xfrm>
            <a:off x="365760" y="1188720"/>
            <a:ext cx="3931920" cy="3657600"/>
          </a:xfrm>
          <a:prstGeom prst="roundRect">
            <a:avLst>
              <a:gd name="adj" fmla="val 3000"/>
            </a:avLst>
          </a:prstGeom>
          <a:solidFill>
            <a:srgbClr val="162840"/>
          </a:solidFill>
          <a:ln w="15240">
            <a:solidFill>
              <a:srgbClr val="EF4444"/>
            </a:solidFill>
            <a:prstDash val="solid"/>
          </a:ln>
        </p:spPr>
      </p:sp>
      <p:sp>
        <p:nvSpPr>
          <p:cNvPr id="7" name="Text 5"/>
          <p:cNvSpPr/>
          <p:nvPr/>
        </p:nvSpPr>
        <p:spPr>
          <a:xfrm>
            <a:off x="365760" y="1188720"/>
            <a:ext cx="3931920" cy="384048"/>
          </a:xfrm>
          <a:prstGeom prst="rect">
            <a:avLst/>
          </a:prstGeom>
          <a:noFill/>
          <a:ln/>
        </p:spPr>
        <p:txBody>
          <a:bodyPr wrap="square" lIns="0" tIns="0" rIns="0" bIns="0" rtlCol="0" anchor="ctr"/>
          <a:lstStyle/>
          <a:p>
            <a:pPr algn="ctr" indent="0" marL="0">
              <a:buNone/>
            </a:pPr>
            <a:r>
              <a:rPr lang="en-US" sz="1400" b="1" dirty="0">
                <a:solidFill>
                  <a:srgbClr val="EF4444"/>
                </a:solidFill>
                <a:latin typeface="Calibri" pitchFamily="34" charset="0"/>
                <a:ea typeface="Calibri" pitchFamily="34" charset="-122"/>
                <a:cs typeface="Calibri" pitchFamily="34" charset="-120"/>
              </a:rPr>
              <a:t>HOY</a:t>
            </a:r>
            <a:endParaRPr lang="en-US" sz="1400" dirty="0"/>
          </a:p>
        </p:txBody>
      </p:sp>
      <p:sp>
        <p:nvSpPr>
          <p:cNvPr id="8" name="Text 6"/>
          <p:cNvSpPr/>
          <p:nvPr/>
        </p:nvSpPr>
        <p:spPr>
          <a:xfrm>
            <a:off x="548640" y="1664208"/>
            <a:ext cx="3657600" cy="347472"/>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a:t>
            </a:r>
            <a:pPr indent="0" marL="0">
              <a:buNone/>
            </a:pPr>
            <a:r>
              <a:rPr lang="en-US" sz="1300" dirty="0">
                <a:solidFill>
                  <a:srgbClr val="7B93AA"/>
                </a:solidFill>
                <a:latin typeface="Calibri" pitchFamily="34" charset="0"/>
                <a:ea typeface="Calibri" pitchFamily="34" charset="-122"/>
                <a:cs typeface="Calibri" pitchFamily="34" charset="-120"/>
              </a:rPr>
              <a:t>Recolectar datos en 5 herramientas</a:t>
            </a:r>
            <a:endParaRPr lang="en-US" sz="1300" dirty="0"/>
          </a:p>
        </p:txBody>
      </p:sp>
      <p:sp>
        <p:nvSpPr>
          <p:cNvPr id="9" name="Text 7"/>
          <p:cNvSpPr/>
          <p:nvPr/>
        </p:nvSpPr>
        <p:spPr>
          <a:xfrm>
            <a:off x="548640" y="2075688"/>
            <a:ext cx="3657600" cy="347472"/>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a:t>
            </a:r>
            <a:pPr indent="0" marL="0">
              <a:buNone/>
            </a:pPr>
            <a:r>
              <a:rPr lang="en-US" sz="1300" dirty="0">
                <a:solidFill>
                  <a:srgbClr val="7B93AA"/>
                </a:solidFill>
                <a:latin typeface="Calibri" pitchFamily="34" charset="0"/>
                <a:ea typeface="Calibri" pitchFamily="34" charset="-122"/>
                <a:cs typeface="Calibri" pitchFamily="34" charset="-120"/>
              </a:rPr>
              <a:t>Seguimiento de tickets ajenos</a:t>
            </a:r>
            <a:endParaRPr lang="en-US" sz="1300" dirty="0"/>
          </a:p>
        </p:txBody>
      </p:sp>
      <p:sp>
        <p:nvSpPr>
          <p:cNvPr id="10" name="Text 8"/>
          <p:cNvSpPr/>
          <p:nvPr/>
        </p:nvSpPr>
        <p:spPr>
          <a:xfrm>
            <a:off x="548640" y="2487168"/>
            <a:ext cx="3657600" cy="347472"/>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a:t>
            </a:r>
            <a:pPr indent="0" marL="0">
              <a:buNone/>
            </a:pPr>
            <a:r>
              <a:rPr lang="en-US" sz="1300" dirty="0">
                <a:solidFill>
                  <a:srgbClr val="7B93AA"/>
                </a:solidFill>
                <a:latin typeface="Calibri" pitchFamily="34" charset="0"/>
                <a:ea typeface="Calibri" pitchFamily="34" charset="-122"/>
                <a:cs typeface="Calibri" pitchFamily="34" charset="-120"/>
              </a:rPr>
              <a:t>Coordinacion de migraciones sin ser PM</a:t>
            </a:r>
            <a:endParaRPr lang="en-US" sz="1300" dirty="0"/>
          </a:p>
        </p:txBody>
      </p:sp>
      <p:sp>
        <p:nvSpPr>
          <p:cNvPr id="11" name="Text 9"/>
          <p:cNvSpPr/>
          <p:nvPr/>
        </p:nvSpPr>
        <p:spPr>
          <a:xfrm>
            <a:off x="548640" y="2898648"/>
            <a:ext cx="3657600" cy="347472"/>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a:t>
            </a:r>
            <a:pPr indent="0" marL="0">
              <a:buNone/>
            </a:pPr>
            <a:r>
              <a:rPr lang="en-US" sz="1300" dirty="0">
                <a:solidFill>
                  <a:srgbClr val="7B93AA"/>
                </a:solidFill>
                <a:latin typeface="Calibri" pitchFamily="34" charset="0"/>
                <a:ea typeface="Calibri" pitchFamily="34" charset="-122"/>
                <a:cs typeface="Calibri" pitchFamily="34" charset="-120"/>
              </a:rPr>
              <a:t>Responder urgentes todo el dia</a:t>
            </a:r>
            <a:endParaRPr lang="en-US" sz="1300" dirty="0"/>
          </a:p>
        </p:txBody>
      </p:sp>
      <p:sp>
        <p:nvSpPr>
          <p:cNvPr id="12" name="Text 10"/>
          <p:cNvSpPr/>
          <p:nvPr/>
        </p:nvSpPr>
        <p:spPr>
          <a:xfrm>
            <a:off x="548640" y="3310128"/>
            <a:ext cx="3657600" cy="347472"/>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a:t>
            </a:r>
            <a:pPr indent="0" marL="0">
              <a:buNone/>
            </a:pPr>
            <a:r>
              <a:rPr lang="en-US" sz="1300" dirty="0">
                <a:solidFill>
                  <a:srgbClr val="7B93AA"/>
                </a:solidFill>
                <a:latin typeface="Calibri" pitchFamily="34" charset="0"/>
                <a:ea typeface="Calibri" pitchFamily="34" charset="-122"/>
                <a:cs typeface="Calibri" pitchFamily="34" charset="-120"/>
              </a:rPr>
              <a:t>Renovaciones de ultimo minuto</a:t>
            </a:r>
            <a:endParaRPr lang="en-US" sz="1300" dirty="0"/>
          </a:p>
        </p:txBody>
      </p:sp>
      <p:sp>
        <p:nvSpPr>
          <p:cNvPr id="13" name="Text 11"/>
          <p:cNvSpPr/>
          <p:nvPr/>
        </p:nvSpPr>
        <p:spPr>
          <a:xfrm>
            <a:off x="548640" y="3721608"/>
            <a:ext cx="3657600" cy="347472"/>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a:t>
            </a:r>
            <a:pPr indent="0" marL="0">
              <a:buNone/>
            </a:pPr>
            <a:r>
              <a:rPr lang="en-US" sz="1300" dirty="0">
                <a:solidFill>
                  <a:srgbClr val="7B93AA"/>
                </a:solidFill>
                <a:latin typeface="Calibri" pitchFamily="34" charset="0"/>
                <a:ea typeface="Calibri" pitchFamily="34" charset="-122"/>
                <a:cs typeface="Calibri" pitchFamily="34" charset="-120"/>
              </a:rPr>
              <a:t>Sin playbook: cada caso desde cero</a:t>
            </a:r>
            <a:endParaRPr lang="en-US" sz="1300" dirty="0"/>
          </a:p>
        </p:txBody>
      </p:sp>
      <p:sp>
        <p:nvSpPr>
          <p:cNvPr id="14" name="Shape 12"/>
          <p:cNvSpPr/>
          <p:nvPr/>
        </p:nvSpPr>
        <p:spPr>
          <a:xfrm>
            <a:off x="4434840" y="3017520"/>
            <a:ext cx="640080" cy="0"/>
          </a:xfrm>
          <a:prstGeom prst="line">
            <a:avLst/>
          </a:prstGeom>
          <a:noFill/>
          <a:ln w="25400">
            <a:solidFill>
              <a:srgbClr val="F2A71B"/>
            </a:solidFill>
            <a:prstDash val="solid"/>
          </a:ln>
        </p:spPr>
      </p:sp>
      <p:sp>
        <p:nvSpPr>
          <p:cNvPr id="15" name="Text 13"/>
          <p:cNvSpPr/>
          <p:nvPr/>
        </p:nvSpPr>
        <p:spPr>
          <a:xfrm>
            <a:off x="4370832" y="2834640"/>
            <a:ext cx="777240" cy="365760"/>
          </a:xfrm>
          <a:prstGeom prst="rect">
            <a:avLst/>
          </a:prstGeom>
          <a:noFill/>
          <a:ln/>
        </p:spPr>
        <p:txBody>
          <a:bodyPr wrap="square" lIns="0" tIns="0" rIns="0" bIns="0" rtlCol="0" anchor="ctr"/>
          <a:lstStyle/>
          <a:p>
            <a:pPr algn="ctr" indent="0" marL="0">
              <a:buNone/>
            </a:pPr>
            <a:r>
              <a:rPr lang="en-US" sz="2400" b="1" dirty="0">
                <a:solidFill>
                  <a:srgbClr val="F2A71B"/>
                </a:solidFill>
                <a:latin typeface="Calibri" pitchFamily="34" charset="0"/>
                <a:ea typeface="Calibri" pitchFamily="34" charset="-122"/>
                <a:cs typeface="Calibri" pitchFamily="34" charset="-120"/>
              </a:rPr>
              <a:t>-&gt;</a:t>
            </a:r>
            <a:endParaRPr lang="en-US" sz="2400" dirty="0"/>
          </a:p>
        </p:txBody>
      </p:sp>
      <p:sp>
        <p:nvSpPr>
          <p:cNvPr id="16" name="Shape 14"/>
          <p:cNvSpPr/>
          <p:nvPr/>
        </p:nvSpPr>
        <p:spPr>
          <a:xfrm>
            <a:off x="4846320" y="1188720"/>
            <a:ext cx="3931920" cy="3657600"/>
          </a:xfrm>
          <a:prstGeom prst="roundRect">
            <a:avLst>
              <a:gd name="adj" fmla="val 3000"/>
            </a:avLst>
          </a:prstGeom>
          <a:solidFill>
            <a:srgbClr val="162840"/>
          </a:solidFill>
          <a:ln w="15240">
            <a:solidFill>
              <a:srgbClr val="0F9B8E"/>
            </a:solidFill>
            <a:prstDash val="solid"/>
          </a:ln>
        </p:spPr>
      </p:sp>
      <p:sp>
        <p:nvSpPr>
          <p:cNvPr id="17" name="Text 15"/>
          <p:cNvSpPr/>
          <p:nvPr/>
        </p:nvSpPr>
        <p:spPr>
          <a:xfrm>
            <a:off x="4846320" y="1188720"/>
            <a:ext cx="3931920" cy="384048"/>
          </a:xfrm>
          <a:prstGeom prst="rect">
            <a:avLst/>
          </a:prstGeom>
          <a:noFill/>
          <a:ln/>
        </p:spPr>
        <p:txBody>
          <a:bodyPr wrap="square" lIns="0" tIns="0" rIns="0" bIns="0" rtlCol="0" anchor="ctr"/>
          <a:lstStyle/>
          <a:p>
            <a:pPr algn="ctr" indent="0" marL="0">
              <a:buNone/>
            </a:pPr>
            <a:r>
              <a:rPr lang="en-US" sz="1400" b="1" dirty="0">
                <a:solidFill>
                  <a:srgbClr val="0F9B8E"/>
                </a:solidFill>
                <a:latin typeface="Calibri" pitchFamily="34" charset="0"/>
                <a:ea typeface="Calibri" pitchFamily="34" charset="-122"/>
                <a:cs typeface="Calibri" pitchFamily="34" charset="-120"/>
              </a:rPr>
              <a:t>H2 2026</a:t>
            </a:r>
            <a:endParaRPr lang="en-US" sz="1400" dirty="0"/>
          </a:p>
        </p:txBody>
      </p:sp>
      <p:sp>
        <p:nvSpPr>
          <p:cNvPr id="18" name="Text 16"/>
          <p:cNvSpPr/>
          <p:nvPr/>
        </p:nvSpPr>
        <p:spPr>
          <a:xfrm>
            <a:off x="5029200" y="1664208"/>
            <a:ext cx="3657600" cy="347472"/>
          </a:xfrm>
          <a:prstGeom prst="rect">
            <a:avLst/>
          </a:prstGeom>
          <a:noFill/>
          <a:ln/>
        </p:spPr>
        <p:txBody>
          <a:bodyPr wrap="square" lIns="0" tIns="0" rIns="0" bIns="0" rtlCol="0" anchor="ctr"/>
          <a:lstStyle/>
          <a:p>
            <a:pPr indent="0" marL="0">
              <a:buNone/>
            </a:pPr>
            <a:r>
              <a:rPr lang="en-US" sz="1300" b="1" dirty="0">
                <a:solidFill>
                  <a:srgbClr val="0F9B8E"/>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Dashboard en tiempo real — 1 sola fuente</a:t>
            </a:r>
            <a:endParaRPr lang="en-US" sz="1300" dirty="0"/>
          </a:p>
        </p:txBody>
      </p:sp>
      <p:sp>
        <p:nvSpPr>
          <p:cNvPr id="19" name="Text 17"/>
          <p:cNvSpPr/>
          <p:nvPr/>
        </p:nvSpPr>
        <p:spPr>
          <a:xfrm>
            <a:off x="5029200" y="2075688"/>
            <a:ext cx="3657600" cy="347472"/>
          </a:xfrm>
          <a:prstGeom prst="rect">
            <a:avLst/>
          </a:prstGeom>
          <a:noFill/>
          <a:ln/>
        </p:spPr>
        <p:txBody>
          <a:bodyPr wrap="square" lIns="0" tIns="0" rIns="0" bIns="0" rtlCol="0" anchor="ctr"/>
          <a:lstStyle/>
          <a:p>
            <a:pPr indent="0" marL="0">
              <a:buNone/>
            </a:pPr>
            <a:r>
              <a:rPr lang="en-US" sz="1300" b="1" dirty="0">
                <a:solidFill>
                  <a:srgbClr val="0F9B8E"/>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Playbooks para cada situacion critica</a:t>
            </a:r>
            <a:endParaRPr lang="en-US" sz="1300" dirty="0"/>
          </a:p>
        </p:txBody>
      </p:sp>
      <p:sp>
        <p:nvSpPr>
          <p:cNvPr id="20" name="Text 18"/>
          <p:cNvSpPr/>
          <p:nvPr/>
        </p:nvSpPr>
        <p:spPr>
          <a:xfrm>
            <a:off x="5029200" y="2487168"/>
            <a:ext cx="3657600" cy="347472"/>
          </a:xfrm>
          <a:prstGeom prst="rect">
            <a:avLst/>
          </a:prstGeom>
          <a:noFill/>
          <a:ln/>
        </p:spPr>
        <p:txBody>
          <a:bodyPr wrap="square" lIns="0" tIns="0" rIns="0" bIns="0" rtlCol="0" anchor="ctr"/>
          <a:lstStyle/>
          <a:p>
            <a:pPr indent="0" marL="0">
              <a:buNone/>
            </a:pPr>
            <a:r>
              <a:rPr lang="en-US" sz="1300" b="1" dirty="0">
                <a:solidFill>
                  <a:srgbClr val="0F9B8E"/>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Cadencia proactiva con todos los clientes</a:t>
            </a:r>
            <a:endParaRPr lang="en-US" sz="1300" dirty="0"/>
          </a:p>
        </p:txBody>
      </p:sp>
      <p:sp>
        <p:nvSpPr>
          <p:cNvPr id="21" name="Text 19"/>
          <p:cNvSpPr/>
          <p:nvPr/>
        </p:nvSpPr>
        <p:spPr>
          <a:xfrm>
            <a:off x="5029200" y="2898648"/>
            <a:ext cx="3657600" cy="347472"/>
          </a:xfrm>
          <a:prstGeom prst="rect">
            <a:avLst/>
          </a:prstGeom>
          <a:noFill/>
          <a:ln/>
        </p:spPr>
        <p:txBody>
          <a:bodyPr wrap="square" lIns="0" tIns="0" rIns="0" bIns="0" rtlCol="0" anchor="ctr"/>
          <a:lstStyle/>
          <a:p>
            <a:pPr indent="0" marL="0">
              <a:buNone/>
            </a:pPr>
            <a:r>
              <a:rPr lang="en-US" sz="1300" b="1" dirty="0">
                <a:solidFill>
                  <a:srgbClr val="0F9B8E"/>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EBRs y QBRs como proceso sistematico</a:t>
            </a:r>
            <a:endParaRPr lang="en-US" sz="1300" dirty="0"/>
          </a:p>
        </p:txBody>
      </p:sp>
      <p:sp>
        <p:nvSpPr>
          <p:cNvPr id="22" name="Text 20"/>
          <p:cNvSpPr/>
          <p:nvPr/>
        </p:nvSpPr>
        <p:spPr>
          <a:xfrm>
            <a:off x="5029200" y="3310128"/>
            <a:ext cx="3657600" cy="347472"/>
          </a:xfrm>
          <a:prstGeom prst="rect">
            <a:avLst/>
          </a:prstGeom>
          <a:noFill/>
          <a:ln/>
        </p:spPr>
        <p:txBody>
          <a:bodyPr wrap="square" lIns="0" tIns="0" rIns="0" bIns="0" rtlCol="0" anchor="ctr"/>
          <a:lstStyle/>
          <a:p>
            <a:pPr indent="0" marL="0">
              <a:buNone/>
            </a:pPr>
            <a:r>
              <a:rPr lang="en-US" sz="1300" b="1" dirty="0">
                <a:solidFill>
                  <a:srgbClr val="0F9B8E"/>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Renovaciones con 90 dias de anticipacion</a:t>
            </a:r>
            <a:endParaRPr lang="en-US" sz="1300" dirty="0"/>
          </a:p>
        </p:txBody>
      </p:sp>
      <p:sp>
        <p:nvSpPr>
          <p:cNvPr id="23" name="Text 21"/>
          <p:cNvSpPr/>
          <p:nvPr/>
        </p:nvSpPr>
        <p:spPr>
          <a:xfrm>
            <a:off x="5029200" y="3721608"/>
            <a:ext cx="3657600" cy="347472"/>
          </a:xfrm>
          <a:prstGeom prst="rect">
            <a:avLst/>
          </a:prstGeom>
          <a:noFill/>
          <a:ln/>
        </p:spPr>
        <p:txBody>
          <a:bodyPr wrap="square" lIns="0" tIns="0" rIns="0" bIns="0" rtlCol="0" anchor="ctr"/>
          <a:lstStyle/>
          <a:p>
            <a:pPr indent="0" marL="0">
              <a:buNone/>
            </a:pPr>
            <a:r>
              <a:rPr lang="en-US" sz="1300" b="1" dirty="0">
                <a:solidFill>
                  <a:srgbClr val="0F9B8E"/>
                </a:solidFill>
                <a:latin typeface="Calibri" pitchFamily="34" charset="0"/>
                <a:ea typeface="Calibri" pitchFamily="34" charset="-122"/>
                <a:cs typeface="Calibri" pitchFamily="34" charset="-120"/>
              </a:rPr>
              <a:t>+ </a:t>
            </a:r>
            <a:pPr indent="0" marL="0">
              <a:buNone/>
            </a:pPr>
            <a:r>
              <a:rPr lang="en-US" sz="1300" dirty="0">
                <a:solidFill>
                  <a:srgbClr val="FFFFFF"/>
                </a:solidFill>
                <a:latin typeface="Calibri" pitchFamily="34" charset="0"/>
                <a:ea typeface="Calibri" pitchFamily="34" charset="-122"/>
                <a:cs typeface="Calibri" pitchFamily="34" charset="-120"/>
              </a:rPr>
              <a:t>Expansion como resultado de la adopcion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CONDICIONES NECESARIAS</a:t>
            </a:r>
            <a:endParaRPr lang="en-US" sz="1000" dirty="0"/>
          </a:p>
        </p:txBody>
      </p:sp>
      <p:sp>
        <p:nvSpPr>
          <p:cNvPr id="3" name="Text 1"/>
          <p:cNvSpPr/>
          <p:nvPr/>
        </p:nvSpPr>
        <p:spPr>
          <a:xfrm>
            <a:off x="457200" y="411480"/>
            <a:ext cx="8229600" cy="548640"/>
          </a:xfrm>
          <a:prstGeom prst="rect">
            <a:avLst/>
          </a:prstGeom>
          <a:noFill/>
          <a:ln/>
        </p:spPr>
        <p:txBody>
          <a:bodyPr wrap="square" lIns="0" tIns="0" rIns="0" bIns="0" rtlCol="0" anchor="ctr"/>
          <a:lstStyle/>
          <a:p>
            <a:pPr indent="0" marL="0">
              <a:buNone/>
            </a:pPr>
            <a:r>
              <a:rPr lang="en-US" sz="2800" b="1" dirty="0">
                <a:solidFill>
                  <a:srgbClr val="0F2137"/>
                </a:solidFill>
                <a:latin typeface="Calibri" pitchFamily="34" charset="0"/>
                <a:ea typeface="Calibri" pitchFamily="34" charset="-122"/>
                <a:cs typeface="Calibri" pitchFamily="34" charset="-120"/>
              </a:rPr>
              <a:t>Lo que el equipo necesita para ejecutar</a:t>
            </a:r>
            <a:endParaRPr lang="en-US" sz="2800" dirty="0"/>
          </a:p>
        </p:txBody>
      </p:sp>
      <p:sp>
        <p:nvSpPr>
          <p:cNvPr id="4" name="Shape 2"/>
          <p:cNvSpPr/>
          <p:nvPr/>
        </p:nvSpPr>
        <p:spPr>
          <a:xfrm>
            <a:off x="320040" y="1078992"/>
            <a:ext cx="2788920" cy="3840480"/>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Shape 3"/>
          <p:cNvSpPr/>
          <p:nvPr/>
        </p:nvSpPr>
        <p:spPr>
          <a:xfrm>
            <a:off x="320040" y="1078992"/>
            <a:ext cx="2788920" cy="365760"/>
          </a:xfrm>
          <a:prstGeom prst="roundRect">
            <a:avLst>
              <a:gd name="adj" fmla="val 25000"/>
            </a:avLst>
          </a:prstGeom>
          <a:solidFill>
            <a:srgbClr val="0F9B8E"/>
          </a:solidFill>
          <a:ln w="12700">
            <a:solidFill>
              <a:srgbClr val="0F9B8E"/>
            </a:solidFill>
            <a:prstDash val="solid"/>
          </a:ln>
        </p:spPr>
      </p:sp>
      <p:sp>
        <p:nvSpPr>
          <p:cNvPr id="6" name="Text 4"/>
          <p:cNvSpPr/>
          <p:nvPr/>
        </p:nvSpPr>
        <p:spPr>
          <a:xfrm>
            <a:off x="320040" y="1078992"/>
            <a:ext cx="2788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Procesos</a:t>
            </a:r>
            <a:endParaRPr lang="en-US" sz="1400" dirty="0"/>
          </a:p>
        </p:txBody>
      </p:sp>
      <p:sp>
        <p:nvSpPr>
          <p:cNvPr id="7" name="Shape 5"/>
          <p:cNvSpPr/>
          <p:nvPr/>
        </p:nvSpPr>
        <p:spPr>
          <a:xfrm>
            <a:off x="484632" y="1664208"/>
            <a:ext cx="146304" cy="146304"/>
          </a:xfrm>
          <a:prstGeom prst="ellipse">
            <a:avLst/>
          </a:prstGeom>
          <a:solidFill>
            <a:srgbClr val="0F9B8E"/>
          </a:solidFill>
          <a:ln w="12700">
            <a:solidFill>
              <a:srgbClr val="0F9B8E"/>
            </a:solidFill>
            <a:prstDash val="solid"/>
          </a:ln>
        </p:spPr>
      </p:sp>
      <p:sp>
        <p:nvSpPr>
          <p:cNvPr id="8" name="Text 6"/>
          <p:cNvSpPr/>
          <p:nvPr/>
        </p:nvSpPr>
        <p:spPr>
          <a:xfrm>
            <a:off x="704088" y="1572768"/>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Playbook onboarding — first value &lt; 30 dias</a:t>
            </a:r>
            <a:endParaRPr lang="en-US" sz="1150" dirty="0"/>
          </a:p>
        </p:txBody>
      </p:sp>
      <p:sp>
        <p:nvSpPr>
          <p:cNvPr id="9" name="Shape 7"/>
          <p:cNvSpPr/>
          <p:nvPr/>
        </p:nvSpPr>
        <p:spPr>
          <a:xfrm>
            <a:off x="484632" y="2450592"/>
            <a:ext cx="146304" cy="146304"/>
          </a:xfrm>
          <a:prstGeom prst="ellipse">
            <a:avLst/>
          </a:prstGeom>
          <a:solidFill>
            <a:srgbClr val="0F9B8E"/>
          </a:solidFill>
          <a:ln w="12700">
            <a:solidFill>
              <a:srgbClr val="0F9B8E"/>
            </a:solidFill>
            <a:prstDash val="solid"/>
          </a:ln>
        </p:spPr>
      </p:sp>
      <p:sp>
        <p:nvSpPr>
          <p:cNvPr id="10" name="Text 8"/>
          <p:cNvSpPr/>
          <p:nvPr/>
        </p:nvSpPr>
        <p:spPr>
          <a:xfrm>
            <a:off x="704088" y="2359152"/>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Playbook NPS negativo — plan en &lt; 72h</a:t>
            </a:r>
            <a:endParaRPr lang="en-US" sz="1150" dirty="0"/>
          </a:p>
        </p:txBody>
      </p:sp>
      <p:sp>
        <p:nvSpPr>
          <p:cNvPr id="11" name="Shape 9"/>
          <p:cNvSpPr/>
          <p:nvPr/>
        </p:nvSpPr>
        <p:spPr>
          <a:xfrm>
            <a:off x="484632" y="3236976"/>
            <a:ext cx="146304" cy="146304"/>
          </a:xfrm>
          <a:prstGeom prst="ellipse">
            <a:avLst/>
          </a:prstGeom>
          <a:solidFill>
            <a:srgbClr val="0F9B8E"/>
          </a:solidFill>
          <a:ln w="12700">
            <a:solidFill>
              <a:srgbClr val="0F9B8E"/>
            </a:solidFill>
            <a:prstDash val="solid"/>
          </a:ln>
        </p:spPr>
      </p:sp>
      <p:sp>
        <p:nvSpPr>
          <p:cNvPr id="12" name="Text 10"/>
          <p:cNvSpPr/>
          <p:nvPr/>
        </p:nvSpPr>
        <p:spPr>
          <a:xfrm>
            <a:off x="704088" y="3145536"/>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Playbook activacion UP &lt; 40%</a:t>
            </a:r>
            <a:endParaRPr lang="en-US" sz="1150" dirty="0"/>
          </a:p>
        </p:txBody>
      </p:sp>
      <p:sp>
        <p:nvSpPr>
          <p:cNvPr id="13" name="Shape 11"/>
          <p:cNvSpPr/>
          <p:nvPr/>
        </p:nvSpPr>
        <p:spPr>
          <a:xfrm>
            <a:off x="484632" y="4023360"/>
            <a:ext cx="146304" cy="146304"/>
          </a:xfrm>
          <a:prstGeom prst="ellipse">
            <a:avLst/>
          </a:prstGeom>
          <a:solidFill>
            <a:srgbClr val="0F9B8E"/>
          </a:solidFill>
          <a:ln w="12700">
            <a:solidFill>
              <a:srgbClr val="0F9B8E"/>
            </a:solidFill>
            <a:prstDash val="solid"/>
          </a:ln>
        </p:spPr>
      </p:sp>
      <p:sp>
        <p:nvSpPr>
          <p:cNvPr id="14" name="Text 12"/>
          <p:cNvSpPr/>
          <p:nvPr/>
        </p:nvSpPr>
        <p:spPr>
          <a:xfrm>
            <a:off x="704088" y="3931920"/>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Proceso CS→Comercial para oportunidades expansion</a:t>
            </a:r>
            <a:endParaRPr lang="en-US" sz="1150" dirty="0"/>
          </a:p>
        </p:txBody>
      </p:sp>
      <p:sp>
        <p:nvSpPr>
          <p:cNvPr id="15" name="Shape 13"/>
          <p:cNvSpPr/>
          <p:nvPr/>
        </p:nvSpPr>
        <p:spPr>
          <a:xfrm>
            <a:off x="3246120" y="1078992"/>
            <a:ext cx="2788920" cy="3840480"/>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6" name="Shape 14"/>
          <p:cNvSpPr/>
          <p:nvPr/>
        </p:nvSpPr>
        <p:spPr>
          <a:xfrm>
            <a:off x="3246120" y="1078992"/>
            <a:ext cx="2788920" cy="365760"/>
          </a:xfrm>
          <a:prstGeom prst="roundRect">
            <a:avLst>
              <a:gd name="adj" fmla="val 25000"/>
            </a:avLst>
          </a:prstGeom>
          <a:solidFill>
            <a:srgbClr val="F2A71B"/>
          </a:solidFill>
          <a:ln w="12700">
            <a:solidFill>
              <a:srgbClr val="F2A71B"/>
            </a:solidFill>
            <a:prstDash val="solid"/>
          </a:ln>
        </p:spPr>
      </p:sp>
      <p:sp>
        <p:nvSpPr>
          <p:cNvPr id="17" name="Text 15"/>
          <p:cNvSpPr/>
          <p:nvPr/>
        </p:nvSpPr>
        <p:spPr>
          <a:xfrm>
            <a:off x="3246120" y="1078992"/>
            <a:ext cx="2788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Organizacion</a:t>
            </a:r>
            <a:endParaRPr lang="en-US" sz="1400" dirty="0"/>
          </a:p>
        </p:txBody>
      </p:sp>
      <p:sp>
        <p:nvSpPr>
          <p:cNvPr id="18" name="Shape 16"/>
          <p:cNvSpPr/>
          <p:nvPr/>
        </p:nvSpPr>
        <p:spPr>
          <a:xfrm>
            <a:off x="3410712" y="1664208"/>
            <a:ext cx="146304" cy="146304"/>
          </a:xfrm>
          <a:prstGeom prst="ellipse">
            <a:avLst/>
          </a:prstGeom>
          <a:solidFill>
            <a:srgbClr val="F2A71B"/>
          </a:solidFill>
          <a:ln w="12700">
            <a:solidFill>
              <a:srgbClr val="F2A71B"/>
            </a:solidFill>
            <a:prstDash val="solid"/>
          </a:ln>
        </p:spPr>
      </p:sp>
      <p:sp>
        <p:nvSpPr>
          <p:cNvPr id="19" name="Text 17"/>
          <p:cNvSpPr/>
          <p:nvPr/>
        </p:nvSpPr>
        <p:spPr>
          <a:xfrm>
            <a:off x="3630168" y="1572768"/>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Segmentacion cartera: high/mid/tech-touch</a:t>
            </a:r>
            <a:endParaRPr lang="en-US" sz="1150" dirty="0"/>
          </a:p>
        </p:txBody>
      </p:sp>
      <p:sp>
        <p:nvSpPr>
          <p:cNvPr id="20" name="Shape 18"/>
          <p:cNvSpPr/>
          <p:nvPr/>
        </p:nvSpPr>
        <p:spPr>
          <a:xfrm>
            <a:off x="3410712" y="2450592"/>
            <a:ext cx="146304" cy="146304"/>
          </a:xfrm>
          <a:prstGeom prst="ellipse">
            <a:avLst/>
          </a:prstGeom>
          <a:solidFill>
            <a:srgbClr val="F2A71B"/>
          </a:solidFill>
          <a:ln w="12700">
            <a:solidFill>
              <a:srgbClr val="F2A71B"/>
            </a:solidFill>
            <a:prstDash val="solid"/>
          </a:ln>
        </p:spPr>
      </p:sp>
      <p:sp>
        <p:nvSpPr>
          <p:cNvPr id="21" name="Text 19"/>
          <p:cNvSpPr/>
          <p:nvPr/>
        </p:nvSpPr>
        <p:spPr>
          <a:xfrm>
            <a:off x="3630168" y="2359152"/>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SLA interno: tiempo de respuesta de Producto y Soporte</a:t>
            </a:r>
            <a:endParaRPr lang="en-US" sz="1150" dirty="0"/>
          </a:p>
        </p:txBody>
      </p:sp>
      <p:sp>
        <p:nvSpPr>
          <p:cNvPr id="22" name="Shape 20"/>
          <p:cNvSpPr/>
          <p:nvPr/>
        </p:nvSpPr>
        <p:spPr>
          <a:xfrm>
            <a:off x="3410712" y="3236976"/>
            <a:ext cx="146304" cy="146304"/>
          </a:xfrm>
          <a:prstGeom prst="ellipse">
            <a:avLst/>
          </a:prstGeom>
          <a:solidFill>
            <a:srgbClr val="F2A71B"/>
          </a:solidFill>
          <a:ln w="12700">
            <a:solidFill>
              <a:srgbClr val="F2A71B"/>
            </a:solidFill>
            <a:prstDash val="solid"/>
          </a:ln>
        </p:spPr>
      </p:sp>
      <p:sp>
        <p:nvSpPr>
          <p:cNvPr id="23" name="Text 21"/>
          <p:cNvSpPr/>
          <p:nvPr/>
        </p:nvSpPr>
        <p:spPr>
          <a:xfrm>
            <a:off x="3630168" y="3145536"/>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PM owner para migracion Centry con fecha entrega</a:t>
            </a:r>
            <a:endParaRPr lang="en-US" sz="1150" dirty="0"/>
          </a:p>
        </p:txBody>
      </p:sp>
      <p:sp>
        <p:nvSpPr>
          <p:cNvPr id="24" name="Shape 22"/>
          <p:cNvSpPr/>
          <p:nvPr/>
        </p:nvSpPr>
        <p:spPr>
          <a:xfrm>
            <a:off x="3410712" y="4023360"/>
            <a:ext cx="146304" cy="146304"/>
          </a:xfrm>
          <a:prstGeom prst="ellipse">
            <a:avLst/>
          </a:prstGeom>
          <a:solidFill>
            <a:srgbClr val="F2A71B"/>
          </a:solidFill>
          <a:ln w="12700">
            <a:solidFill>
              <a:srgbClr val="F2A71B"/>
            </a:solidFill>
            <a:prstDash val="solid"/>
          </a:ln>
        </p:spPr>
      </p:sp>
      <p:sp>
        <p:nvSpPr>
          <p:cNvPr id="25" name="Text 23"/>
          <p:cNvSpPr/>
          <p:nvPr/>
        </p:nvSpPr>
        <p:spPr>
          <a:xfrm>
            <a:off x="3630168" y="3931920"/>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Tiempo protegido para trabajo proactivo (min 40%)</a:t>
            </a:r>
            <a:endParaRPr lang="en-US" sz="1150" dirty="0"/>
          </a:p>
        </p:txBody>
      </p:sp>
      <p:sp>
        <p:nvSpPr>
          <p:cNvPr id="26" name="Shape 24"/>
          <p:cNvSpPr/>
          <p:nvPr/>
        </p:nvSpPr>
        <p:spPr>
          <a:xfrm>
            <a:off x="6172200" y="1078992"/>
            <a:ext cx="2788920" cy="3840480"/>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7" name="Shape 25"/>
          <p:cNvSpPr/>
          <p:nvPr/>
        </p:nvSpPr>
        <p:spPr>
          <a:xfrm>
            <a:off x="6172200" y="1078992"/>
            <a:ext cx="2788920" cy="365760"/>
          </a:xfrm>
          <a:prstGeom prst="roundRect">
            <a:avLst>
              <a:gd name="adj" fmla="val 25000"/>
            </a:avLst>
          </a:prstGeom>
          <a:solidFill>
            <a:srgbClr val="3B82F6"/>
          </a:solidFill>
          <a:ln w="12700">
            <a:solidFill>
              <a:srgbClr val="3B82F6"/>
            </a:solidFill>
            <a:prstDash val="solid"/>
          </a:ln>
        </p:spPr>
      </p:sp>
      <p:sp>
        <p:nvSpPr>
          <p:cNvPr id="28" name="Text 26"/>
          <p:cNvSpPr/>
          <p:nvPr/>
        </p:nvSpPr>
        <p:spPr>
          <a:xfrm>
            <a:off x="6172200" y="1078992"/>
            <a:ext cx="2788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Herramientas</a:t>
            </a:r>
            <a:endParaRPr lang="en-US" sz="1400" dirty="0"/>
          </a:p>
        </p:txBody>
      </p:sp>
      <p:sp>
        <p:nvSpPr>
          <p:cNvPr id="29" name="Shape 27"/>
          <p:cNvSpPr/>
          <p:nvPr/>
        </p:nvSpPr>
        <p:spPr>
          <a:xfrm>
            <a:off x="6336792" y="1664208"/>
            <a:ext cx="146304" cy="146304"/>
          </a:xfrm>
          <a:prstGeom prst="ellipse">
            <a:avLst/>
          </a:prstGeom>
          <a:solidFill>
            <a:srgbClr val="3B82F6"/>
          </a:solidFill>
          <a:ln w="12700">
            <a:solidFill>
              <a:srgbClr val="3B82F6"/>
            </a:solidFill>
            <a:prstDash val="solid"/>
          </a:ln>
        </p:spPr>
      </p:sp>
      <p:sp>
        <p:nvSpPr>
          <p:cNvPr id="30" name="Text 28"/>
          <p:cNvSpPr/>
          <p:nvPr/>
        </p:nvSpPr>
        <p:spPr>
          <a:xfrm>
            <a:off x="6556248" y="1572768"/>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Dashboard salud en tiempo real (ya existe)</a:t>
            </a:r>
            <a:endParaRPr lang="en-US" sz="1150" dirty="0"/>
          </a:p>
        </p:txBody>
      </p:sp>
      <p:sp>
        <p:nvSpPr>
          <p:cNvPr id="31" name="Shape 29"/>
          <p:cNvSpPr/>
          <p:nvPr/>
        </p:nvSpPr>
        <p:spPr>
          <a:xfrm>
            <a:off x="6336792" y="2450592"/>
            <a:ext cx="146304" cy="146304"/>
          </a:xfrm>
          <a:prstGeom prst="ellipse">
            <a:avLst/>
          </a:prstGeom>
          <a:solidFill>
            <a:srgbClr val="3B82F6"/>
          </a:solidFill>
          <a:ln w="12700">
            <a:solidFill>
              <a:srgbClr val="3B82F6"/>
            </a:solidFill>
            <a:prstDash val="solid"/>
          </a:ln>
        </p:spPr>
      </p:sp>
      <p:sp>
        <p:nvSpPr>
          <p:cNvPr id="32" name="Text 30"/>
          <p:cNvSpPr/>
          <p:nvPr/>
        </p:nvSpPr>
        <p:spPr>
          <a:xfrm>
            <a:off x="6556248" y="2359152"/>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Visibilidad GMV sin entrar a Power BI manualmente</a:t>
            </a:r>
            <a:endParaRPr lang="en-US" sz="1150" dirty="0"/>
          </a:p>
        </p:txBody>
      </p:sp>
      <p:sp>
        <p:nvSpPr>
          <p:cNvPr id="33" name="Shape 31"/>
          <p:cNvSpPr/>
          <p:nvPr/>
        </p:nvSpPr>
        <p:spPr>
          <a:xfrm>
            <a:off x="6336792" y="3236976"/>
            <a:ext cx="146304" cy="146304"/>
          </a:xfrm>
          <a:prstGeom prst="ellipse">
            <a:avLst/>
          </a:prstGeom>
          <a:solidFill>
            <a:srgbClr val="3B82F6"/>
          </a:solidFill>
          <a:ln w="12700">
            <a:solidFill>
              <a:srgbClr val="3B82F6"/>
            </a:solidFill>
            <a:prstDash val="solid"/>
          </a:ln>
        </p:spPr>
      </p:sp>
      <p:sp>
        <p:nvSpPr>
          <p:cNvPr id="34" name="Text 32"/>
          <p:cNvSpPr/>
          <p:nvPr/>
        </p:nvSpPr>
        <p:spPr>
          <a:xfrm>
            <a:off x="6556248" y="3145536"/>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Registro unico de touchpoints en HubSpot</a:t>
            </a:r>
            <a:endParaRPr lang="en-US" sz="1150" dirty="0"/>
          </a:p>
        </p:txBody>
      </p:sp>
      <p:sp>
        <p:nvSpPr>
          <p:cNvPr id="35" name="Shape 33"/>
          <p:cNvSpPr/>
          <p:nvPr/>
        </p:nvSpPr>
        <p:spPr>
          <a:xfrm>
            <a:off x="6336792" y="4023360"/>
            <a:ext cx="146304" cy="146304"/>
          </a:xfrm>
          <a:prstGeom prst="ellipse">
            <a:avLst/>
          </a:prstGeom>
          <a:solidFill>
            <a:srgbClr val="3B82F6"/>
          </a:solidFill>
          <a:ln w="12700">
            <a:solidFill>
              <a:srgbClr val="3B82F6"/>
            </a:solidFill>
            <a:prstDash val="solid"/>
          </a:ln>
        </p:spPr>
      </p:sp>
      <p:sp>
        <p:nvSpPr>
          <p:cNvPr id="36" name="Text 34"/>
          <p:cNvSpPr/>
          <p:nvPr/>
        </p:nvSpPr>
        <p:spPr>
          <a:xfrm>
            <a:off x="6556248" y="3931920"/>
            <a:ext cx="2286000" cy="713232"/>
          </a:xfrm>
          <a:prstGeom prst="rect">
            <a:avLst/>
          </a:prstGeom>
          <a:noFill/>
          <a:ln/>
        </p:spPr>
        <p:txBody>
          <a:bodyPr wrap="square" lIns="0" tIns="0" rIns="0" bIns="0" rtlCol="0" anchor="ctr"/>
          <a:lstStyle/>
          <a:p>
            <a:pPr indent="0" marL="0">
              <a:buNone/>
            </a:pPr>
            <a:r>
              <a:rPr lang="en-US" sz="1150" dirty="0">
                <a:solidFill>
                  <a:srgbClr val="0F2137"/>
                </a:solidFill>
                <a:latin typeface="Calibri" pitchFamily="34" charset="0"/>
                <a:ea typeface="Calibri" pitchFamily="34" charset="-122"/>
                <a:cs typeface="Calibri" pitchFamily="34" charset="-120"/>
              </a:rPr>
              <a:t>Alertas automaticas: NPS negativo, sin contacto &gt; 30 dias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457200" y="201168"/>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MARCO ESTRATEGICO H2 2026</a:t>
            </a:r>
            <a:endParaRPr lang="en-US" sz="1000" dirty="0"/>
          </a:p>
        </p:txBody>
      </p:sp>
      <p:sp>
        <p:nvSpPr>
          <p:cNvPr id="5" name="Text 3"/>
          <p:cNvSpPr/>
          <p:nvPr/>
        </p:nvSpPr>
        <p:spPr>
          <a:xfrm>
            <a:off x="45720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Los 5 OKRs del equipo CS</a:t>
            </a:r>
            <a:endParaRPr lang="en-US" sz="3000" dirty="0"/>
          </a:p>
        </p:txBody>
      </p:sp>
      <p:sp>
        <p:nvSpPr>
          <p:cNvPr id="6" name="Shape 4"/>
          <p:cNvSpPr/>
          <p:nvPr/>
        </p:nvSpPr>
        <p:spPr>
          <a:xfrm>
            <a:off x="365760" y="1261872"/>
            <a:ext cx="4206240" cy="1691640"/>
          </a:xfrm>
          <a:prstGeom prst="roundRect">
            <a:avLst>
              <a:gd name="adj" fmla="val 6486"/>
            </a:avLst>
          </a:prstGeom>
          <a:solidFill>
            <a:srgbClr val="162840"/>
          </a:solidFill>
          <a:ln w="19050">
            <a:solidFill>
              <a:srgbClr val="0F9B8E"/>
            </a:solidFill>
            <a:prstDash val="solid"/>
          </a:ln>
        </p:spPr>
      </p:sp>
      <p:sp>
        <p:nvSpPr>
          <p:cNvPr id="7" name="Text 5"/>
          <p:cNvSpPr/>
          <p:nvPr/>
        </p:nvSpPr>
        <p:spPr>
          <a:xfrm>
            <a:off x="530352" y="1353312"/>
            <a:ext cx="3931920" cy="256032"/>
          </a:xfrm>
          <a:prstGeom prst="rect">
            <a:avLst/>
          </a:prstGeom>
          <a:noFill/>
          <a:ln/>
        </p:spPr>
        <p:txBody>
          <a:bodyPr wrap="square" lIns="0" tIns="0" rIns="0" bIns="0" rtlCol="0" anchor="ctr"/>
          <a:lstStyle/>
          <a:p>
            <a:pPr indent="0" marL="0">
              <a:buNone/>
            </a:pPr>
            <a:r>
              <a:rPr lang="en-US" sz="1000" b="1" spc="300" kern="0" dirty="0">
                <a:solidFill>
                  <a:srgbClr val="0F9B8E"/>
                </a:solidFill>
                <a:latin typeface="Calibri" pitchFamily="34" charset="0"/>
                <a:ea typeface="Calibri" pitchFamily="34" charset="-122"/>
                <a:cs typeface="Calibri" pitchFamily="34" charset="-120"/>
              </a:rPr>
              <a:t>OKR 1</a:t>
            </a:r>
            <a:endParaRPr lang="en-US" sz="1000" dirty="0"/>
          </a:p>
        </p:txBody>
      </p:sp>
      <p:sp>
        <p:nvSpPr>
          <p:cNvPr id="8" name="Text 6"/>
          <p:cNvSpPr/>
          <p:nvPr/>
        </p:nvSpPr>
        <p:spPr>
          <a:xfrm>
            <a:off x="530352" y="1609344"/>
            <a:ext cx="3931920"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Cobertura de Cadencia</a:t>
            </a:r>
            <a:endParaRPr lang="en-US" sz="1700" dirty="0"/>
          </a:p>
        </p:txBody>
      </p:sp>
      <p:sp>
        <p:nvSpPr>
          <p:cNvPr id="9" name="Text 7"/>
          <p:cNvSpPr/>
          <p:nvPr/>
        </p:nvSpPr>
        <p:spPr>
          <a:xfrm>
            <a:off x="530352" y="2084832"/>
            <a:ext cx="39319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0 clientes invisibles — 100% con contacto</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mensual documentado en HubSpot</a:t>
            </a:r>
            <a:endParaRPr lang="en-US" sz="1200" dirty="0"/>
          </a:p>
        </p:txBody>
      </p:sp>
      <p:sp>
        <p:nvSpPr>
          <p:cNvPr id="10" name="Shape 8"/>
          <p:cNvSpPr/>
          <p:nvPr/>
        </p:nvSpPr>
        <p:spPr>
          <a:xfrm>
            <a:off x="4754880" y="1261872"/>
            <a:ext cx="4206240" cy="1691640"/>
          </a:xfrm>
          <a:prstGeom prst="roundRect">
            <a:avLst>
              <a:gd name="adj" fmla="val 6486"/>
            </a:avLst>
          </a:prstGeom>
          <a:solidFill>
            <a:srgbClr val="162840"/>
          </a:solidFill>
          <a:ln w="19050">
            <a:solidFill>
              <a:srgbClr val="10B981"/>
            </a:solidFill>
            <a:prstDash val="solid"/>
          </a:ln>
        </p:spPr>
      </p:sp>
      <p:sp>
        <p:nvSpPr>
          <p:cNvPr id="11" name="Text 9"/>
          <p:cNvSpPr/>
          <p:nvPr/>
        </p:nvSpPr>
        <p:spPr>
          <a:xfrm>
            <a:off x="4919472" y="1353312"/>
            <a:ext cx="3931920" cy="256032"/>
          </a:xfrm>
          <a:prstGeom prst="rect">
            <a:avLst/>
          </a:prstGeom>
          <a:noFill/>
          <a:ln/>
        </p:spPr>
        <p:txBody>
          <a:bodyPr wrap="square" lIns="0" tIns="0" rIns="0" bIns="0" rtlCol="0" anchor="ctr"/>
          <a:lstStyle/>
          <a:p>
            <a:pPr indent="0" marL="0">
              <a:buNone/>
            </a:pPr>
            <a:r>
              <a:rPr lang="en-US" sz="1000" b="1" spc="300" kern="0" dirty="0">
                <a:solidFill>
                  <a:srgbClr val="10B981"/>
                </a:solidFill>
                <a:latin typeface="Calibri" pitchFamily="34" charset="0"/>
                <a:ea typeface="Calibri" pitchFamily="34" charset="-122"/>
                <a:cs typeface="Calibri" pitchFamily="34" charset="-120"/>
              </a:rPr>
              <a:t>OKR 2</a:t>
            </a:r>
            <a:endParaRPr lang="en-US" sz="1000" dirty="0"/>
          </a:p>
        </p:txBody>
      </p:sp>
      <p:sp>
        <p:nvSpPr>
          <p:cNvPr id="12" name="Text 10"/>
          <p:cNvSpPr/>
          <p:nvPr/>
        </p:nvSpPr>
        <p:spPr>
          <a:xfrm>
            <a:off x="4919472" y="1609344"/>
            <a:ext cx="3931920" cy="43891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Onboarding Efectivo</a:t>
            </a:r>
            <a:endParaRPr lang="en-US" sz="1700" dirty="0"/>
          </a:p>
        </p:txBody>
      </p:sp>
      <p:sp>
        <p:nvSpPr>
          <p:cNvPr id="13" name="Text 11"/>
          <p:cNvSpPr/>
          <p:nvPr/>
        </p:nvSpPr>
        <p:spPr>
          <a:xfrm>
            <a:off x="4919472" y="2084832"/>
            <a:ext cx="39319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Primer valor en &lt; 30 dias</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0 clientes nuevos sin adoption plan</a:t>
            </a:r>
            <a:endParaRPr lang="en-US" sz="1200" dirty="0"/>
          </a:p>
        </p:txBody>
      </p:sp>
      <p:sp>
        <p:nvSpPr>
          <p:cNvPr id="14" name="Shape 12"/>
          <p:cNvSpPr/>
          <p:nvPr/>
        </p:nvSpPr>
        <p:spPr>
          <a:xfrm>
            <a:off x="365760" y="3063240"/>
            <a:ext cx="2651760" cy="1691640"/>
          </a:xfrm>
          <a:prstGeom prst="roundRect">
            <a:avLst>
              <a:gd name="adj" fmla="val 6486"/>
            </a:avLst>
          </a:prstGeom>
          <a:solidFill>
            <a:srgbClr val="162840"/>
          </a:solidFill>
          <a:ln w="19050">
            <a:solidFill>
              <a:srgbClr val="F59E0B"/>
            </a:solidFill>
            <a:prstDash val="solid"/>
          </a:ln>
        </p:spPr>
      </p:sp>
      <p:sp>
        <p:nvSpPr>
          <p:cNvPr id="15" name="Text 13"/>
          <p:cNvSpPr/>
          <p:nvPr/>
        </p:nvSpPr>
        <p:spPr>
          <a:xfrm>
            <a:off x="530352" y="3154680"/>
            <a:ext cx="2377440" cy="256032"/>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OKR 3</a:t>
            </a:r>
            <a:endParaRPr lang="en-US" sz="1000" dirty="0"/>
          </a:p>
        </p:txBody>
      </p:sp>
      <p:sp>
        <p:nvSpPr>
          <p:cNvPr id="16" name="Text 14"/>
          <p:cNvSpPr/>
          <p:nvPr/>
        </p:nvSpPr>
        <p:spPr>
          <a:xfrm>
            <a:off x="530352" y="3410712"/>
            <a:ext cx="237744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Proteccion de Revenue</a:t>
            </a:r>
            <a:endParaRPr lang="en-US" sz="1500" dirty="0"/>
          </a:p>
        </p:txBody>
      </p:sp>
      <p:sp>
        <p:nvSpPr>
          <p:cNvPr id="17" name="Text 15"/>
          <p:cNvSpPr/>
          <p:nvPr/>
        </p:nvSpPr>
        <p:spPr>
          <a:xfrm>
            <a:off x="530352" y="3886200"/>
            <a:ext cx="237744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0% churn no anticipado</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100% renovaciones con 90 dias de anticipacion</a:t>
            </a:r>
            <a:endParaRPr lang="en-US" sz="1200" dirty="0"/>
          </a:p>
        </p:txBody>
      </p:sp>
      <p:sp>
        <p:nvSpPr>
          <p:cNvPr id="18" name="Shape 16"/>
          <p:cNvSpPr/>
          <p:nvPr/>
        </p:nvSpPr>
        <p:spPr>
          <a:xfrm>
            <a:off x="3154680" y="3063240"/>
            <a:ext cx="2651760" cy="1691640"/>
          </a:xfrm>
          <a:prstGeom prst="roundRect">
            <a:avLst>
              <a:gd name="adj" fmla="val 6486"/>
            </a:avLst>
          </a:prstGeom>
          <a:solidFill>
            <a:srgbClr val="162840"/>
          </a:solidFill>
          <a:ln w="19050">
            <a:solidFill>
              <a:srgbClr val="3B82F6"/>
            </a:solidFill>
            <a:prstDash val="solid"/>
          </a:ln>
        </p:spPr>
      </p:sp>
      <p:sp>
        <p:nvSpPr>
          <p:cNvPr id="19" name="Text 17"/>
          <p:cNvSpPr/>
          <p:nvPr/>
        </p:nvSpPr>
        <p:spPr>
          <a:xfrm>
            <a:off x="3319272" y="3154680"/>
            <a:ext cx="2377440" cy="256032"/>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OKR 4</a:t>
            </a:r>
            <a:endParaRPr lang="en-US" sz="1000" dirty="0"/>
          </a:p>
        </p:txBody>
      </p:sp>
      <p:sp>
        <p:nvSpPr>
          <p:cNvPr id="20" name="Text 18"/>
          <p:cNvSpPr/>
          <p:nvPr/>
        </p:nvSpPr>
        <p:spPr>
          <a:xfrm>
            <a:off x="3319272" y="3410712"/>
            <a:ext cx="237744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Conocimiento como Activo</a:t>
            </a:r>
            <a:endParaRPr lang="en-US" sz="1500" dirty="0"/>
          </a:p>
        </p:txBody>
      </p:sp>
      <p:sp>
        <p:nvSpPr>
          <p:cNvPr id="21" name="Text 19"/>
          <p:cNvSpPr/>
          <p:nvPr/>
        </p:nvSpPr>
        <p:spPr>
          <a:xfrm>
            <a:off x="3319272" y="3886200"/>
            <a:ext cx="237744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3 playbooks documentados</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2 sesiones best practices del equipo</a:t>
            </a:r>
            <a:endParaRPr lang="en-US" sz="1200" dirty="0"/>
          </a:p>
        </p:txBody>
      </p:sp>
      <p:sp>
        <p:nvSpPr>
          <p:cNvPr id="22" name="Shape 20"/>
          <p:cNvSpPr/>
          <p:nvPr/>
        </p:nvSpPr>
        <p:spPr>
          <a:xfrm>
            <a:off x="5943600" y="3063240"/>
            <a:ext cx="2834640" cy="1691640"/>
          </a:xfrm>
          <a:prstGeom prst="roundRect">
            <a:avLst>
              <a:gd name="adj" fmla="val 6486"/>
            </a:avLst>
          </a:prstGeom>
          <a:solidFill>
            <a:srgbClr val="162840"/>
          </a:solidFill>
          <a:ln w="19050">
            <a:solidFill>
              <a:srgbClr val="F2A71B"/>
            </a:solidFill>
            <a:prstDash val="solid"/>
          </a:ln>
        </p:spPr>
      </p:sp>
      <p:sp>
        <p:nvSpPr>
          <p:cNvPr id="23" name="Text 21"/>
          <p:cNvSpPr/>
          <p:nvPr/>
        </p:nvSpPr>
        <p:spPr>
          <a:xfrm>
            <a:off x="6108192" y="3154680"/>
            <a:ext cx="2560320" cy="256032"/>
          </a:xfrm>
          <a:prstGeom prst="rect">
            <a:avLst/>
          </a:prstGeom>
          <a:noFill/>
          <a:ln/>
        </p:spPr>
        <p:txBody>
          <a:bodyPr wrap="square" lIns="0" tIns="0" rIns="0" bIns="0" rtlCol="0" anchor="ctr"/>
          <a:lstStyle/>
          <a:p>
            <a:pPr indent="0" marL="0">
              <a:buNone/>
            </a:pPr>
            <a:r>
              <a:rPr lang="en-US" sz="1000" b="1" spc="300" kern="0" dirty="0">
                <a:solidFill>
                  <a:srgbClr val="F2A71B"/>
                </a:solidFill>
                <a:latin typeface="Calibri" pitchFamily="34" charset="0"/>
                <a:ea typeface="Calibri" pitchFamily="34" charset="-122"/>
                <a:cs typeface="Calibri" pitchFamily="34" charset="-120"/>
              </a:rPr>
              <a:t>OKR 5</a:t>
            </a:r>
            <a:endParaRPr lang="en-US" sz="1000" dirty="0"/>
          </a:p>
        </p:txBody>
      </p:sp>
      <p:sp>
        <p:nvSpPr>
          <p:cNvPr id="24" name="Text 22"/>
          <p:cNvSpPr/>
          <p:nvPr/>
        </p:nvSpPr>
        <p:spPr>
          <a:xfrm>
            <a:off x="6108192" y="3410712"/>
            <a:ext cx="2560320" cy="43891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Expansion Sistematica</a:t>
            </a:r>
            <a:endParaRPr lang="en-US" sz="1500" dirty="0"/>
          </a:p>
        </p:txBody>
      </p:sp>
      <p:sp>
        <p:nvSpPr>
          <p:cNvPr id="25" name="Text 23"/>
          <p:cNvSpPr/>
          <p:nvPr/>
        </p:nvSpPr>
        <p:spPr>
          <a:xfrm>
            <a:off x="6108192" y="3886200"/>
            <a:ext cx="2560320" cy="749808"/>
          </a:xfrm>
          <a:prstGeom prst="rect">
            <a:avLst/>
          </a:prstGeom>
          <a:noFill/>
          <a:ln/>
        </p:spPr>
        <p:txBody>
          <a:bodyPr wrap="square" lIns="0" tIns="0" rIns="0" bIns="0" rtlCol="0" anchor="ctr"/>
          <a:lstStyle/>
          <a:p>
            <a:pPr indent="0" marL="0">
              <a:buNone/>
            </a:pPr>
            <a:r>
              <a:rPr lang="en-US" sz="1200" dirty="0">
                <a:solidFill>
                  <a:srgbClr val="7B93AA"/>
                </a:solidFill>
                <a:latin typeface="Calibri" pitchFamily="34" charset="0"/>
                <a:ea typeface="Calibri" pitchFamily="34" charset="-122"/>
                <a:cs typeface="Calibri" pitchFamily="34" charset="-120"/>
              </a:rPr>
              <a:t>CS identifica UP en 30% cartera activa</a:t>
            </a:r>
            <a:endParaRPr lang="en-US" sz="1200" dirty="0"/>
          </a:p>
          <a:p>
            <a:pPr indent="0" marL="0">
              <a:buNone/>
            </a:pPr>
            <a:r>
              <a:rPr lang="en-US" sz="1200" dirty="0">
                <a:solidFill>
                  <a:srgbClr val="7B93AA"/>
                </a:solidFill>
                <a:latin typeface="Calibri" pitchFamily="34" charset="0"/>
                <a:ea typeface="Calibri" pitchFamily="34" charset="-122"/>
                <a:cs typeface="Calibri" pitchFamily="34" charset="-120"/>
              </a:rPr>
              <a:t>3 QBRs Enterprise realizados en H2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0F9B8E"/>
                </a:solidFill>
                <a:latin typeface="Calibri" pitchFamily="34" charset="0"/>
                <a:ea typeface="Calibri" pitchFamily="34" charset="-122"/>
                <a:cs typeface="Calibri" pitchFamily="34" charset="-120"/>
              </a:rPr>
              <a:t>OKR 1</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Cobertura de Cadencia</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Que ningun cliente de la cartera LATAM quede invisible — 100% con contacto mensual documentado</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1.1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la cartera activa con al menos 1 touchpoint documentado en HubSpot por mes</a:t>
            </a:r>
            <a:endParaRPr lang="en-US" sz="1300" dirty="0"/>
          </a:p>
        </p:txBody>
      </p:sp>
      <p:sp>
        <p:nvSpPr>
          <p:cNvPr id="8" name="Shape 6"/>
          <p:cNvSpPr/>
          <p:nvPr/>
        </p:nvSpPr>
        <p:spPr>
          <a:xfrm>
            <a:off x="6949440" y="1664208"/>
            <a:ext cx="1097280" cy="274320"/>
          </a:xfrm>
          <a:prstGeom prst="roundRect">
            <a:avLst>
              <a:gd name="adj" fmla="val 50000"/>
            </a:avLst>
          </a:prstGeom>
          <a:solidFill>
            <a:srgbClr val="0F9B8E"/>
          </a:solidFill>
          <a:ln w="12700">
            <a:solidFill>
              <a:srgbClr val="0F9B8E"/>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cobertura</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1.2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0 clientes con mas de 45 dias sin contacto registrado en ninguna fuente</a:t>
            </a:r>
            <a:endParaRPr lang="en-US" sz="1300" dirty="0"/>
          </a:p>
        </p:txBody>
      </p:sp>
      <p:sp>
        <p:nvSpPr>
          <p:cNvPr id="14" name="Shape 12"/>
          <p:cNvSpPr/>
          <p:nvPr/>
        </p:nvSpPr>
        <p:spPr>
          <a:xfrm>
            <a:off x="6949440" y="2459736"/>
            <a:ext cx="1097280" cy="274320"/>
          </a:xfrm>
          <a:prstGeom prst="roundRect">
            <a:avLst>
              <a:gd name="adj" fmla="val 50000"/>
            </a:avLst>
          </a:prstGeom>
          <a:solidFill>
            <a:srgbClr val="0F9B8E"/>
          </a:solidFill>
          <a:ln w="12700">
            <a:solidFill>
              <a:srgbClr val="0F9B8E"/>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ghosts</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1.3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clientes con health score &lt; 50 o NPS &lt; 0 con plan de accion activo documentado</a:t>
            </a:r>
            <a:endParaRPr lang="en-US" sz="1300" dirty="0"/>
          </a:p>
        </p:txBody>
      </p:sp>
      <p:sp>
        <p:nvSpPr>
          <p:cNvPr id="20" name="Shape 18"/>
          <p:cNvSpPr/>
          <p:nvPr/>
        </p:nvSpPr>
        <p:spPr>
          <a:xfrm>
            <a:off x="6949440" y="3255264"/>
            <a:ext cx="1097280" cy="274320"/>
          </a:xfrm>
          <a:prstGeom prst="roundRect">
            <a:avLst>
              <a:gd name="adj" fmla="val 50000"/>
            </a:avLst>
          </a:prstGeom>
          <a:solidFill>
            <a:srgbClr val="0F9B8E"/>
          </a:solidFill>
          <a:ln w="12700">
            <a:solidFill>
              <a:srgbClr val="0F9B8E"/>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planes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Leads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0F9B8E"/>
                </a:solidFill>
                <a:latin typeface="Calibri" pitchFamily="34" charset="0"/>
                <a:ea typeface="Calibri" pitchFamily="34" charset="-122"/>
                <a:cs typeface="Calibri" pitchFamily="34" charset="-120"/>
              </a:rPr>
              <a:t>KR 1.4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Definir modelo de cadencia por segmento: high-touch (semanal), mid-touch (mensual), tech-touch (trimestral)</a:t>
            </a:r>
            <a:endParaRPr lang="en-US" sz="1300" dirty="0"/>
          </a:p>
        </p:txBody>
      </p:sp>
      <p:sp>
        <p:nvSpPr>
          <p:cNvPr id="26" name="Shape 24"/>
          <p:cNvSpPr/>
          <p:nvPr/>
        </p:nvSpPr>
        <p:spPr>
          <a:xfrm>
            <a:off x="6949440" y="4050792"/>
            <a:ext cx="1097280" cy="274320"/>
          </a:xfrm>
          <a:prstGeom prst="roundRect">
            <a:avLst>
              <a:gd name="adj" fmla="val 50000"/>
            </a:avLst>
          </a:prstGeom>
          <a:solidFill>
            <a:srgbClr val="0F9B8E"/>
          </a:solidFill>
          <a:ln w="12700">
            <a:solidFill>
              <a:srgbClr val="0F9B8E"/>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modelo</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Ops</a:t>
            </a:r>
            <a:endParaRPr lang="en-US" sz="900" dirty="0"/>
          </a:p>
        </p:txBody>
      </p:sp>
      <p:sp>
        <p:nvSpPr>
          <p:cNvPr id="29" name="Shape 27"/>
          <p:cNvSpPr/>
          <p:nvPr/>
        </p:nvSpPr>
        <p:spPr>
          <a:xfrm>
            <a:off x="365760" y="4736592"/>
            <a:ext cx="8412480" cy="274320"/>
          </a:xfrm>
          <a:prstGeom prst="roundRect">
            <a:avLst>
              <a:gd name="adj" fmla="val 33333"/>
            </a:avLst>
          </a:prstGeom>
          <a:solidFill>
            <a:srgbClr val="F0FDFA"/>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0F766E"/>
                </a:solidFill>
                <a:latin typeface="Calibri" pitchFamily="34" charset="0"/>
                <a:ea typeface="Calibri" pitchFamily="34" charset="-122"/>
                <a:cs typeface="Calibri" pitchFamily="34" charset="-120"/>
              </a:rPr>
              <a:t>Referencia: hoy el equipo no tiene visibilidad de cuantos clientes tienen mas de 30 dias sin contacto. Ese dato debe existir antes de agosto.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10B981"/>
                </a:solidFill>
                <a:latin typeface="Calibri" pitchFamily="34" charset="0"/>
                <a:ea typeface="Calibri" pitchFamily="34" charset="-122"/>
                <a:cs typeface="Calibri" pitchFamily="34" charset="-120"/>
              </a:rPr>
              <a:t>OKR 2</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Onboarding Efectivo</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Que los clientes nuevos lleguen a su primer valor real antes de completar 30 dias en la plataforma</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KR 2.1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Tiempo promedio de onboarding a primer UP consumido &lt; 30 dias para todos los clientes nuevos H2</a:t>
            </a:r>
            <a:endParaRPr lang="en-US" sz="1300" dirty="0"/>
          </a:p>
        </p:txBody>
      </p:sp>
      <p:sp>
        <p:nvSpPr>
          <p:cNvPr id="8" name="Shape 6"/>
          <p:cNvSpPr/>
          <p:nvPr/>
        </p:nvSpPr>
        <p:spPr>
          <a:xfrm>
            <a:off x="6949440" y="1664208"/>
            <a:ext cx="1097280" cy="274320"/>
          </a:xfrm>
          <a:prstGeom prst="roundRect">
            <a:avLst>
              <a:gd name="adj" fmla="val 50000"/>
            </a:avLst>
          </a:prstGeom>
          <a:solidFill>
            <a:srgbClr val="10B981"/>
          </a:solidFill>
          <a:ln w="12700">
            <a:solidFill>
              <a:srgbClr val="10B981"/>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&lt; 30 dias</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Producto</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KR 2.2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clientes nuevos con adoption plan documentado en los primeros 60 dias de contrato</a:t>
            </a:r>
            <a:endParaRPr lang="en-US" sz="1300" dirty="0"/>
          </a:p>
        </p:txBody>
      </p:sp>
      <p:sp>
        <p:nvSpPr>
          <p:cNvPr id="14" name="Shape 12"/>
          <p:cNvSpPr/>
          <p:nvPr/>
        </p:nvSpPr>
        <p:spPr>
          <a:xfrm>
            <a:off x="6949440" y="2459736"/>
            <a:ext cx="1097280" cy="274320"/>
          </a:xfrm>
          <a:prstGeom prst="roundRect">
            <a:avLst>
              <a:gd name="adj" fmla="val 50000"/>
            </a:avLst>
          </a:prstGeom>
          <a:solidFill>
            <a:srgbClr val="10B981"/>
          </a:solidFill>
          <a:ln w="12700">
            <a:solidFill>
              <a:srgbClr val="10B981"/>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planes</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KR 2.3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0 clientes con mas de 90 dias activos sin haber consumido ningun Use Point</a:t>
            </a:r>
            <a:endParaRPr lang="en-US" sz="1300" dirty="0"/>
          </a:p>
        </p:txBody>
      </p:sp>
      <p:sp>
        <p:nvSpPr>
          <p:cNvPr id="20" name="Shape 18"/>
          <p:cNvSpPr/>
          <p:nvPr/>
        </p:nvSpPr>
        <p:spPr>
          <a:xfrm>
            <a:off x="6949440" y="3255264"/>
            <a:ext cx="1097280" cy="274320"/>
          </a:xfrm>
          <a:prstGeom prst="roundRect">
            <a:avLst>
              <a:gd name="adj" fmla="val 50000"/>
            </a:avLst>
          </a:prstGeom>
          <a:solidFill>
            <a:srgbClr val="10B981"/>
          </a:solidFill>
          <a:ln w="12700">
            <a:solidFill>
              <a:srgbClr val="10B981"/>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zombies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KR 2.4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Documentar playbook de onboarding estandar replicable en todos los paises antes de agosto</a:t>
            </a:r>
            <a:endParaRPr lang="en-US" sz="1300" dirty="0"/>
          </a:p>
        </p:txBody>
      </p:sp>
      <p:sp>
        <p:nvSpPr>
          <p:cNvPr id="26" name="Shape 24"/>
          <p:cNvSpPr/>
          <p:nvPr/>
        </p:nvSpPr>
        <p:spPr>
          <a:xfrm>
            <a:off x="6949440" y="4050792"/>
            <a:ext cx="1097280" cy="274320"/>
          </a:xfrm>
          <a:prstGeom prst="roundRect">
            <a:avLst>
              <a:gd name="adj" fmla="val 50000"/>
            </a:avLst>
          </a:prstGeom>
          <a:solidFill>
            <a:srgbClr val="10B981"/>
          </a:solidFill>
          <a:ln w="12700">
            <a:solidFill>
              <a:srgbClr val="10B981"/>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playbook</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29" name="Shape 27"/>
          <p:cNvSpPr/>
          <p:nvPr/>
        </p:nvSpPr>
        <p:spPr>
          <a:xfrm>
            <a:off x="365760" y="4736592"/>
            <a:ext cx="8412480" cy="274320"/>
          </a:xfrm>
          <a:prstGeom prst="roundRect">
            <a:avLst>
              <a:gd name="adj" fmla="val 33333"/>
            </a:avLst>
          </a:prstGeom>
          <a:solidFill>
            <a:srgbClr val="F0FDF4"/>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166534"/>
                </a:solidFill>
                <a:latin typeface="Calibri" pitchFamily="34" charset="0"/>
                <a:ea typeface="Calibri" pitchFamily="34" charset="-122"/>
                <a:cs typeface="Calibri" pitchFamily="34" charset="-120"/>
              </a:rPr>
              <a:t>Problema actual: BELCORP CO lleva meses con 8.3% de UP. No es un problema del cliente — es un onboarding sin seguimiento sistematico.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F59E0B"/>
                </a:solidFill>
                <a:latin typeface="Calibri" pitchFamily="34" charset="0"/>
                <a:ea typeface="Calibri" pitchFamily="34" charset="-122"/>
                <a:cs typeface="Calibri" pitchFamily="34" charset="-120"/>
              </a:rPr>
              <a:t>OKR 3</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Proteccion de Revenue</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Que el churn sea predecible y gestionado, no una sorpresa — y que las renovaciones no sean de ultimo minuto</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renovaciones del H2 2026 iniciadas con minimo 90 dias de anticipacion</a:t>
            </a:r>
            <a:endParaRPr lang="en-US" sz="1300" dirty="0"/>
          </a:p>
        </p:txBody>
      </p:sp>
      <p:sp>
        <p:nvSpPr>
          <p:cNvPr id="8" name="Shape 6"/>
          <p:cNvSpPr/>
          <p:nvPr/>
        </p:nvSpPr>
        <p:spPr>
          <a:xfrm>
            <a:off x="6949440" y="1664208"/>
            <a:ext cx="1097280" cy="274320"/>
          </a:xfrm>
          <a:prstGeom prst="roundRect">
            <a:avLst>
              <a:gd name="adj" fmla="val 50000"/>
            </a:avLst>
          </a:prstGeom>
          <a:solidFill>
            <a:srgbClr val="F59E0B"/>
          </a:solidFill>
          <a:ln w="12700">
            <a:solidFill>
              <a:srgbClr val="F59E0B"/>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90 dias antes</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Comercial</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0 churns no anticipados — si un cliente se va, CS lo documento como riesgo con anticipacion</a:t>
            </a:r>
            <a:endParaRPr lang="en-US" sz="1300" dirty="0"/>
          </a:p>
        </p:txBody>
      </p:sp>
      <p:sp>
        <p:nvSpPr>
          <p:cNvPr id="14" name="Shape 12"/>
          <p:cNvSpPr/>
          <p:nvPr/>
        </p:nvSpPr>
        <p:spPr>
          <a:xfrm>
            <a:off x="6949440" y="2459736"/>
            <a:ext cx="1097280" cy="274320"/>
          </a:xfrm>
          <a:prstGeom prst="roundRect">
            <a:avLst>
              <a:gd name="adj" fmla="val 50000"/>
            </a:avLst>
          </a:prstGeom>
          <a:solidFill>
            <a:srgbClr val="F59E0B"/>
          </a:solidFill>
          <a:ln w="12700">
            <a:solidFill>
              <a:srgbClr val="F59E0B"/>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 sorpresas</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NPS negativos o detractores con plan de recuperacion iniciado en &lt; 72 horas</a:t>
            </a:r>
            <a:endParaRPr lang="en-US" sz="1300" dirty="0"/>
          </a:p>
        </p:txBody>
      </p:sp>
      <p:sp>
        <p:nvSpPr>
          <p:cNvPr id="20" name="Shape 18"/>
          <p:cNvSpPr/>
          <p:nvPr/>
        </p:nvSpPr>
        <p:spPr>
          <a:xfrm>
            <a:off x="6949440" y="3255264"/>
            <a:ext cx="1097280" cy="274320"/>
          </a:xfrm>
          <a:prstGeom prst="roundRect">
            <a:avLst>
              <a:gd name="adj" fmla="val 50000"/>
            </a:avLst>
          </a:prstGeom>
          <a:solidFill>
            <a:srgbClr val="F59E0B"/>
          </a:solidFill>
          <a:ln w="12700">
            <a:solidFill>
              <a:srgbClr val="F59E0B"/>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&lt; 72h</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responsable</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KR 3.4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Mejorar NPS promedio de cartera LATAM de nivel actual hacia +10 puntos para diciembre</a:t>
            </a:r>
            <a:endParaRPr lang="en-US" sz="1300" dirty="0"/>
          </a:p>
        </p:txBody>
      </p:sp>
      <p:sp>
        <p:nvSpPr>
          <p:cNvPr id="26" name="Shape 24"/>
          <p:cNvSpPr/>
          <p:nvPr/>
        </p:nvSpPr>
        <p:spPr>
          <a:xfrm>
            <a:off x="6949440" y="4050792"/>
            <a:ext cx="1097280" cy="274320"/>
          </a:xfrm>
          <a:prstGeom prst="roundRect">
            <a:avLst>
              <a:gd name="adj" fmla="val 50000"/>
            </a:avLst>
          </a:prstGeom>
          <a:solidFill>
            <a:srgbClr val="F59E0B"/>
          </a:solidFill>
          <a:ln w="12700">
            <a:solidFill>
              <a:srgbClr val="F59E0B"/>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NPS +10</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9" name="Shape 27"/>
          <p:cNvSpPr/>
          <p:nvPr/>
        </p:nvSpPr>
        <p:spPr>
          <a:xfrm>
            <a:off x="365760" y="4736592"/>
            <a:ext cx="8412480" cy="274320"/>
          </a:xfrm>
          <a:prstGeom prst="roundRect">
            <a:avLst>
              <a:gd name="adj" fmla="val 33333"/>
            </a:avLst>
          </a:prstGeom>
          <a:solidFill>
            <a:srgbClr val="FEF9C3"/>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Estado critico hoy: COBOE BOTIGA (NPS -100), FORUS SA (NPS -100), FORUS COLOMBIA (migracion bloqueada). Tres cuentas sin plan activo documentado.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3B82F6"/>
                </a:solidFill>
                <a:latin typeface="Calibri" pitchFamily="34" charset="0"/>
                <a:ea typeface="Calibri" pitchFamily="34" charset="-122"/>
                <a:cs typeface="Calibri" pitchFamily="34" charset="-120"/>
              </a:rPr>
              <a:t>OKR 4</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Conocimiento como Activo</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Que lo que sabe un CSM lo sepa el equipo — convertir experiencias individuales en capital colectivo</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4.1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Documentar 3 playbooks criticos (onboarding, NPS negativo, activacion UP) antes de agosto 2026</a:t>
            </a:r>
            <a:endParaRPr lang="en-US" sz="1300" dirty="0"/>
          </a:p>
        </p:txBody>
      </p:sp>
      <p:sp>
        <p:nvSpPr>
          <p:cNvPr id="8" name="Shape 6"/>
          <p:cNvSpPr/>
          <p:nvPr/>
        </p:nvSpPr>
        <p:spPr>
          <a:xfrm>
            <a:off x="6949440" y="1664208"/>
            <a:ext cx="1097280" cy="274320"/>
          </a:xfrm>
          <a:prstGeom prst="roundRect">
            <a:avLst>
              <a:gd name="adj" fmla="val 50000"/>
            </a:avLst>
          </a:prstGeom>
          <a:solidFill>
            <a:srgbClr val="3B82F6"/>
          </a:solidFill>
          <a:ln w="12700">
            <a:solidFill>
              <a:srgbClr val="3B82F6"/>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playbooks</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4.2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Realizar 2 sesiones internas de best practices donde el CSM con mejor adopcion comparte su metodo</a:t>
            </a:r>
            <a:endParaRPr lang="en-US" sz="1300" dirty="0"/>
          </a:p>
        </p:txBody>
      </p:sp>
      <p:sp>
        <p:nvSpPr>
          <p:cNvPr id="14" name="Shape 12"/>
          <p:cNvSpPr/>
          <p:nvPr/>
        </p:nvSpPr>
        <p:spPr>
          <a:xfrm>
            <a:off x="6949440" y="2459736"/>
            <a:ext cx="1097280" cy="274320"/>
          </a:xfrm>
          <a:prstGeom prst="roundRect">
            <a:avLst>
              <a:gd name="adj" fmla="val 50000"/>
            </a:avLst>
          </a:prstGeom>
          <a:solidFill>
            <a:srgbClr val="3B82F6"/>
          </a:solidFill>
          <a:ln w="12700">
            <a:solidFill>
              <a:srgbClr val="3B82F6"/>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sesiones</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Lead</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4.3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100% de cuentas perdidas o en riesgo critico con retrospectiva documentada en HubSpot</a:t>
            </a:r>
            <a:endParaRPr lang="en-US" sz="1300" dirty="0"/>
          </a:p>
        </p:txBody>
      </p:sp>
      <p:sp>
        <p:nvSpPr>
          <p:cNvPr id="20" name="Shape 18"/>
          <p:cNvSpPr/>
          <p:nvPr/>
        </p:nvSpPr>
        <p:spPr>
          <a:xfrm>
            <a:off x="6949440" y="3255264"/>
            <a:ext cx="1097280" cy="274320"/>
          </a:xfrm>
          <a:prstGeom prst="roundRect">
            <a:avLst>
              <a:gd name="adj" fmla="val 50000"/>
            </a:avLst>
          </a:prstGeom>
          <a:solidFill>
            <a:srgbClr val="3B82F6"/>
          </a:solidFill>
          <a:ln w="12700">
            <a:solidFill>
              <a:srgbClr val="3B82F6"/>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 retros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KR 4.4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Crear un repositorio unico de casos de uso exitosos de AnyTools para usar en demos y onboarding</a:t>
            </a:r>
            <a:endParaRPr lang="en-US" sz="1300" dirty="0"/>
          </a:p>
        </p:txBody>
      </p:sp>
      <p:sp>
        <p:nvSpPr>
          <p:cNvPr id="26" name="Shape 24"/>
          <p:cNvSpPr/>
          <p:nvPr/>
        </p:nvSpPr>
        <p:spPr>
          <a:xfrm>
            <a:off x="6949440" y="4050792"/>
            <a:ext cx="1097280" cy="274320"/>
          </a:xfrm>
          <a:prstGeom prst="roundRect">
            <a:avLst>
              <a:gd name="adj" fmla="val 50000"/>
            </a:avLst>
          </a:prstGeom>
          <a:solidFill>
            <a:srgbClr val="3B82F6"/>
          </a:solidFill>
          <a:ln w="12700">
            <a:solidFill>
              <a:srgbClr val="3B82F6"/>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repo</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Producto</a:t>
            </a:r>
            <a:endParaRPr lang="en-US" sz="900" dirty="0"/>
          </a:p>
        </p:txBody>
      </p:sp>
      <p:sp>
        <p:nvSpPr>
          <p:cNvPr id="29" name="Shape 27"/>
          <p:cNvSpPr/>
          <p:nvPr/>
        </p:nvSpPr>
        <p:spPr>
          <a:xfrm>
            <a:off x="365760" y="4736592"/>
            <a:ext cx="8412480" cy="274320"/>
          </a:xfrm>
          <a:prstGeom prst="roundRect">
            <a:avLst>
              <a:gd name="adj" fmla="val 33333"/>
            </a:avLst>
          </a:prstGeom>
          <a:solidFill>
            <a:srgbClr val="EFF6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1E40AF"/>
                </a:solidFill>
                <a:latin typeface="Calibri" pitchFamily="34" charset="0"/>
                <a:ea typeface="Calibri" pitchFamily="34" charset="-122"/>
                <a:cs typeface="Calibri" pitchFamily="34" charset="-120"/>
              </a:rPr>
              <a:t>KAYSER (55.6% UP) es el benchmark interno mas valioso del equipo. Lo que hizo ese CSM para llegar ahi deberia ser el playbook estandar para toda la cartera.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201168"/>
            <a:ext cx="2743200" cy="274320"/>
          </a:xfrm>
          <a:prstGeom prst="rect">
            <a:avLst/>
          </a:prstGeom>
          <a:noFill/>
          <a:ln/>
        </p:spPr>
        <p:txBody>
          <a:bodyPr wrap="square" lIns="0" tIns="0" rIns="0" bIns="0" rtlCol="0" anchor="ctr"/>
          <a:lstStyle/>
          <a:p>
            <a:pPr indent="0" marL="0">
              <a:buNone/>
            </a:pPr>
            <a:r>
              <a:rPr lang="en-US" sz="1000" b="1" spc="300" kern="0" dirty="0">
                <a:solidFill>
                  <a:srgbClr val="F2A71B"/>
                </a:solidFill>
                <a:latin typeface="Calibri" pitchFamily="34" charset="0"/>
                <a:ea typeface="Calibri" pitchFamily="34" charset="-122"/>
                <a:cs typeface="Calibri" pitchFamily="34" charset="-120"/>
              </a:rPr>
              <a:t>OKR 5</a:t>
            </a:r>
            <a:endParaRPr lang="en-US" sz="1000" dirty="0"/>
          </a:p>
        </p:txBody>
      </p:sp>
      <p:sp>
        <p:nvSpPr>
          <p:cNvPr id="3" name="Text 1"/>
          <p:cNvSpPr/>
          <p:nvPr/>
        </p:nvSpPr>
        <p:spPr>
          <a:xfrm>
            <a:off x="457200" y="457200"/>
            <a:ext cx="8229600" cy="566928"/>
          </a:xfrm>
          <a:prstGeom prst="rect">
            <a:avLst/>
          </a:prstGeom>
          <a:noFill/>
          <a:ln/>
        </p:spPr>
        <p:txBody>
          <a:bodyPr wrap="square" lIns="0" tIns="0" rIns="0" bIns="0" rtlCol="0" anchor="ctr"/>
          <a:lstStyle/>
          <a:p>
            <a:pPr indent="0" marL="0">
              <a:buNone/>
            </a:pPr>
            <a:r>
              <a:rPr lang="en-US" sz="2500" b="1" dirty="0">
                <a:solidFill>
                  <a:srgbClr val="0F2137"/>
                </a:solidFill>
                <a:latin typeface="Calibri" pitchFamily="34" charset="0"/>
                <a:ea typeface="Calibri" pitchFamily="34" charset="-122"/>
                <a:cs typeface="Calibri" pitchFamily="34" charset="-120"/>
              </a:rPr>
              <a:t>📈 Expansion Sistematica</a:t>
            </a:r>
            <a:endParaRPr lang="en-US" sz="2500" dirty="0"/>
          </a:p>
        </p:txBody>
      </p:sp>
      <p:sp>
        <p:nvSpPr>
          <p:cNvPr id="4" name="Text 2"/>
          <p:cNvSpPr/>
          <p:nvPr/>
        </p:nvSpPr>
        <p:spPr>
          <a:xfrm>
            <a:off x="457200" y="1005840"/>
            <a:ext cx="8229600" cy="347472"/>
          </a:xfrm>
          <a:prstGeom prst="rect">
            <a:avLst/>
          </a:prstGeom>
          <a:noFill/>
          <a:ln/>
        </p:spPr>
        <p:txBody>
          <a:bodyPr wrap="square" lIns="0" tIns="0" rIns="0" bIns="0"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Objetivo: Que la expansion de revenue sea resultado del exito del cliente — no un esfuerzo de venta adicional aislado</a:t>
            </a:r>
            <a:endParaRPr lang="en-US" sz="1300" dirty="0"/>
          </a:p>
        </p:txBody>
      </p:sp>
      <p:sp>
        <p:nvSpPr>
          <p:cNvPr id="5" name="Shape 3"/>
          <p:cNvSpPr/>
          <p:nvPr/>
        </p:nvSpPr>
        <p:spPr>
          <a:xfrm>
            <a:off x="365760" y="1481328"/>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6" name="Text 4"/>
          <p:cNvSpPr/>
          <p:nvPr/>
        </p:nvSpPr>
        <p:spPr>
          <a:xfrm>
            <a:off x="548640" y="1591056"/>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5.1</a:t>
            </a:r>
            <a:endParaRPr lang="en-US" sz="1100" dirty="0"/>
          </a:p>
        </p:txBody>
      </p:sp>
      <p:sp>
        <p:nvSpPr>
          <p:cNvPr id="7" name="Text 5"/>
          <p:cNvSpPr/>
          <p:nvPr/>
        </p:nvSpPr>
        <p:spPr>
          <a:xfrm>
            <a:off x="1572768" y="1609344"/>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CS identifica y documenta oportunidades de AnyTools en al menos el 30% de la cartera activa H2</a:t>
            </a:r>
            <a:endParaRPr lang="en-US" sz="1300" dirty="0"/>
          </a:p>
        </p:txBody>
      </p:sp>
      <p:sp>
        <p:nvSpPr>
          <p:cNvPr id="8" name="Shape 6"/>
          <p:cNvSpPr/>
          <p:nvPr/>
        </p:nvSpPr>
        <p:spPr>
          <a:xfrm>
            <a:off x="6949440" y="1664208"/>
            <a:ext cx="1097280" cy="274320"/>
          </a:xfrm>
          <a:prstGeom prst="roundRect">
            <a:avLst>
              <a:gd name="adj" fmla="val 50000"/>
            </a:avLst>
          </a:prstGeom>
          <a:solidFill>
            <a:srgbClr val="D4920F"/>
          </a:solidFill>
          <a:ln w="12700">
            <a:solidFill>
              <a:srgbClr val="D4920F"/>
            </a:solidFill>
            <a:prstDash val="solid"/>
          </a:ln>
        </p:spPr>
      </p:sp>
      <p:sp>
        <p:nvSpPr>
          <p:cNvPr id="9" name="Text 7"/>
          <p:cNvSpPr/>
          <p:nvPr/>
        </p:nvSpPr>
        <p:spPr>
          <a:xfrm>
            <a:off x="6949440" y="166420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30% cartera</a:t>
            </a:r>
            <a:endParaRPr lang="en-US" sz="1000" dirty="0"/>
          </a:p>
        </p:txBody>
      </p:sp>
      <p:sp>
        <p:nvSpPr>
          <p:cNvPr id="10" name="Text 8"/>
          <p:cNvSpPr/>
          <p:nvPr/>
        </p:nvSpPr>
        <p:spPr>
          <a:xfrm>
            <a:off x="8092440" y="1901952"/>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11" name="Shape 9"/>
          <p:cNvSpPr/>
          <p:nvPr/>
        </p:nvSpPr>
        <p:spPr>
          <a:xfrm>
            <a:off x="365760" y="2276856"/>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2" name="Text 10"/>
          <p:cNvSpPr/>
          <p:nvPr/>
        </p:nvSpPr>
        <p:spPr>
          <a:xfrm>
            <a:off x="548640" y="2386584"/>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5.2</a:t>
            </a:r>
            <a:endParaRPr lang="en-US" sz="1100" dirty="0"/>
          </a:p>
        </p:txBody>
      </p:sp>
      <p:sp>
        <p:nvSpPr>
          <p:cNvPr id="13" name="Text 11"/>
          <p:cNvSpPr/>
          <p:nvPr/>
        </p:nvSpPr>
        <p:spPr>
          <a:xfrm>
            <a:off x="1572768" y="2404872"/>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Proceso CS→Comercial definido y operando: handoff de oportunidades en &lt; 5 dias habiles</a:t>
            </a:r>
            <a:endParaRPr lang="en-US" sz="1300" dirty="0"/>
          </a:p>
        </p:txBody>
      </p:sp>
      <p:sp>
        <p:nvSpPr>
          <p:cNvPr id="14" name="Shape 12"/>
          <p:cNvSpPr/>
          <p:nvPr/>
        </p:nvSpPr>
        <p:spPr>
          <a:xfrm>
            <a:off x="6949440" y="2459736"/>
            <a:ext cx="1097280" cy="274320"/>
          </a:xfrm>
          <a:prstGeom prst="roundRect">
            <a:avLst>
              <a:gd name="adj" fmla="val 50000"/>
            </a:avLst>
          </a:prstGeom>
          <a:solidFill>
            <a:srgbClr val="D4920F"/>
          </a:solidFill>
          <a:ln w="12700">
            <a:solidFill>
              <a:srgbClr val="D4920F"/>
            </a:solidFill>
            <a:prstDash val="solid"/>
          </a:ln>
        </p:spPr>
      </p:sp>
      <p:sp>
        <p:nvSpPr>
          <p:cNvPr id="15" name="Text 13"/>
          <p:cNvSpPr/>
          <p:nvPr/>
        </p:nvSpPr>
        <p:spPr>
          <a:xfrm>
            <a:off x="6949440" y="245973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&lt; 5 dias habil</a:t>
            </a:r>
            <a:endParaRPr lang="en-US" sz="1000" dirty="0"/>
          </a:p>
        </p:txBody>
      </p:sp>
      <p:sp>
        <p:nvSpPr>
          <p:cNvPr id="16" name="Text 14"/>
          <p:cNvSpPr/>
          <p:nvPr/>
        </p:nvSpPr>
        <p:spPr>
          <a:xfrm>
            <a:off x="8092440" y="2697480"/>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 + Comercial</a:t>
            </a:r>
            <a:endParaRPr lang="en-US" sz="900" dirty="0"/>
          </a:p>
        </p:txBody>
      </p:sp>
      <p:sp>
        <p:nvSpPr>
          <p:cNvPr id="17" name="Shape 15"/>
          <p:cNvSpPr/>
          <p:nvPr/>
        </p:nvSpPr>
        <p:spPr>
          <a:xfrm>
            <a:off x="365760" y="3072384"/>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8" name="Text 16"/>
          <p:cNvSpPr/>
          <p:nvPr/>
        </p:nvSpPr>
        <p:spPr>
          <a:xfrm>
            <a:off x="548640" y="3182112"/>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5.3</a:t>
            </a:r>
            <a:endParaRPr lang="en-US" sz="1100" dirty="0"/>
          </a:p>
        </p:txBody>
      </p:sp>
      <p:sp>
        <p:nvSpPr>
          <p:cNvPr id="19" name="Text 17"/>
          <p:cNvSpPr/>
          <p:nvPr/>
        </p:nvSpPr>
        <p:spPr>
          <a:xfrm>
            <a:off x="1572768" y="3200400"/>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Realizar minimo 3 QBRs con cuentas Enterprise (donde se presente propuesta de valor y expansion)</a:t>
            </a:r>
            <a:endParaRPr lang="en-US" sz="1300" dirty="0"/>
          </a:p>
        </p:txBody>
      </p:sp>
      <p:sp>
        <p:nvSpPr>
          <p:cNvPr id="20" name="Shape 18"/>
          <p:cNvSpPr/>
          <p:nvPr/>
        </p:nvSpPr>
        <p:spPr>
          <a:xfrm>
            <a:off x="6949440" y="3255264"/>
            <a:ext cx="1097280" cy="274320"/>
          </a:xfrm>
          <a:prstGeom prst="roundRect">
            <a:avLst>
              <a:gd name="adj" fmla="val 50000"/>
            </a:avLst>
          </a:prstGeom>
          <a:solidFill>
            <a:srgbClr val="D4920F"/>
          </a:solidFill>
          <a:ln w="12700">
            <a:solidFill>
              <a:srgbClr val="D4920F"/>
            </a:solidFill>
            <a:prstDash val="solid"/>
          </a:ln>
        </p:spPr>
      </p:sp>
      <p:sp>
        <p:nvSpPr>
          <p:cNvPr id="21" name="Text 19"/>
          <p:cNvSpPr/>
          <p:nvPr/>
        </p:nvSpPr>
        <p:spPr>
          <a:xfrm>
            <a:off x="6949440" y="3255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QBRs</a:t>
            </a:r>
            <a:endParaRPr lang="en-US" sz="1000" dirty="0"/>
          </a:p>
        </p:txBody>
      </p:sp>
      <p:sp>
        <p:nvSpPr>
          <p:cNvPr id="22" name="Text 20"/>
          <p:cNvSpPr/>
          <p:nvPr/>
        </p:nvSpPr>
        <p:spPr>
          <a:xfrm>
            <a:off x="8092440" y="3493008"/>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CSM senior</a:t>
            </a:r>
            <a:endParaRPr lang="en-US" sz="900" dirty="0"/>
          </a:p>
        </p:txBody>
      </p:sp>
      <p:sp>
        <p:nvSpPr>
          <p:cNvPr id="23" name="Shape 21"/>
          <p:cNvSpPr/>
          <p:nvPr/>
        </p:nvSpPr>
        <p:spPr>
          <a:xfrm>
            <a:off x="365760" y="3867912"/>
            <a:ext cx="8412480" cy="676656"/>
          </a:xfrm>
          <a:prstGeom prst="roundRect">
            <a:avLst>
              <a:gd name="adj" fmla="val 13514"/>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4" name="Text 22"/>
          <p:cNvSpPr/>
          <p:nvPr/>
        </p:nvSpPr>
        <p:spPr>
          <a:xfrm>
            <a:off x="548640" y="3977640"/>
            <a:ext cx="914400" cy="274320"/>
          </a:xfrm>
          <a:prstGeom prst="rect">
            <a:avLst/>
          </a:prstGeom>
          <a:noFill/>
          <a:ln/>
        </p:spPr>
        <p:txBody>
          <a:bodyPr wrap="square" lIns="0" tIns="0" rIns="0" bIns="0" rtlCol="0" anchor="ctr"/>
          <a:lstStyle/>
          <a:p>
            <a:pPr indent="0" marL="0">
              <a:buNone/>
            </a:pPr>
            <a:r>
              <a:rPr lang="en-US" sz="1100" b="1" dirty="0">
                <a:solidFill>
                  <a:srgbClr val="D4920F"/>
                </a:solidFill>
                <a:latin typeface="Calibri" pitchFamily="34" charset="0"/>
                <a:ea typeface="Calibri" pitchFamily="34" charset="-122"/>
                <a:cs typeface="Calibri" pitchFamily="34" charset="-120"/>
              </a:rPr>
              <a:t>KR 5.4</a:t>
            </a:r>
            <a:endParaRPr lang="en-US" sz="1100" dirty="0"/>
          </a:p>
        </p:txBody>
      </p:sp>
      <p:sp>
        <p:nvSpPr>
          <p:cNvPr id="25" name="Text 23"/>
          <p:cNvSpPr/>
          <p:nvPr/>
        </p:nvSpPr>
        <p:spPr>
          <a:xfrm>
            <a:off x="1572768" y="3995928"/>
            <a:ext cx="5120640" cy="411480"/>
          </a:xfrm>
          <a:prstGeom prst="rect">
            <a:avLst/>
          </a:prstGeom>
          <a:noFill/>
          <a:ln/>
        </p:spPr>
        <p:txBody>
          <a:bodyPr wrap="square" lIns="0" tIns="0" rIns="0" bIns="0" rtlCol="0" anchor="ctr"/>
          <a:lstStyle/>
          <a:p>
            <a:pPr indent="0" marL="0">
              <a:buNone/>
            </a:pPr>
            <a:r>
              <a:rPr lang="en-US" sz="1300" dirty="0">
                <a:solidFill>
                  <a:srgbClr val="0F2137"/>
                </a:solidFill>
                <a:latin typeface="Calibri" pitchFamily="34" charset="0"/>
                <a:ea typeface="Calibri" pitchFamily="34" charset="-122"/>
                <a:cs typeface="Calibri" pitchFamily="34" charset="-120"/>
              </a:rPr>
              <a:t>Aumentar adoption rate de Use Points promedio de cartera activa de 34% → 50% para diciembre</a:t>
            </a:r>
            <a:endParaRPr lang="en-US" sz="1300" dirty="0"/>
          </a:p>
        </p:txBody>
      </p:sp>
      <p:sp>
        <p:nvSpPr>
          <p:cNvPr id="26" name="Shape 24"/>
          <p:cNvSpPr/>
          <p:nvPr/>
        </p:nvSpPr>
        <p:spPr>
          <a:xfrm>
            <a:off x="6949440" y="4050792"/>
            <a:ext cx="1097280" cy="274320"/>
          </a:xfrm>
          <a:prstGeom prst="roundRect">
            <a:avLst>
              <a:gd name="adj" fmla="val 50000"/>
            </a:avLst>
          </a:prstGeom>
          <a:solidFill>
            <a:srgbClr val="D4920F"/>
          </a:solidFill>
          <a:ln w="12700">
            <a:solidFill>
              <a:srgbClr val="D4920F"/>
            </a:solidFill>
            <a:prstDash val="solid"/>
          </a:ln>
        </p:spPr>
      </p:sp>
      <p:sp>
        <p:nvSpPr>
          <p:cNvPr id="27" name="Text 25"/>
          <p:cNvSpPr/>
          <p:nvPr/>
        </p:nvSpPr>
        <p:spPr>
          <a:xfrm>
            <a:off x="6949440" y="4050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UP 34→50%</a:t>
            </a:r>
            <a:endParaRPr lang="en-US" sz="1000" dirty="0"/>
          </a:p>
        </p:txBody>
      </p:sp>
      <p:sp>
        <p:nvSpPr>
          <p:cNvPr id="28" name="Text 26"/>
          <p:cNvSpPr/>
          <p:nvPr/>
        </p:nvSpPr>
        <p:spPr>
          <a:xfrm>
            <a:off x="8092440" y="4288536"/>
            <a:ext cx="685800" cy="201168"/>
          </a:xfrm>
          <a:prstGeom prst="rect">
            <a:avLst/>
          </a:prstGeom>
          <a:noFill/>
          <a:ln/>
        </p:spPr>
        <p:txBody>
          <a:bodyPr wrap="square" lIns="0" tIns="0" rIns="0" bIns="0" rtlCol="0" anchor="ctr"/>
          <a:lstStyle/>
          <a:p>
            <a:pPr algn="r" indent="0" marL="0">
              <a:buNone/>
            </a:pPr>
            <a:r>
              <a:rPr lang="en-US" sz="900" dirty="0">
                <a:solidFill>
                  <a:srgbClr val="7B93AA"/>
                </a:solidFill>
                <a:latin typeface="Calibri" pitchFamily="34" charset="0"/>
                <a:ea typeface="Calibri" pitchFamily="34" charset="-122"/>
                <a:cs typeface="Calibri" pitchFamily="34" charset="-120"/>
              </a:rPr>
              <a:t>Equipo CS</a:t>
            </a:r>
            <a:endParaRPr lang="en-US" sz="900" dirty="0"/>
          </a:p>
        </p:txBody>
      </p:sp>
      <p:sp>
        <p:nvSpPr>
          <p:cNvPr id="29" name="Shape 27"/>
          <p:cNvSpPr/>
          <p:nvPr/>
        </p:nvSpPr>
        <p:spPr>
          <a:xfrm>
            <a:off x="365760" y="4736592"/>
            <a:ext cx="8412480" cy="274320"/>
          </a:xfrm>
          <a:prstGeom prst="roundRect">
            <a:avLst>
              <a:gd name="adj" fmla="val 33333"/>
            </a:avLst>
          </a:prstGeom>
          <a:solidFill>
            <a:srgbClr val="FFFBEB"/>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30" name="Text 28"/>
          <p:cNvSpPr/>
          <p:nvPr/>
        </p:nvSpPr>
        <p:spPr>
          <a:xfrm>
            <a:off x="548640" y="4754880"/>
            <a:ext cx="8138160" cy="237744"/>
          </a:xfrm>
          <a:prstGeom prst="rect">
            <a:avLst/>
          </a:prstGeom>
          <a:noFill/>
          <a:ln/>
        </p:spPr>
        <p:txBody>
          <a:bodyPr wrap="square" lIns="0" tIns="0" rIns="0" bIns="0" rtlCol="0" anchor="ctr"/>
          <a:lstStyle/>
          <a:p>
            <a:pPr indent="0" marL="0">
              <a:buNone/>
            </a:pPr>
            <a:r>
              <a:rPr lang="en-US" sz="1100" dirty="0">
                <a:solidFill>
                  <a:srgbClr val="92400E"/>
                </a:solidFill>
                <a:latin typeface="Calibri" pitchFamily="34" charset="0"/>
                <a:ea typeface="Calibri" pitchFamily="34" charset="-122"/>
                <a:cs typeface="Calibri" pitchFamily="34" charset="-120"/>
              </a:rPr>
              <a:t>Oportunidades AnyTools identificadas: Predize para cartera con alto volumen ML (KAYSER, TRAMONTINA, LACOSTE). Koncili para cuentas con operacion financiera compleja (BELCORP group).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164592"/>
            <a:ext cx="8229600" cy="274320"/>
          </a:xfrm>
          <a:prstGeom prst="rect">
            <a:avLst/>
          </a:prstGeom>
          <a:noFill/>
          <a:ln/>
        </p:spPr>
        <p:txBody>
          <a:bodyPr wrap="square" lIns="0" tIns="0" rIns="0" bIns="0" rtlCol="0" anchor="ctr"/>
          <a:lstStyle/>
          <a:p>
            <a:pPr indent="0" marL="0">
              <a:buNone/>
            </a:pPr>
            <a:r>
              <a:rPr lang="en-US" sz="1000" b="1" spc="400" kern="0" dirty="0">
                <a:solidFill>
                  <a:srgbClr val="F2A71B"/>
                </a:solidFill>
                <a:latin typeface="Calibri" pitchFamily="34" charset="0"/>
                <a:ea typeface="Calibri" pitchFamily="34" charset="-122"/>
                <a:cs typeface="Calibri" pitchFamily="34" charset="-120"/>
              </a:rPr>
              <a:t>PLAN DE ACCION DEL EQUIPO</a:t>
            </a:r>
            <a:endParaRPr lang="en-US" sz="1000" dirty="0"/>
          </a:p>
        </p:txBody>
      </p:sp>
      <p:sp>
        <p:nvSpPr>
          <p:cNvPr id="3" name="Text 1"/>
          <p:cNvSpPr/>
          <p:nvPr/>
        </p:nvSpPr>
        <p:spPr>
          <a:xfrm>
            <a:off x="457200" y="411480"/>
            <a:ext cx="8229600" cy="502920"/>
          </a:xfrm>
          <a:prstGeom prst="rect">
            <a:avLst/>
          </a:prstGeom>
          <a:noFill/>
          <a:ln/>
        </p:spPr>
        <p:txBody>
          <a:bodyPr wrap="square" lIns="0" tIns="0" rIns="0" bIns="0" rtlCol="0" anchor="ctr"/>
          <a:lstStyle/>
          <a:p>
            <a:pPr indent="0" marL="0">
              <a:buNone/>
            </a:pPr>
            <a:r>
              <a:rPr lang="en-US" sz="2600" b="1" dirty="0">
                <a:solidFill>
                  <a:srgbClr val="0F2137"/>
                </a:solidFill>
                <a:latin typeface="Calibri" pitchFamily="34" charset="0"/>
                <a:ea typeface="Calibri" pitchFamily="34" charset="-122"/>
                <a:cs typeface="Calibri" pitchFamily="34" charset="-120"/>
              </a:rPr>
              <a:t>Roadmap de ejecucion — Jul → Sep 2026</a:t>
            </a:r>
            <a:endParaRPr lang="en-US" sz="2600" dirty="0"/>
          </a:p>
        </p:txBody>
      </p:sp>
      <p:sp>
        <p:nvSpPr>
          <p:cNvPr id="4" name="Shape 2"/>
          <p:cNvSpPr/>
          <p:nvPr/>
        </p:nvSpPr>
        <p:spPr>
          <a:xfrm>
            <a:off x="32004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5" name="Shape 3"/>
          <p:cNvSpPr/>
          <p:nvPr/>
        </p:nvSpPr>
        <p:spPr>
          <a:xfrm>
            <a:off x="320040" y="1024128"/>
            <a:ext cx="2788920" cy="384048"/>
          </a:xfrm>
          <a:prstGeom prst="roundRect">
            <a:avLst>
              <a:gd name="adj" fmla="val 23810"/>
            </a:avLst>
          </a:prstGeom>
          <a:solidFill>
            <a:srgbClr val="EF4444"/>
          </a:solidFill>
          <a:ln w="12700">
            <a:solidFill>
              <a:srgbClr val="EF4444"/>
            </a:solidFill>
            <a:prstDash val="solid"/>
          </a:ln>
        </p:spPr>
      </p:sp>
      <p:sp>
        <p:nvSpPr>
          <p:cNvPr id="6" name="Text 4"/>
          <p:cNvSpPr/>
          <p:nvPr/>
        </p:nvSpPr>
        <p:spPr>
          <a:xfrm>
            <a:off x="32004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JULIO — ESTABILIZAR</a:t>
            </a:r>
            <a:endParaRPr lang="en-US" sz="1200" dirty="0"/>
          </a:p>
        </p:txBody>
      </p:sp>
      <p:sp>
        <p:nvSpPr>
          <p:cNvPr id="7" name="Shape 5"/>
          <p:cNvSpPr/>
          <p:nvPr/>
        </p:nvSpPr>
        <p:spPr>
          <a:xfrm>
            <a:off x="484632" y="1645920"/>
            <a:ext cx="137160" cy="137160"/>
          </a:xfrm>
          <a:prstGeom prst="ellipse">
            <a:avLst/>
          </a:prstGeom>
          <a:solidFill>
            <a:srgbClr val="EF4444"/>
          </a:solidFill>
          <a:ln w="12700">
            <a:solidFill>
              <a:srgbClr val="EF4444"/>
            </a:solidFill>
            <a:prstDash val="solid"/>
          </a:ln>
        </p:spPr>
      </p:sp>
      <p:sp>
        <p:nvSpPr>
          <p:cNvPr id="8" name="Text 6"/>
          <p:cNvSpPr/>
          <p:nvPr/>
        </p:nvSpPr>
        <p:spPr>
          <a:xfrm>
            <a:off x="70408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Resolver criticos: BOTIGA, FORUS SA</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(NPS -100) + plan recuperacion escrito</a:t>
            </a:r>
            <a:endParaRPr lang="en-US" sz="1100" dirty="0"/>
          </a:p>
        </p:txBody>
      </p:sp>
      <p:sp>
        <p:nvSpPr>
          <p:cNvPr id="9" name="Shape 7"/>
          <p:cNvSpPr/>
          <p:nvPr/>
        </p:nvSpPr>
        <p:spPr>
          <a:xfrm>
            <a:off x="484632" y="2459736"/>
            <a:ext cx="137160" cy="137160"/>
          </a:xfrm>
          <a:prstGeom prst="ellipse">
            <a:avLst/>
          </a:prstGeom>
          <a:solidFill>
            <a:srgbClr val="EF4444"/>
          </a:solidFill>
          <a:ln w="12700">
            <a:solidFill>
              <a:srgbClr val="EF4444"/>
            </a:solidFill>
            <a:prstDash val="solid"/>
          </a:ln>
        </p:spPr>
      </p:sp>
      <p:sp>
        <p:nvSpPr>
          <p:cNvPr id="10" name="Text 8"/>
          <p:cNvSpPr/>
          <p:nvPr/>
        </p:nvSpPr>
        <p:spPr>
          <a:xfrm>
            <a:off x="70408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Mapear 100% cartera: quien tiene</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menos de 45 dias de contacto</a:t>
            </a:r>
            <a:endParaRPr lang="en-US" sz="1100" dirty="0"/>
          </a:p>
        </p:txBody>
      </p:sp>
      <p:sp>
        <p:nvSpPr>
          <p:cNvPr id="11" name="Shape 9"/>
          <p:cNvSpPr/>
          <p:nvPr/>
        </p:nvSpPr>
        <p:spPr>
          <a:xfrm>
            <a:off x="484632" y="3273552"/>
            <a:ext cx="137160" cy="137160"/>
          </a:xfrm>
          <a:prstGeom prst="ellipse">
            <a:avLst/>
          </a:prstGeom>
          <a:solidFill>
            <a:srgbClr val="EF4444"/>
          </a:solidFill>
          <a:ln w="12700">
            <a:solidFill>
              <a:srgbClr val="EF4444"/>
            </a:solidFill>
            <a:prstDash val="solid"/>
          </a:ln>
        </p:spPr>
      </p:sp>
      <p:sp>
        <p:nvSpPr>
          <p:cNvPr id="12" name="Text 10"/>
          <p:cNvSpPr/>
          <p:nvPr/>
        </p:nvSpPr>
        <p:spPr>
          <a:xfrm>
            <a:off x="70408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Escalar Centry con PM:</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fecha limite y owner claro</a:t>
            </a:r>
            <a:endParaRPr lang="en-US" sz="1100" dirty="0"/>
          </a:p>
        </p:txBody>
      </p:sp>
      <p:sp>
        <p:nvSpPr>
          <p:cNvPr id="13" name="Shape 11"/>
          <p:cNvSpPr/>
          <p:nvPr/>
        </p:nvSpPr>
        <p:spPr>
          <a:xfrm>
            <a:off x="484632" y="4087368"/>
            <a:ext cx="137160" cy="137160"/>
          </a:xfrm>
          <a:prstGeom prst="ellipse">
            <a:avLst/>
          </a:prstGeom>
          <a:solidFill>
            <a:srgbClr val="EF4444"/>
          </a:solidFill>
          <a:ln w="12700">
            <a:solidFill>
              <a:srgbClr val="EF4444"/>
            </a:solidFill>
            <a:prstDash val="solid"/>
          </a:ln>
        </p:spPr>
      </p:sp>
      <p:sp>
        <p:nvSpPr>
          <p:cNvPr id="14" name="Text 12"/>
          <p:cNvSpPr/>
          <p:nvPr/>
        </p:nvSpPr>
        <p:spPr>
          <a:xfrm>
            <a:off x="70408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Definir segmentacion high/mid/tech</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touch por ARR y potencial</a:t>
            </a:r>
            <a:endParaRPr lang="en-US" sz="1100" dirty="0"/>
          </a:p>
        </p:txBody>
      </p:sp>
      <p:sp>
        <p:nvSpPr>
          <p:cNvPr id="15" name="Shape 13"/>
          <p:cNvSpPr/>
          <p:nvPr/>
        </p:nvSpPr>
        <p:spPr>
          <a:xfrm>
            <a:off x="324612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16" name="Shape 14"/>
          <p:cNvSpPr/>
          <p:nvPr/>
        </p:nvSpPr>
        <p:spPr>
          <a:xfrm>
            <a:off x="3246120" y="1024128"/>
            <a:ext cx="2788920" cy="384048"/>
          </a:xfrm>
          <a:prstGeom prst="roundRect">
            <a:avLst>
              <a:gd name="adj" fmla="val 23810"/>
            </a:avLst>
          </a:prstGeom>
          <a:solidFill>
            <a:srgbClr val="F59E0B"/>
          </a:solidFill>
          <a:ln w="12700">
            <a:solidFill>
              <a:srgbClr val="F59E0B"/>
            </a:solidFill>
            <a:prstDash val="solid"/>
          </a:ln>
        </p:spPr>
      </p:sp>
      <p:sp>
        <p:nvSpPr>
          <p:cNvPr id="17" name="Text 15"/>
          <p:cNvSpPr/>
          <p:nvPr/>
        </p:nvSpPr>
        <p:spPr>
          <a:xfrm>
            <a:off x="324612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AGOSTO — DOCUMENTAR</a:t>
            </a:r>
            <a:endParaRPr lang="en-US" sz="1200" dirty="0"/>
          </a:p>
        </p:txBody>
      </p:sp>
      <p:sp>
        <p:nvSpPr>
          <p:cNvPr id="18" name="Shape 16"/>
          <p:cNvSpPr/>
          <p:nvPr/>
        </p:nvSpPr>
        <p:spPr>
          <a:xfrm>
            <a:off x="3410712" y="1645920"/>
            <a:ext cx="137160" cy="137160"/>
          </a:xfrm>
          <a:prstGeom prst="ellipse">
            <a:avLst/>
          </a:prstGeom>
          <a:solidFill>
            <a:srgbClr val="F59E0B"/>
          </a:solidFill>
          <a:ln w="12700">
            <a:solidFill>
              <a:srgbClr val="F59E0B"/>
            </a:solidFill>
            <a:prstDash val="solid"/>
          </a:ln>
        </p:spPr>
      </p:sp>
      <p:sp>
        <p:nvSpPr>
          <p:cNvPr id="19" name="Text 17"/>
          <p:cNvSpPr/>
          <p:nvPr/>
        </p:nvSpPr>
        <p:spPr>
          <a:xfrm>
            <a:off x="363016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Publicar Playbook Onboarding v1</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y Playbook NPS Negativo v1</a:t>
            </a:r>
            <a:endParaRPr lang="en-US" sz="1100" dirty="0"/>
          </a:p>
        </p:txBody>
      </p:sp>
      <p:sp>
        <p:nvSpPr>
          <p:cNvPr id="20" name="Shape 18"/>
          <p:cNvSpPr/>
          <p:nvPr/>
        </p:nvSpPr>
        <p:spPr>
          <a:xfrm>
            <a:off x="3410712" y="2459736"/>
            <a:ext cx="137160" cy="137160"/>
          </a:xfrm>
          <a:prstGeom prst="ellipse">
            <a:avLst/>
          </a:prstGeom>
          <a:solidFill>
            <a:srgbClr val="F59E0B"/>
          </a:solidFill>
          <a:ln w="12700">
            <a:solidFill>
              <a:srgbClr val="F59E0B"/>
            </a:solidFill>
            <a:prstDash val="solid"/>
          </a:ln>
        </p:spPr>
      </p:sp>
      <p:sp>
        <p:nvSpPr>
          <p:cNvPr id="21" name="Text 19"/>
          <p:cNvSpPr/>
          <p:nvPr/>
        </p:nvSpPr>
        <p:spPr>
          <a:xfrm>
            <a:off x="363016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Sesion best practices: KAYSER</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como benchmark de adopcion UP</a:t>
            </a:r>
            <a:endParaRPr lang="en-US" sz="1100" dirty="0"/>
          </a:p>
        </p:txBody>
      </p:sp>
      <p:sp>
        <p:nvSpPr>
          <p:cNvPr id="22" name="Shape 20"/>
          <p:cNvSpPr/>
          <p:nvPr/>
        </p:nvSpPr>
        <p:spPr>
          <a:xfrm>
            <a:off x="3410712" y="3273552"/>
            <a:ext cx="137160" cy="137160"/>
          </a:xfrm>
          <a:prstGeom prst="ellipse">
            <a:avLst/>
          </a:prstGeom>
          <a:solidFill>
            <a:srgbClr val="F59E0B"/>
          </a:solidFill>
          <a:ln w="12700">
            <a:solidFill>
              <a:srgbClr val="F59E0B"/>
            </a:solidFill>
            <a:prstDash val="solid"/>
          </a:ln>
        </p:spPr>
      </p:sp>
      <p:sp>
        <p:nvSpPr>
          <p:cNvPr id="23" name="Text 21"/>
          <p:cNvSpPr/>
          <p:nvPr/>
        </p:nvSpPr>
        <p:spPr>
          <a:xfrm>
            <a:off x="363016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Check-in migracion Centry:</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validar avance con PM</a:t>
            </a:r>
            <a:endParaRPr lang="en-US" sz="1100" dirty="0"/>
          </a:p>
        </p:txBody>
      </p:sp>
      <p:sp>
        <p:nvSpPr>
          <p:cNvPr id="24" name="Shape 22"/>
          <p:cNvSpPr/>
          <p:nvPr/>
        </p:nvSpPr>
        <p:spPr>
          <a:xfrm>
            <a:off x="3410712" y="4087368"/>
            <a:ext cx="137160" cy="137160"/>
          </a:xfrm>
          <a:prstGeom prst="ellipse">
            <a:avLst/>
          </a:prstGeom>
          <a:solidFill>
            <a:srgbClr val="F59E0B"/>
          </a:solidFill>
          <a:ln w="12700">
            <a:solidFill>
              <a:srgbClr val="F59E0B"/>
            </a:solidFill>
            <a:prstDash val="solid"/>
          </a:ln>
        </p:spPr>
      </p:sp>
      <p:sp>
        <p:nvSpPr>
          <p:cNvPr id="25" name="Text 23"/>
          <p:cNvSpPr/>
          <p:nvPr/>
        </p:nvSpPr>
        <p:spPr>
          <a:xfrm>
            <a:off x="363016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Revisar 100% renovaciones H2:</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iniciar las que esten a &lt; 90 dias</a:t>
            </a:r>
            <a:endParaRPr lang="en-US" sz="1100" dirty="0"/>
          </a:p>
        </p:txBody>
      </p:sp>
      <p:sp>
        <p:nvSpPr>
          <p:cNvPr id="26" name="Shape 24"/>
          <p:cNvSpPr/>
          <p:nvPr/>
        </p:nvSpPr>
        <p:spPr>
          <a:xfrm>
            <a:off x="6172200" y="1024128"/>
            <a:ext cx="2788920" cy="3913632"/>
          </a:xfrm>
          <a:prstGeom prst="roundRect">
            <a:avLst>
              <a:gd name="adj" fmla="val 3279"/>
            </a:avLst>
          </a:prstGeom>
          <a:solidFill>
            <a:srgbClr val="FFFFFF"/>
          </a:solidFill>
          <a:ln w="6350">
            <a:solidFill>
              <a:srgbClr val="E2EAF2"/>
            </a:solidFill>
            <a:prstDash val="solid"/>
          </a:ln>
          <a:effectLst>
            <a:outerShdw sx="100000" sy="100000" kx="0" ky="0" algn="bl" rotWithShape="0" blurRad="101600" dist="38100" dir="2700000">
              <a:srgbClr val="000000">
                <a:alpha val="15000"/>
              </a:srgbClr>
            </a:outerShdw>
          </a:effectLst>
        </p:spPr>
      </p:sp>
      <p:sp>
        <p:nvSpPr>
          <p:cNvPr id="27" name="Shape 25"/>
          <p:cNvSpPr/>
          <p:nvPr/>
        </p:nvSpPr>
        <p:spPr>
          <a:xfrm>
            <a:off x="6172200" y="1024128"/>
            <a:ext cx="2788920" cy="384048"/>
          </a:xfrm>
          <a:prstGeom prst="roundRect">
            <a:avLst>
              <a:gd name="adj" fmla="val 23810"/>
            </a:avLst>
          </a:prstGeom>
          <a:solidFill>
            <a:srgbClr val="10B981"/>
          </a:solidFill>
          <a:ln w="12700">
            <a:solidFill>
              <a:srgbClr val="10B981"/>
            </a:solidFill>
            <a:prstDash val="solid"/>
          </a:ln>
        </p:spPr>
      </p:sp>
      <p:sp>
        <p:nvSpPr>
          <p:cNvPr id="28" name="Text 26"/>
          <p:cNvSpPr/>
          <p:nvPr/>
        </p:nvSpPr>
        <p:spPr>
          <a:xfrm>
            <a:off x="6172200" y="1024128"/>
            <a:ext cx="2788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SEPTIEMBRE — CRECER</a:t>
            </a:r>
            <a:endParaRPr lang="en-US" sz="1200" dirty="0"/>
          </a:p>
        </p:txBody>
      </p:sp>
      <p:sp>
        <p:nvSpPr>
          <p:cNvPr id="29" name="Shape 27"/>
          <p:cNvSpPr/>
          <p:nvPr/>
        </p:nvSpPr>
        <p:spPr>
          <a:xfrm>
            <a:off x="6336792" y="1645920"/>
            <a:ext cx="137160" cy="137160"/>
          </a:xfrm>
          <a:prstGeom prst="ellipse">
            <a:avLst/>
          </a:prstGeom>
          <a:solidFill>
            <a:srgbClr val="10B981"/>
          </a:solidFill>
          <a:ln w="12700">
            <a:solidFill>
              <a:srgbClr val="10B981"/>
            </a:solidFill>
            <a:prstDash val="solid"/>
          </a:ln>
        </p:spPr>
      </p:sp>
      <p:sp>
        <p:nvSpPr>
          <p:cNvPr id="30" name="Text 28"/>
          <p:cNvSpPr/>
          <p:nvPr/>
        </p:nvSpPr>
        <p:spPr>
          <a:xfrm>
            <a:off x="6556248" y="1517904"/>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Primer QBR Enterprise:</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Forus Group (SA+CO+PE)</a:t>
            </a:r>
            <a:endParaRPr lang="en-US" sz="1100" dirty="0"/>
          </a:p>
        </p:txBody>
      </p:sp>
      <p:sp>
        <p:nvSpPr>
          <p:cNvPr id="31" name="Shape 29"/>
          <p:cNvSpPr/>
          <p:nvPr/>
        </p:nvSpPr>
        <p:spPr>
          <a:xfrm>
            <a:off x="6336792" y="2459736"/>
            <a:ext cx="137160" cy="137160"/>
          </a:xfrm>
          <a:prstGeom prst="ellipse">
            <a:avLst/>
          </a:prstGeom>
          <a:solidFill>
            <a:srgbClr val="10B981"/>
          </a:solidFill>
          <a:ln w="12700">
            <a:solidFill>
              <a:srgbClr val="10B981"/>
            </a:solidFill>
            <a:prstDash val="solid"/>
          </a:ln>
        </p:spPr>
      </p:sp>
      <p:sp>
        <p:nvSpPr>
          <p:cNvPr id="32" name="Text 30"/>
          <p:cNvSpPr/>
          <p:nvPr/>
        </p:nvSpPr>
        <p:spPr>
          <a:xfrm>
            <a:off x="6556248" y="2331720"/>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Lanzar proceso formal</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CS→Comercial para expansión</a:t>
            </a:r>
            <a:endParaRPr lang="en-US" sz="1100" dirty="0"/>
          </a:p>
        </p:txBody>
      </p:sp>
      <p:sp>
        <p:nvSpPr>
          <p:cNvPr id="33" name="Shape 31"/>
          <p:cNvSpPr/>
          <p:nvPr/>
        </p:nvSpPr>
        <p:spPr>
          <a:xfrm>
            <a:off x="6336792" y="3273552"/>
            <a:ext cx="137160" cy="137160"/>
          </a:xfrm>
          <a:prstGeom prst="ellipse">
            <a:avLst/>
          </a:prstGeom>
          <a:solidFill>
            <a:srgbClr val="10B981"/>
          </a:solidFill>
          <a:ln w="12700">
            <a:solidFill>
              <a:srgbClr val="10B981"/>
            </a:solidFill>
            <a:prstDash val="solid"/>
          </a:ln>
        </p:spPr>
      </p:sp>
      <p:sp>
        <p:nvSpPr>
          <p:cNvPr id="34" name="Text 32"/>
          <p:cNvSpPr/>
          <p:nvPr/>
        </p:nvSpPr>
        <p:spPr>
          <a:xfrm>
            <a:off x="6556248" y="3145536"/>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Medir delta UP: comparar</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adopcion julio vs. septiembre</a:t>
            </a:r>
            <a:endParaRPr lang="en-US" sz="1100" dirty="0"/>
          </a:p>
        </p:txBody>
      </p:sp>
      <p:sp>
        <p:nvSpPr>
          <p:cNvPr id="35" name="Shape 33"/>
          <p:cNvSpPr/>
          <p:nvPr/>
        </p:nvSpPr>
        <p:spPr>
          <a:xfrm>
            <a:off x="6336792" y="4087368"/>
            <a:ext cx="137160" cy="137160"/>
          </a:xfrm>
          <a:prstGeom prst="ellipse">
            <a:avLst/>
          </a:prstGeom>
          <a:solidFill>
            <a:srgbClr val="10B981"/>
          </a:solidFill>
          <a:ln w="12700">
            <a:solidFill>
              <a:srgbClr val="10B981"/>
            </a:solidFill>
            <a:prstDash val="solid"/>
          </a:ln>
        </p:spPr>
      </p:sp>
      <p:sp>
        <p:nvSpPr>
          <p:cNvPr id="36" name="Text 34"/>
          <p:cNvSpPr/>
          <p:nvPr/>
        </p:nvSpPr>
        <p:spPr>
          <a:xfrm>
            <a:off x="6556248" y="3959352"/>
            <a:ext cx="2286000" cy="749808"/>
          </a:xfrm>
          <a:prstGeom prst="rect">
            <a:avLst/>
          </a:prstGeom>
          <a:noFill/>
          <a:ln/>
        </p:spPr>
        <p:txBody>
          <a:bodyPr wrap="square" lIns="0" tIns="0" rIns="0" bIns="0" rtlCol="0" anchor="t"/>
          <a:lstStyle/>
          <a:p>
            <a:pPr indent="0" marL="0">
              <a:buNone/>
            </a:pPr>
            <a:r>
              <a:rPr lang="en-US" sz="1100" dirty="0">
                <a:solidFill>
                  <a:srgbClr val="0F2137"/>
                </a:solidFill>
                <a:latin typeface="Calibri" pitchFamily="34" charset="0"/>
                <a:ea typeface="Calibri" pitchFamily="34" charset="-122"/>
                <a:cs typeface="Calibri" pitchFamily="34" charset="-120"/>
              </a:rPr>
              <a:t>Revision OKRs con Director:</a:t>
            </a:r>
            <a:endParaRPr lang="en-US" sz="1100" dirty="0"/>
          </a:p>
          <a:p>
            <a:pPr indent="0" marL="0">
              <a:buNone/>
            </a:pPr>
            <a:r>
              <a:rPr lang="en-US" sz="1100" dirty="0">
                <a:solidFill>
                  <a:srgbClr val="0F2137"/>
                </a:solidFill>
                <a:latin typeface="Calibri" pitchFamily="34" charset="0"/>
                <a:ea typeface="Calibri" pitchFamily="34" charset="-122"/>
                <a:cs typeface="Calibri" pitchFamily="34" charset="-120"/>
              </a:rPr>
              <a:t>ajustar plan Q4 2026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097280"/>
            <a:ext cx="4114800" cy="4114800"/>
          </a:xfrm>
          <a:prstGeom prst="ellipse">
            <a:avLst/>
          </a:prstGeom>
          <a:solidFill>
            <a:srgbClr val="1A3A5C"/>
          </a:solidFill>
          <a:ln w="12700">
            <a:solidFill>
              <a:srgbClr val="1A3A5C"/>
            </a:solidFill>
            <a:prstDash val="solid"/>
          </a:ln>
        </p:spPr>
      </p:sp>
      <p:sp>
        <p:nvSpPr>
          <p:cNvPr id="3" name="Shape 1"/>
          <p:cNvSpPr/>
          <p:nvPr/>
        </p:nvSpPr>
        <p:spPr>
          <a:xfrm>
            <a:off x="8046720" y="2286000"/>
            <a:ext cx="2286000" cy="2286000"/>
          </a:xfrm>
          <a:prstGeom prst="ellipse">
            <a:avLst/>
          </a:prstGeom>
          <a:solidFill>
            <a:srgbClr val="0F9B8E">
              <a:alpha val="30000"/>
            </a:srgbClr>
          </a:solidFill>
          <a:ln w="12700">
            <a:solidFill>
              <a:srgbClr val="0F9B8E">
                <a:alpha val="30000"/>
              </a:srgbClr>
            </a:solidFill>
            <a:prstDash val="solid"/>
          </a:ln>
        </p:spPr>
      </p:sp>
      <p:sp>
        <p:nvSpPr>
          <p:cNvPr id="4" name="Text 2"/>
          <p:cNvSpPr/>
          <p:nvPr/>
        </p:nvSpPr>
        <p:spPr>
          <a:xfrm>
            <a:off x="502920" y="347472"/>
            <a:ext cx="8229600" cy="320040"/>
          </a:xfrm>
          <a:prstGeom prst="rect">
            <a:avLst/>
          </a:prstGeom>
          <a:noFill/>
          <a:ln/>
        </p:spPr>
        <p:txBody>
          <a:bodyPr wrap="square" lIns="0" tIns="0" rIns="0" bIns="0" rtlCol="0" anchor="ctr"/>
          <a:lstStyle/>
          <a:p>
            <a:pPr indent="0" marL="0">
              <a:buNone/>
            </a:pPr>
            <a:r>
              <a:rPr lang="en-US" sz="1100" b="1" spc="500" kern="0" dirty="0">
                <a:solidFill>
                  <a:srgbClr val="F2A71B"/>
                </a:solidFill>
                <a:latin typeface="Calibri" pitchFamily="34" charset="0"/>
                <a:ea typeface="Calibri" pitchFamily="34" charset="-122"/>
                <a:cs typeface="Calibri" pitchFamily="34" charset="-120"/>
              </a:rPr>
              <a:t>LA CONVERSACION CON DIRECCION</a:t>
            </a:r>
            <a:endParaRPr lang="en-US" sz="1100" dirty="0"/>
          </a:p>
        </p:txBody>
      </p:sp>
      <p:sp>
        <p:nvSpPr>
          <p:cNvPr id="5" name="Text 3"/>
          <p:cNvSpPr/>
          <p:nvPr/>
        </p:nvSpPr>
        <p:spPr>
          <a:xfrm>
            <a:off x="502920" y="658368"/>
            <a:ext cx="7315200" cy="84124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3 preguntas que el equipo</a:t>
            </a:r>
            <a:endParaRPr lang="en-US" sz="2200" dirty="0"/>
          </a:p>
          <a:p>
            <a:pPr indent="0" marL="0">
              <a:buNone/>
            </a:pPr>
            <a:r>
              <a:rPr lang="en-US" sz="2200" b="1" dirty="0">
                <a:solidFill>
                  <a:srgbClr val="FFFFFF"/>
                </a:solidFill>
                <a:latin typeface="Calibri" pitchFamily="34" charset="0"/>
                <a:ea typeface="Calibri" pitchFamily="34" charset="-122"/>
                <a:cs typeface="Calibri" pitchFamily="34" charset="-120"/>
              </a:rPr>
              <a:t>necesita responder esta semana:</a:t>
            </a:r>
            <a:endParaRPr lang="en-US" sz="2200" dirty="0"/>
          </a:p>
        </p:txBody>
      </p:sp>
      <p:sp>
        <p:nvSpPr>
          <p:cNvPr id="6" name="Shape 4"/>
          <p:cNvSpPr/>
          <p:nvPr/>
        </p:nvSpPr>
        <p:spPr>
          <a:xfrm>
            <a:off x="365760" y="1572768"/>
            <a:ext cx="8412480" cy="896112"/>
          </a:xfrm>
          <a:prstGeom prst="roundRect">
            <a:avLst>
              <a:gd name="adj" fmla="val 10204"/>
            </a:avLst>
          </a:prstGeom>
          <a:solidFill>
            <a:srgbClr val="162840"/>
          </a:solidFill>
          <a:ln w="15240">
            <a:solidFill>
              <a:srgbClr val="0F9B8E"/>
            </a:solidFill>
            <a:prstDash val="solid"/>
          </a:ln>
        </p:spPr>
      </p:sp>
      <p:sp>
        <p:nvSpPr>
          <p:cNvPr id="7" name="Text 5"/>
          <p:cNvSpPr/>
          <p:nvPr/>
        </p:nvSpPr>
        <p:spPr>
          <a:xfrm>
            <a:off x="530352" y="1755648"/>
            <a:ext cx="475488" cy="457200"/>
          </a:xfrm>
          <a:prstGeom prst="rect">
            <a:avLst/>
          </a:prstGeom>
          <a:noFill/>
          <a:ln/>
        </p:spPr>
        <p:txBody>
          <a:bodyPr wrap="square" lIns="0" tIns="0" rIns="0" bIns="0" rtlCol="0" anchor="ctr"/>
          <a:lstStyle/>
          <a:p>
            <a:pPr indent="0" marL="0">
              <a:buNone/>
            </a:pPr>
            <a:r>
              <a:rPr lang="en-US" sz="2600" b="1" dirty="0">
                <a:solidFill>
                  <a:srgbClr val="0F9B8E"/>
                </a:solidFill>
                <a:latin typeface="Calibri" pitchFamily="34" charset="0"/>
                <a:ea typeface="Calibri" pitchFamily="34" charset="-122"/>
                <a:cs typeface="Calibri" pitchFamily="34" charset="-120"/>
              </a:rPr>
              <a:t>01</a:t>
            </a:r>
            <a:endParaRPr lang="en-US" sz="2600" dirty="0"/>
          </a:p>
        </p:txBody>
      </p:sp>
      <p:sp>
        <p:nvSpPr>
          <p:cNvPr id="8" name="Text 6"/>
          <p:cNvSpPr/>
          <p:nvPr/>
        </p:nvSpPr>
        <p:spPr>
          <a:xfrm>
            <a:off x="1115568" y="1664208"/>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Que parte del trabajo del equipo debe ser reactivo y cual proactivo? Con el volumen actual de cartera, no podemos hacer los dos sin procesos que liberen tiempo.</a:t>
            </a:r>
            <a:endParaRPr lang="en-US" sz="1250" dirty="0"/>
          </a:p>
        </p:txBody>
      </p:sp>
      <p:sp>
        <p:nvSpPr>
          <p:cNvPr id="9" name="Shape 7"/>
          <p:cNvSpPr/>
          <p:nvPr/>
        </p:nvSpPr>
        <p:spPr>
          <a:xfrm>
            <a:off x="365760" y="2615184"/>
            <a:ext cx="8412480" cy="896112"/>
          </a:xfrm>
          <a:prstGeom prst="roundRect">
            <a:avLst>
              <a:gd name="adj" fmla="val 10204"/>
            </a:avLst>
          </a:prstGeom>
          <a:solidFill>
            <a:srgbClr val="162840"/>
          </a:solidFill>
          <a:ln w="15240">
            <a:solidFill>
              <a:srgbClr val="F59E0B"/>
            </a:solidFill>
            <a:prstDash val="solid"/>
          </a:ln>
        </p:spPr>
      </p:sp>
      <p:sp>
        <p:nvSpPr>
          <p:cNvPr id="10" name="Text 8"/>
          <p:cNvSpPr/>
          <p:nvPr/>
        </p:nvSpPr>
        <p:spPr>
          <a:xfrm>
            <a:off x="530352" y="2798064"/>
            <a:ext cx="475488" cy="457200"/>
          </a:xfrm>
          <a:prstGeom prst="rect">
            <a:avLst/>
          </a:prstGeom>
          <a:noFill/>
          <a:ln/>
        </p:spPr>
        <p:txBody>
          <a:bodyPr wrap="square" lIns="0" tIns="0" rIns="0" bIns="0" rtlCol="0" anchor="ctr"/>
          <a:lstStyle/>
          <a:p>
            <a:pPr indent="0" marL="0">
              <a:buNone/>
            </a:pPr>
            <a:r>
              <a:rPr lang="en-US" sz="2600" b="1" dirty="0">
                <a:solidFill>
                  <a:srgbClr val="F59E0B"/>
                </a:solidFill>
                <a:latin typeface="Calibri" pitchFamily="34" charset="0"/>
                <a:ea typeface="Calibri" pitchFamily="34" charset="-122"/>
                <a:cs typeface="Calibri" pitchFamily="34" charset="-120"/>
              </a:rPr>
              <a:t>02</a:t>
            </a:r>
            <a:endParaRPr lang="en-US" sz="2600" dirty="0"/>
          </a:p>
        </p:txBody>
      </p:sp>
      <p:sp>
        <p:nvSpPr>
          <p:cNvPr id="11" name="Text 9"/>
          <p:cNvSpPr/>
          <p:nvPr/>
        </p:nvSpPr>
        <p:spPr>
          <a:xfrm>
            <a:off x="1115568" y="2706624"/>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Quien es el PM dueno de la migracion Centry con fecha de entrega? Sin esto, CS seguira absorbiendo el impacto de una decision que no le pertenece.</a:t>
            </a:r>
            <a:endParaRPr lang="en-US" sz="1250" dirty="0"/>
          </a:p>
        </p:txBody>
      </p:sp>
      <p:sp>
        <p:nvSpPr>
          <p:cNvPr id="12" name="Shape 10"/>
          <p:cNvSpPr/>
          <p:nvPr/>
        </p:nvSpPr>
        <p:spPr>
          <a:xfrm>
            <a:off x="365760" y="3657600"/>
            <a:ext cx="8412480" cy="896112"/>
          </a:xfrm>
          <a:prstGeom prst="roundRect">
            <a:avLst>
              <a:gd name="adj" fmla="val 10204"/>
            </a:avLst>
          </a:prstGeom>
          <a:solidFill>
            <a:srgbClr val="162840"/>
          </a:solidFill>
          <a:ln w="15240">
            <a:solidFill>
              <a:srgbClr val="F2A71B"/>
            </a:solidFill>
            <a:prstDash val="solid"/>
          </a:ln>
        </p:spPr>
      </p:sp>
      <p:sp>
        <p:nvSpPr>
          <p:cNvPr id="13" name="Text 11"/>
          <p:cNvSpPr/>
          <p:nvPr/>
        </p:nvSpPr>
        <p:spPr>
          <a:xfrm>
            <a:off x="530352" y="3840480"/>
            <a:ext cx="475488" cy="457200"/>
          </a:xfrm>
          <a:prstGeom prst="rect">
            <a:avLst/>
          </a:prstGeom>
          <a:noFill/>
          <a:ln/>
        </p:spPr>
        <p:txBody>
          <a:bodyPr wrap="square" lIns="0" tIns="0" rIns="0" bIns="0" rtlCol="0" anchor="ctr"/>
          <a:lstStyle/>
          <a:p>
            <a:pPr indent="0" marL="0">
              <a:buNone/>
            </a:pPr>
            <a:r>
              <a:rPr lang="en-US" sz="2600" b="1" dirty="0">
                <a:solidFill>
                  <a:srgbClr val="F2A71B"/>
                </a:solidFill>
                <a:latin typeface="Calibri" pitchFamily="34" charset="0"/>
                <a:ea typeface="Calibri" pitchFamily="34" charset="-122"/>
                <a:cs typeface="Calibri" pitchFamily="34" charset="-120"/>
              </a:rPr>
              <a:t>03</a:t>
            </a:r>
            <a:endParaRPr lang="en-US" sz="2600" dirty="0"/>
          </a:p>
        </p:txBody>
      </p:sp>
      <p:sp>
        <p:nvSpPr>
          <p:cNvPr id="14" name="Text 12"/>
          <p:cNvSpPr/>
          <p:nvPr/>
        </p:nvSpPr>
        <p:spPr>
          <a:xfrm>
            <a:off x="1115568" y="3749040"/>
            <a:ext cx="7406640" cy="7132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Vamos a documentar los playbooks del equipo como prioridad de agosto? Si no hay decision explicita, nunca va a pasar porque siempre hay algo mas urgente.</a:t>
            </a:r>
            <a:endParaRPr lang="en-US" sz="1250" dirty="0"/>
          </a:p>
        </p:txBody>
      </p:sp>
      <p:sp>
        <p:nvSpPr>
          <p:cNvPr id="15" name="Text 13"/>
          <p:cNvSpPr/>
          <p:nvPr/>
        </p:nvSpPr>
        <p:spPr>
          <a:xfrm>
            <a:off x="457200" y="4873752"/>
            <a:ext cx="8229600" cy="228600"/>
          </a:xfrm>
          <a:prstGeom prst="rect">
            <a:avLst/>
          </a:prstGeom>
          <a:noFill/>
          <a:ln/>
        </p:spPr>
        <p:txBody>
          <a:bodyPr wrap="square" lIns="0" tIns="0" rIns="0" bIns="0" rtlCol="0" anchor="ctr"/>
          <a:lstStyle/>
          <a:p>
            <a:pPr algn="ctr" indent="0" marL="0">
              <a:buNone/>
            </a:pPr>
            <a:r>
              <a:rPr lang="en-US" sz="1100" dirty="0">
                <a:solidFill>
                  <a:srgbClr val="7B93AA"/>
                </a:solidFill>
                <a:latin typeface="Calibri" pitchFamily="34" charset="0"/>
                <a:ea typeface="Calibri" pitchFamily="34" charset="-122"/>
                <a:cs typeface="Calibri" pitchFamily="34" charset="-120"/>
              </a:rPr>
              <a:t>AnyMarket LATAM  ·  Customer Success  ·  H2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OKRs CS AnyMarket LATAM H2 2026</dc:title>
  <dc:subject>PptxGenJS Presentation</dc:subject>
  <dc:creator>CS AnyMarket LATAM</dc:creator>
  <cp:lastModifiedBy>CS AnyMarket LATAM</cp:lastModifiedBy>
  <cp:revision>1</cp:revision>
  <dcterms:created xsi:type="dcterms:W3CDTF">2026-07-08T22:10:50Z</dcterms:created>
  <dcterms:modified xsi:type="dcterms:W3CDTF">2026-07-08T22:10:50Z</dcterms:modified>
</cp:coreProperties>
</file>