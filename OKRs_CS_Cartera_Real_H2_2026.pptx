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UP %</c:v>
                </c:pt>
              </c:strCache>
            </c:strRef>
          </c:tx>
          <c:spPr>
            <a:solidFill>
              <a:srgbClr val="10B981"/>
            </a:solidFill>
            <a:effectLst/>
          </c:spPr>
          <c:invertIfNegative val="0"/>
          <c:dLbls>
            <c:numFmt formatCode="#,##0" sourceLinked="0"/>
            <c:txPr>
              <a:bodyPr/>
              <a:lstStyle/>
              <a:p>
                <a:pPr>
                  <a:defRPr b="0" i="0" strike="noStrike" sz="1200" u="none">
                    <a:solidFill>
                      <a:srgbClr val="1A3A5C"/>
                    </a:solidFill>
                    <a:latin typeface="Arial"/>
                  </a:defRPr>
                </a:pPr>
              </a:p>
            </c:txPr>
            <c:showLegendKey val="0"/>
            <c:showVal val="1"/>
            <c:showCatName val="0"/>
            <c:showSerName val="0"/>
            <c:showPercent val="0"/>
            <c:showBubbleSize val="0"/>
            <c:showLeaderLines val="0"/>
          </c:dLbls>
          <c:dPt>
            <c:idx val="0"/>
            <c:invertIfNegative val="0"/>
            <c:bubble3D val="0"/>
            <c:spPr>
              <a:solidFill>
                <a:srgbClr val="10B981"/>
              </a:solidFill>
              <a:effectLst/>
            </c:spPr>
          </c:dPt>
          <c:dPt>
            <c:idx val="1"/>
            <c:invertIfNegative val="0"/>
            <c:bubble3D val="0"/>
            <c:spPr>
              <a:solidFill>
                <a:srgbClr val="10B981"/>
              </a:solidFill>
              <a:effectLst/>
            </c:spPr>
          </c:dPt>
          <c:dPt>
            <c:idx val="2"/>
            <c:invertIfNegative val="0"/>
            <c:bubble3D val="0"/>
            <c:spPr>
              <a:solidFill>
                <a:srgbClr val="F59E0B"/>
              </a:solidFill>
              <a:effectLst/>
            </c:spPr>
          </c:dPt>
          <c:dPt>
            <c:idx val="3"/>
            <c:invertIfNegative val="0"/>
            <c:bubble3D val="0"/>
            <c:spPr>
              <a:solidFill>
                <a:srgbClr val="F59E0B"/>
              </a:solidFill>
              <a:effectLst/>
            </c:spPr>
          </c:dPt>
          <c:dPt>
            <c:idx val="4"/>
            <c:invertIfNegative val="0"/>
            <c:bubble3D val="0"/>
            <c:spPr>
              <a:solidFill>
                <a:srgbClr val="F59E0B"/>
              </a:solidFill>
              <a:effectLst/>
            </c:spPr>
          </c:dPt>
          <c:dPt>
            <c:idx val="5"/>
            <c:invertIfNegative val="0"/>
            <c:bubble3D val="0"/>
            <c:spPr>
              <a:solidFill>
                <a:srgbClr val="F59E0B"/>
              </a:solidFill>
              <a:effectLst/>
            </c:spPr>
          </c:dPt>
          <c:dPt>
            <c:idx val="6"/>
            <c:invertIfNegative val="0"/>
            <c:bubble3D val="0"/>
            <c:spPr>
              <a:solidFill>
                <a:srgbClr val="EF4444"/>
              </a:solidFill>
              <a:effectLst/>
            </c:spPr>
          </c:dPt>
          <c:dPt>
            <c:idx val="7"/>
            <c:invertIfNegative val="0"/>
            <c:bubble3D val="0"/>
            <c:spPr>
              <a:solidFill>
                <a:srgbClr val="EF4444"/>
              </a:solidFill>
              <a:effectLst/>
            </c:spPr>
          </c:dPt>
          <c:dPt>
            <c:idx val="8"/>
            <c:invertIfNegative val="0"/>
            <c:bubble3D val="0"/>
            <c:spPr>
              <a:solidFill>
                <a:srgbClr val="EF4444"/>
              </a:solidFill>
              <a:effectLst/>
            </c:spPr>
          </c:dPt>
          <c:dPt>
            <c:idx val="9"/>
            <c:invertIfNegative val="0"/>
            <c:bubble3D val="0"/>
            <c:spPr>
              <a:solidFill>
                <a:srgbClr val="EF4444"/>
              </a:solidFill>
              <a:effectLst/>
            </c:spPr>
          </c:dPt>
          <c:dPt>
            <c:idx val="10"/>
            <c:invertIfNegative val="0"/>
            <c:bubble3D val="0"/>
            <c:spPr>
              <a:solidFill>
                <a:srgbClr val="EF4444"/>
              </a:solidFill>
              <a:effectLst/>
            </c:spPr>
          </c:dPt>
          <c:dPt>
            <c:idx val="11"/>
            <c:invertIfNegative val="0"/>
            <c:bubble3D val="0"/>
            <c:spPr>
              <a:solidFill>
                <a:srgbClr val="EF4444"/>
              </a:solidFill>
              <a:effectLst/>
            </c:spPr>
          </c:dPt>
          <c:cat>
            <c:multiLvlStrRef>
              <c:f>Sheet1!$A$2:$A$13</c:f>
              <c:multiLvlStrCache>
                <c:ptCount val="12"/>
                <c:lvl>
                  <c:pt idx="0">
                    <c:v>KAYSER</c:v>
                  </c:pt>
                  <c:pt idx="1">
                    <c:v>EMMA SLEEP CL</c:v>
                  </c:pt>
                  <c:pt idx="2">
                    <c:v>FORUS PERU</c:v>
                  </c:pt>
                  <c:pt idx="3">
                    <c:v>FARMASHOP</c:v>
                  </c:pt>
                  <c:pt idx="4">
                    <c:v>BOTIGA</c:v>
                  </c:pt>
                  <c:pt idx="5">
                    <c:v>EMMA SLEEP CO</c:v>
                  </c:pt>
                  <c:pt idx="6">
                    <c:v>BELCORP CL</c:v>
                  </c:pt>
                  <c:pt idx="7">
                    <c:v>TRAMONTINA CL</c:v>
                  </c:pt>
                  <c:pt idx="8">
                    <c:v>FASHIONS PARK</c:v>
                  </c:pt>
                  <c:pt idx="9">
                    <c:v>LOI CHILE</c:v>
                  </c:pt>
                  <c:pt idx="10">
                    <c:v>BELCORP PE</c:v>
                  </c:pt>
                  <c:pt idx="11">
                    <c:v>BELCORP CO</c:v>
                  </c:pt>
                </c:lvl>
              </c:multiLvlStrCache>
            </c:multiLvlStrRef>
          </c:cat>
          <c:val>
            <c:numRef>
              <c:f>Sheet1!$B$2:$B$13</c:f>
              <c:numCache>
                <c:formatCode>General</c:formatCode>
                <c:ptCount val="12"/>
                <c:pt idx="0">
                  <c:v>55.6</c:v>
                </c:pt>
                <c:pt idx="1">
                  <c:v>52.8</c:v>
                </c:pt>
                <c:pt idx="2">
                  <c:v>47.2</c:v>
                </c:pt>
                <c:pt idx="3">
                  <c:v>44.4</c:v>
                </c:pt>
                <c:pt idx="4">
                  <c:v>36.1</c:v>
                </c:pt>
                <c:pt idx="5">
                  <c:v>33.3</c:v>
                </c:pt>
                <c:pt idx="6">
                  <c:v>28.6</c:v>
                </c:pt>
                <c:pt idx="7">
                  <c:v>25</c:v>
                </c:pt>
                <c:pt idx="8">
                  <c:v>22.2</c:v>
                </c:pt>
                <c:pt idx="9">
                  <c:v>19.4</c:v>
                </c:pt>
                <c:pt idx="10">
                  <c:v>11.1</c:v>
                </c:pt>
                <c:pt idx="11">
                  <c:v>8.3</c:v>
                </c:pt>
              </c:numCache>
            </c:numRef>
          </c:val>
        </c:ser>
        <c:dLbls>
          <c:numFmt formatCode="#,##0" sourceLinked="0"/>
          <c:txPr>
            <a:bodyPr/>
            <a:lstStyle/>
            <a:p>
              <a:pPr>
                <a:defRPr b="0" i="0" strike="noStrike" sz="1200" u="none">
                  <a:solidFill>
                    <a:srgbClr val="1A3A5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E68"/>
                </a:solidFill>
                <a:latin typeface="Arial"/>
              </a:defRPr>
            </a:pPr>
            <a:endParaRPr lang="en-US"/>
          </a:p>
        </c:txPr>
        <c:crossAx val="2094734552"/>
        <c:crosses val="autoZero"/>
        <c:auto val="1"/>
        <c:lblAlgn val="ctr"/>
        <c:noMultiLvlLbl val="1"/>
      </c:catAx>
      <c:valAx>
        <c:axId val="2094734552"/>
        <c:scaling>
          <c:orientation val="minMax"/>
          <c:max val="80"/>
        </c:scaling>
        <c:delete val="0"/>
        <c:axPos val="b"/>
        <c:majorGridlines>
          <c:spPr>
            <a:ln w="6350" cap="flat">
              <a:solidFill>
                <a:srgbClr val="E2EA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datos en esta presentacion provienen de fuentes verificadas: Power BI (GMV y Use Points), TrackSale (NPS), Zendesk (tickets), AnyMarket (plataforma). Los datos no consultados aparecen explicitamente como sin dato.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estado real del portafolio al inicio de H2 2026. Los clientes Centry representan una fractura en la capacidad del equipo de medir y gestionar la salud de sus cuentas. BOTIGA y FORUS SA son las emergencias activas.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obtenidos directamente de Power BI Use Points (julio 2026). Filtros aplicados: Ativo++ 60 dias = sim, Vendas++ 30 dias = sim. LACOSTE excluido por error de filtro durante la extraccion — dato null. Valores de FORUS PERU y FARMASHOP son aproximados del ranking visual.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la mas honesta y la mas importante. Antes de hablar de OKRs el Director necesita ver que el equipo opera con informacion incompleta. Resolver estas brechas es un prerequisito, no un objetivo opcional.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desafio tiene evidencia real. No hay suposiciones. El Director puede pedir la fuente de cada punto y existe. Eso es lo que hace esta presentacion defendible.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extraidos via API Zendesk el 10 julio 2026. El patron dominante: 50% de tickets son pedidos que no llegan al ERP del cliente. Esto es un problema sistemico de integracion, no de uso de plataforma. CS absorbe el escalamiento sin herramientas para resolverlo directamente. Falabella y Ripley Flex son los dos marketplaces con bugs recurrentes.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OKRs responden directamente a los desafios de la diapositiva anterior. OKR1 resuelve el problema de brechas de datos. OKR2 ataca la adopcion real del 34%. OKR3 protege las cuentas con NPS critico. OKR4 desbloquea los clientes Centry. OKR5 aprovecha la base estable para crecer.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OKR es la base de todo. Si el equipo no sabe con precision como esta cada cliente, no puede tomar decisiones. Es el prerequisito para todos los demas OKRs.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meta de 34% a 50% es alcanzable si el equipo trabaja los 3 criticos (BELCORP CO, PE, LOI) y mantiene el nivel de los MEDIO. Los Centry no estan incluidos porque no tienen datos en AnyMarket todavia.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KR mas critico y urgente es que los dos NPS -100 tengan plan antes del 11 de julio. Cualquier otra cosa puede esperar. Si se pierde BOTIGA o FORUS SA en julio sin haber actuado, es un fallo del proceso, no solo del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blockers principal es FORUS COLOMBIA en Dafiti. Sin resolver eso, el cliente no puede migrar. CS necesita que Producto asuma ownership de esta escalacion — no puede resolverse desde el equipo CS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clientes con mayor adopcion UP son los mejores candidatos para Predize. Documentar ese caso de uso es el pitch para los demas. OKR 5 solo funciona sobre base estable de OKRs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Julio es emergencias + datos. El protocolo CS-Soporte debe quedar definido en agosto antes de que se acumulen mas tickets cronicos. Septiembre es el primer mes donde el equipo puede operar con datos reales y ejecutar expansion.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tres decisiones no son del equipo CS — son de la Direccion. El equipo ya sabe que tiene que hacer. Lo que necesita es que la organizacion cree las condiciones. Esta conversacion define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502920" y="914400"/>
            <a:ext cx="8229600" cy="502920"/>
          </a:xfrm>
          <a:prstGeom prst="rect">
            <a:avLst/>
          </a:prstGeom>
          <a:noFill/>
          <a:ln/>
        </p:spPr>
        <p:txBody>
          <a:bodyPr wrap="square" lIns="0" tIns="0" rIns="0" bIns="0" rtlCol="0" anchor="ctr"/>
          <a:lstStyle/>
          <a:p>
            <a:pPr algn="l" indent="0" marL="0">
              <a:buNone/>
            </a:pPr>
            <a:r>
              <a:rPr lang="en-US" sz="1400" b="1" spc="600" kern="0" dirty="0">
                <a:solidFill>
                  <a:srgbClr val="F2A71B"/>
                </a:solidFill>
                <a:latin typeface="Calibri" pitchFamily="34" charset="0"/>
                <a:ea typeface="Calibri" pitchFamily="34" charset="-122"/>
                <a:cs typeface="Calibri" pitchFamily="34" charset="-120"/>
              </a:rPr>
              <a:t>Customer Success</a:t>
            </a:r>
            <a:endParaRPr lang="en-US" sz="1400" dirty="0"/>
          </a:p>
        </p:txBody>
      </p:sp>
      <p:sp>
        <p:nvSpPr>
          <p:cNvPr id="5" name="Text 3"/>
          <p:cNvSpPr/>
          <p:nvPr/>
        </p:nvSpPr>
        <p:spPr>
          <a:xfrm>
            <a:off x="502920" y="1389888"/>
            <a:ext cx="8229600" cy="1234440"/>
          </a:xfrm>
          <a:prstGeom prst="rect">
            <a:avLst/>
          </a:prstGeom>
          <a:noFill/>
          <a:ln/>
        </p:spPr>
        <p:txBody>
          <a:bodyPr wrap="square" lIns="0" tIns="0" rIns="0" bIns="0" rtlCol="0" anchor="ctr"/>
          <a:lstStyle/>
          <a:p>
            <a:pPr algn="l" indent="0" marL="0">
              <a:buNone/>
            </a:pPr>
            <a:r>
              <a:rPr lang="en-US" sz="5800" b="1" dirty="0">
                <a:solidFill>
                  <a:srgbClr val="FFFFFF"/>
                </a:solidFill>
                <a:latin typeface="Calibri" pitchFamily="34" charset="0"/>
                <a:ea typeface="Calibri" pitchFamily="34" charset="-122"/>
                <a:cs typeface="Calibri" pitchFamily="34" charset="-120"/>
              </a:rPr>
              <a:t>OKRs del Equipo</a:t>
            </a:r>
            <a:endParaRPr lang="en-US" sz="5800" dirty="0"/>
          </a:p>
        </p:txBody>
      </p:sp>
      <p:sp>
        <p:nvSpPr>
          <p:cNvPr id="6" name="Text 4"/>
          <p:cNvSpPr/>
          <p:nvPr/>
        </p:nvSpPr>
        <p:spPr>
          <a:xfrm>
            <a:off x="502920" y="2606040"/>
            <a:ext cx="8229600" cy="822960"/>
          </a:xfrm>
          <a:prstGeom prst="rect">
            <a:avLst/>
          </a:prstGeom>
          <a:noFill/>
          <a:ln/>
        </p:spPr>
        <p:txBody>
          <a:bodyPr wrap="square" lIns="0" tIns="0" rIns="0" bIns="0" rtlCol="0" anchor="ctr"/>
          <a:lstStyle/>
          <a:p>
            <a:pPr algn="l" indent="0" marL="0">
              <a:buNone/>
            </a:pPr>
            <a:r>
              <a:rPr lang="en-US" sz="5000" b="1" dirty="0">
                <a:solidFill>
                  <a:srgbClr val="F2A71B"/>
                </a:solidFill>
                <a:latin typeface="Calibri" pitchFamily="34" charset="0"/>
                <a:ea typeface="Calibri" pitchFamily="34" charset="-122"/>
                <a:cs typeface="Calibri" pitchFamily="34" charset="-120"/>
              </a:rPr>
              <a:t>H2 2026</a:t>
            </a:r>
            <a:endParaRPr lang="en-US" sz="5000" dirty="0"/>
          </a:p>
        </p:txBody>
      </p:sp>
      <p:sp>
        <p:nvSpPr>
          <p:cNvPr id="7" name="Text 5"/>
          <p:cNvSpPr/>
          <p:nvPr/>
        </p:nvSpPr>
        <p:spPr>
          <a:xfrm>
            <a:off x="502920" y="3886200"/>
            <a:ext cx="8229600" cy="320040"/>
          </a:xfrm>
          <a:prstGeom prst="rect">
            <a:avLst/>
          </a:prstGeom>
          <a:noFill/>
          <a:ln/>
        </p:spPr>
        <p:txBody>
          <a:bodyPr wrap="square" lIns="0" tIns="0" rIns="0" bIns="0" rtlCol="0" anchor="ctr"/>
          <a:lstStyle/>
          <a:p>
            <a:pPr algn="l" indent="0" marL="0">
              <a:buNone/>
            </a:pPr>
            <a:r>
              <a:rPr lang="en-US" sz="1200" dirty="0">
                <a:solidFill>
                  <a:srgbClr val="7B93AA"/>
                </a:solidFill>
                <a:latin typeface="Calibri" pitchFamily="34" charset="0"/>
                <a:ea typeface="Calibri" pitchFamily="34" charset="-122"/>
                <a:cs typeface="Calibri" pitchFamily="34" charset="-120"/>
              </a:rPr>
              <a:t>Basado en datos reales  |  Power BI  |  TrackSale  |  Zendesk  |  AnyMarket</a:t>
            </a:r>
            <a:endParaRPr lang="en-US" sz="1200" dirty="0"/>
          </a:p>
        </p:txBody>
      </p:sp>
      <p:sp>
        <p:nvSpPr>
          <p:cNvPr id="8" name="Text 6"/>
          <p:cNvSpPr/>
          <p:nvPr/>
        </p:nvSpPr>
        <p:spPr>
          <a:xfrm>
            <a:off x="502920" y="4187952"/>
            <a:ext cx="8229600" cy="320040"/>
          </a:xfrm>
          <a:prstGeom prst="rect">
            <a:avLst/>
          </a:prstGeom>
          <a:noFill/>
          <a:ln/>
        </p:spPr>
        <p:txBody>
          <a:bodyPr wrap="square" lIns="0" tIns="0" rIns="0" bIns="0" rtlCol="0" anchor="ctr"/>
          <a:lstStyle/>
          <a:p>
            <a:pPr algn="l" indent="0" marL="0">
              <a:buNone/>
            </a:pPr>
            <a:r>
              <a:rPr lang="en-US" sz="1200" dirty="0">
                <a:solidFill>
                  <a:srgbClr val="7B93AA"/>
                </a:solidFill>
                <a:latin typeface="Calibri" pitchFamily="34" charset="0"/>
                <a:ea typeface="Calibri" pitchFamily="34" charset="-122"/>
                <a:cs typeface="Calibri" pitchFamily="34" charset="-120"/>
              </a:rPr>
              <a:t>AnyMarket LATAM  |  Chile  Colombia  Uruguay  Peru  Mexico  |  Julio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EL PORTAFOLIO HOY</a:t>
            </a:r>
            <a:endParaRPr lang="en-US" sz="1000" dirty="0"/>
          </a:p>
        </p:txBody>
      </p:sp>
      <p:sp>
        <p:nvSpPr>
          <p:cNvPr id="3" name="Text 1"/>
          <p:cNvSpPr/>
          <p:nvPr/>
        </p:nvSpPr>
        <p:spPr>
          <a:xfrm>
            <a:off x="457200" y="411480"/>
            <a:ext cx="8229600" cy="530352"/>
          </a:xfrm>
          <a:prstGeom prst="rect">
            <a:avLst/>
          </a:prstGeom>
          <a:noFill/>
          <a:ln/>
        </p:spPr>
        <p:txBody>
          <a:bodyPr wrap="square" lIns="0" tIns="0" rIns="0" bIns="0" rtlCol="0" anchor="ctr"/>
          <a:lstStyle/>
          <a:p>
            <a:pPr indent="0" marL="0">
              <a:buNone/>
            </a:pPr>
            <a:r>
              <a:rPr lang="en-US" sz="2800" b="1" dirty="0">
                <a:solidFill>
                  <a:srgbClr val="0F2137"/>
                </a:solidFill>
                <a:latin typeface="Calibri" pitchFamily="34" charset="0"/>
                <a:ea typeface="Calibri" pitchFamily="34" charset="-122"/>
                <a:cs typeface="Calibri" pitchFamily="34" charset="-120"/>
              </a:rPr>
              <a:t>Composicion real de la cartera CS LATAM</a:t>
            </a:r>
            <a:endParaRPr lang="en-US" sz="2800" dirty="0"/>
          </a:p>
        </p:txBody>
      </p:sp>
      <p:sp>
        <p:nvSpPr>
          <p:cNvPr id="4" name="Shape 2"/>
          <p:cNvSpPr/>
          <p:nvPr/>
        </p:nvSpPr>
        <p:spPr>
          <a:xfrm>
            <a:off x="365760" y="1078992"/>
            <a:ext cx="1938528" cy="1353312"/>
          </a:xfrm>
          <a:prstGeom prst="roundRect">
            <a:avLst>
              <a:gd name="adj" fmla="val 6757"/>
            </a:avLst>
          </a:prstGeom>
          <a:solidFill>
            <a:srgbClr val="EFF6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5" name="Text 3"/>
          <p:cNvSpPr/>
          <p:nvPr/>
        </p:nvSpPr>
        <p:spPr>
          <a:xfrm>
            <a:off x="457200" y="1115568"/>
            <a:ext cx="1755648" cy="658368"/>
          </a:xfrm>
          <a:prstGeom prst="rect">
            <a:avLst/>
          </a:prstGeom>
          <a:noFill/>
          <a:ln/>
        </p:spPr>
        <p:txBody>
          <a:bodyPr wrap="square" lIns="0" tIns="0" rIns="0" bIns="0" rtlCol="0" anchor="ctr"/>
          <a:lstStyle/>
          <a:p>
            <a:pPr algn="ctr" indent="0" marL="0">
              <a:buNone/>
            </a:pPr>
            <a:r>
              <a:rPr lang="en-US" sz="4000" b="1" dirty="0">
                <a:solidFill>
                  <a:srgbClr val="3B82F6"/>
                </a:solidFill>
                <a:latin typeface="Calibri" pitchFamily="34" charset="0"/>
                <a:ea typeface="Calibri" pitchFamily="34" charset="-122"/>
                <a:cs typeface="Calibri" pitchFamily="34" charset="-120"/>
              </a:rPr>
              <a:t>35</a:t>
            </a:r>
            <a:endParaRPr lang="en-US" sz="4000" dirty="0"/>
          </a:p>
        </p:txBody>
      </p:sp>
      <p:sp>
        <p:nvSpPr>
          <p:cNvPr id="6" name="Text 4"/>
          <p:cNvSpPr/>
          <p:nvPr/>
        </p:nvSpPr>
        <p:spPr>
          <a:xfrm>
            <a:off x="457200" y="1737360"/>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en cartera</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CS LATAM total</a:t>
            </a:r>
            <a:endParaRPr lang="en-US" sz="1100" dirty="0"/>
          </a:p>
        </p:txBody>
      </p:sp>
      <p:sp>
        <p:nvSpPr>
          <p:cNvPr id="7" name="Shape 5"/>
          <p:cNvSpPr/>
          <p:nvPr/>
        </p:nvSpPr>
        <p:spPr>
          <a:xfrm>
            <a:off x="2487168" y="1078992"/>
            <a:ext cx="1938528" cy="1353312"/>
          </a:xfrm>
          <a:prstGeom prst="roundRect">
            <a:avLst>
              <a:gd name="adj" fmla="val 6757"/>
            </a:avLst>
          </a:prstGeom>
          <a:solidFill>
            <a:srgbClr val="F0FDFA"/>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8" name="Text 6"/>
          <p:cNvSpPr/>
          <p:nvPr/>
        </p:nvSpPr>
        <p:spPr>
          <a:xfrm>
            <a:off x="2578608" y="1115568"/>
            <a:ext cx="1755648" cy="658368"/>
          </a:xfrm>
          <a:prstGeom prst="rect">
            <a:avLst/>
          </a:prstGeom>
          <a:noFill/>
          <a:ln/>
        </p:spPr>
        <p:txBody>
          <a:bodyPr wrap="square" lIns="0" tIns="0" rIns="0" bIns="0" rtlCol="0" anchor="ctr"/>
          <a:lstStyle/>
          <a:p>
            <a:pPr algn="ctr" indent="0" marL="0">
              <a:buNone/>
            </a:pPr>
            <a:r>
              <a:rPr lang="en-US" sz="4000" b="1" dirty="0">
                <a:solidFill>
                  <a:srgbClr val="0F9B8E"/>
                </a:solidFill>
                <a:latin typeface="Calibri" pitchFamily="34" charset="0"/>
                <a:ea typeface="Calibri" pitchFamily="34" charset="-122"/>
                <a:cs typeface="Calibri" pitchFamily="34" charset="-120"/>
              </a:rPr>
              <a:t>6</a:t>
            </a:r>
            <a:endParaRPr lang="en-US" sz="4000" dirty="0"/>
          </a:p>
        </p:txBody>
      </p:sp>
      <p:sp>
        <p:nvSpPr>
          <p:cNvPr id="9" name="Text 7"/>
          <p:cNvSpPr/>
          <p:nvPr/>
        </p:nvSpPr>
        <p:spPr>
          <a:xfrm>
            <a:off x="2578608" y="1737360"/>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Paises</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Chile / CO / UY / PE / MX</a:t>
            </a:r>
            <a:endParaRPr lang="en-US" sz="1100" dirty="0"/>
          </a:p>
        </p:txBody>
      </p:sp>
      <p:sp>
        <p:nvSpPr>
          <p:cNvPr id="10" name="Shape 8"/>
          <p:cNvSpPr/>
          <p:nvPr/>
        </p:nvSpPr>
        <p:spPr>
          <a:xfrm>
            <a:off x="4608576" y="1078992"/>
            <a:ext cx="1938528" cy="1353312"/>
          </a:xfrm>
          <a:prstGeom prst="roundRect">
            <a:avLst>
              <a:gd name="adj" fmla="val 6757"/>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1" name="Text 9"/>
          <p:cNvSpPr/>
          <p:nvPr/>
        </p:nvSpPr>
        <p:spPr>
          <a:xfrm>
            <a:off x="4700016" y="1115568"/>
            <a:ext cx="1755648" cy="658368"/>
          </a:xfrm>
          <a:prstGeom prst="rect">
            <a:avLst/>
          </a:prstGeom>
          <a:noFill/>
          <a:ln/>
        </p:spPr>
        <p:txBody>
          <a:bodyPr wrap="square" lIns="0" tIns="0" rIns="0" bIns="0" rtlCol="0" anchor="ctr"/>
          <a:lstStyle/>
          <a:p>
            <a:pPr algn="ctr" indent="0" marL="0">
              <a:buNone/>
            </a:pPr>
            <a:r>
              <a:rPr lang="en-US" sz="4000" b="1" dirty="0">
                <a:solidFill>
                  <a:srgbClr val="F59E0B"/>
                </a:solidFill>
                <a:latin typeface="Calibri" pitchFamily="34" charset="0"/>
                <a:ea typeface="Calibri" pitchFamily="34" charset="-122"/>
                <a:cs typeface="Calibri" pitchFamily="34" charset="-120"/>
              </a:rPr>
              <a:t>6</a:t>
            </a:r>
            <a:endParaRPr lang="en-US" sz="4000" dirty="0"/>
          </a:p>
        </p:txBody>
      </p:sp>
      <p:sp>
        <p:nvSpPr>
          <p:cNvPr id="12" name="Text 10"/>
          <p:cNvSpPr/>
          <p:nvPr/>
        </p:nvSpPr>
        <p:spPr>
          <a:xfrm>
            <a:off x="4700016" y="1737360"/>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Centry</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sin datos en AnyMarket</a:t>
            </a:r>
            <a:endParaRPr lang="en-US" sz="1100" dirty="0"/>
          </a:p>
        </p:txBody>
      </p:sp>
      <p:sp>
        <p:nvSpPr>
          <p:cNvPr id="13" name="Shape 11"/>
          <p:cNvSpPr/>
          <p:nvPr/>
        </p:nvSpPr>
        <p:spPr>
          <a:xfrm>
            <a:off x="6729984" y="1078992"/>
            <a:ext cx="1938528" cy="1353312"/>
          </a:xfrm>
          <a:prstGeom prst="roundRect">
            <a:avLst>
              <a:gd name="adj" fmla="val 6757"/>
            </a:avLst>
          </a:prstGeom>
          <a:solidFill>
            <a:srgbClr val="F0FDF4"/>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4" name="Text 12"/>
          <p:cNvSpPr/>
          <p:nvPr/>
        </p:nvSpPr>
        <p:spPr>
          <a:xfrm>
            <a:off x="6821424" y="1115568"/>
            <a:ext cx="1755648" cy="658368"/>
          </a:xfrm>
          <a:prstGeom prst="rect">
            <a:avLst/>
          </a:prstGeom>
          <a:noFill/>
          <a:ln/>
        </p:spPr>
        <p:txBody>
          <a:bodyPr wrap="square" lIns="0" tIns="0" rIns="0" bIns="0" rtlCol="0" anchor="ctr"/>
          <a:lstStyle/>
          <a:p>
            <a:pPr algn="ctr" indent="0" marL="0">
              <a:buNone/>
            </a:pPr>
            <a:r>
              <a:rPr lang="en-US" sz="4000" b="1" dirty="0">
                <a:solidFill>
                  <a:srgbClr val="10B981"/>
                </a:solidFill>
                <a:latin typeface="Calibri" pitchFamily="34" charset="0"/>
                <a:ea typeface="Calibri" pitchFamily="34" charset="-122"/>
                <a:cs typeface="Calibri" pitchFamily="34" charset="-120"/>
              </a:rPr>
              <a:t>29</a:t>
            </a:r>
            <a:endParaRPr lang="en-US" sz="4000" dirty="0"/>
          </a:p>
        </p:txBody>
      </p:sp>
      <p:sp>
        <p:nvSpPr>
          <p:cNvPr id="15" name="Text 13"/>
          <p:cNvSpPr/>
          <p:nvPr/>
        </p:nvSpPr>
        <p:spPr>
          <a:xfrm>
            <a:off x="6821424" y="1737360"/>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activos</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en AnyMarket</a:t>
            </a:r>
            <a:endParaRPr lang="en-US" sz="1100" dirty="0"/>
          </a:p>
        </p:txBody>
      </p:sp>
      <p:sp>
        <p:nvSpPr>
          <p:cNvPr id="16" name="Shape 14"/>
          <p:cNvSpPr/>
          <p:nvPr/>
        </p:nvSpPr>
        <p:spPr>
          <a:xfrm>
            <a:off x="365760" y="2578608"/>
            <a:ext cx="3950208" cy="2423160"/>
          </a:xfrm>
          <a:prstGeom prst="roundRect">
            <a:avLst>
              <a:gd name="adj" fmla="val 3774"/>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7" name="Text 15"/>
          <p:cNvSpPr/>
          <p:nvPr/>
        </p:nvSpPr>
        <p:spPr>
          <a:xfrm>
            <a:off x="530352" y="2651760"/>
            <a:ext cx="3657600" cy="320040"/>
          </a:xfrm>
          <a:prstGeom prst="rect">
            <a:avLst/>
          </a:prstGeom>
          <a:noFill/>
          <a:ln/>
        </p:spPr>
        <p:txBody>
          <a:bodyPr wrap="square" lIns="0" tIns="0" rIns="0" bIns="0" rtlCol="0" anchor="ctr"/>
          <a:lstStyle/>
          <a:p>
            <a:pPr indent="0" marL="0">
              <a:buNone/>
            </a:pPr>
            <a:r>
              <a:rPr lang="en-US" sz="1300" b="1" dirty="0">
                <a:solidFill>
                  <a:srgbClr val="D4920F"/>
                </a:solidFill>
                <a:latin typeface="Calibri" pitchFamily="34" charset="0"/>
                <a:ea typeface="Calibri" pitchFamily="34" charset="-122"/>
                <a:cs typeface="Calibri" pitchFamily="34" charset="-120"/>
              </a:rPr>
              <a:t>Clientes Centry — sin datos AnyMarket</a:t>
            </a:r>
            <a:endParaRPr lang="en-US" sz="1300" dirty="0"/>
          </a:p>
        </p:txBody>
      </p:sp>
      <p:sp>
        <p:nvSpPr>
          <p:cNvPr id="18" name="Text 16"/>
          <p:cNvSpPr/>
          <p:nvPr/>
        </p:nvSpPr>
        <p:spPr>
          <a:xfrm>
            <a:off x="530352" y="2962656"/>
            <a:ext cx="3657600" cy="502920"/>
          </a:xfrm>
          <a:prstGeom prst="rect">
            <a:avLst/>
          </a:prstGeom>
          <a:noFill/>
          <a:ln/>
        </p:spPr>
        <p:txBody>
          <a:bodyPr wrap="square" lIns="0" tIns="0" rIns="0" bIns="0" rtlCol="0" anchor="ctr"/>
          <a:lstStyle/>
          <a:p>
            <a:pPr indent="0" marL="0">
              <a:buNone/>
            </a:pPr>
            <a:r>
              <a:rPr lang="en-US" sz="1200" dirty="0">
                <a:solidFill>
                  <a:srgbClr val="334E68"/>
                </a:solidFill>
                <a:latin typeface="Calibri" pitchFamily="34" charset="0"/>
                <a:ea typeface="Calibri" pitchFamily="34" charset="-122"/>
                <a:cs typeface="Calibri" pitchFamily="34" charset="-120"/>
              </a:rPr>
              <a:t>Aun en sistema legado. CS no puede medir adopcion,</a:t>
            </a:r>
            <a:endParaRPr lang="en-US" sz="1200" dirty="0"/>
          </a:p>
          <a:p>
            <a:pPr indent="0" marL="0">
              <a:buNone/>
            </a:pPr>
            <a:r>
              <a:rPr lang="en-US" sz="1200" dirty="0">
                <a:solidFill>
                  <a:srgbClr val="334E68"/>
                </a:solidFill>
                <a:latin typeface="Calibri" pitchFamily="34" charset="0"/>
                <a:ea typeface="Calibri" pitchFamily="34" charset="-122"/>
                <a:cs typeface="Calibri" pitchFamily="34" charset="-120"/>
              </a:rPr>
              <a:t>GMV ni Health Score para estos clientes.</a:t>
            </a:r>
            <a:endParaRPr lang="en-US" sz="1200" dirty="0"/>
          </a:p>
        </p:txBody>
      </p:sp>
      <p:sp>
        <p:nvSpPr>
          <p:cNvPr id="19" name="Text 17"/>
          <p:cNvSpPr/>
          <p:nvPr/>
        </p:nvSpPr>
        <p:spPr>
          <a:xfrm>
            <a:off x="548640" y="3511296"/>
            <a:ext cx="1783080" cy="320040"/>
          </a:xfrm>
          <a:prstGeom prst="rect">
            <a:avLst/>
          </a:prstGeom>
          <a:noFill/>
          <a:ln/>
        </p:spPr>
        <p:txBody>
          <a:bodyPr wrap="square" lIns="0" tIns="0" rIns="0" bIns="0" rtlCol="0" anchor="ctr"/>
          <a:lstStyle/>
          <a:p>
            <a:pPr indent="0" marL="0">
              <a:buNone/>
            </a:pPr>
            <a:r>
              <a:rPr lang="en-US" sz="1200" dirty="0">
                <a:solidFill>
                  <a:srgbClr val="0F2137"/>
                </a:solidFill>
                <a:latin typeface="Calibri" pitchFamily="34" charset="0"/>
                <a:ea typeface="Calibri" pitchFamily="34" charset="-122"/>
                <a:cs typeface="Calibri" pitchFamily="34" charset="-120"/>
              </a:rPr>
              <a:t>- FORUS SA (Chile)</a:t>
            </a:r>
            <a:endParaRPr lang="en-US" sz="1200" dirty="0"/>
          </a:p>
        </p:txBody>
      </p:sp>
      <p:sp>
        <p:nvSpPr>
          <p:cNvPr id="20" name="Text 18"/>
          <p:cNvSpPr/>
          <p:nvPr/>
        </p:nvSpPr>
        <p:spPr>
          <a:xfrm>
            <a:off x="2377440" y="3511296"/>
            <a:ext cx="1783080" cy="320040"/>
          </a:xfrm>
          <a:prstGeom prst="rect">
            <a:avLst/>
          </a:prstGeom>
          <a:noFill/>
          <a:ln/>
        </p:spPr>
        <p:txBody>
          <a:bodyPr wrap="square" lIns="0" tIns="0" rIns="0" bIns="0" rtlCol="0" anchor="ctr"/>
          <a:lstStyle/>
          <a:p>
            <a:pPr indent="0" marL="0">
              <a:buNone/>
            </a:pPr>
            <a:r>
              <a:rPr lang="en-US" sz="1200" dirty="0">
                <a:solidFill>
                  <a:srgbClr val="0F2137"/>
                </a:solidFill>
                <a:latin typeface="Calibri" pitchFamily="34" charset="0"/>
                <a:ea typeface="Calibri" pitchFamily="34" charset="-122"/>
                <a:cs typeface="Calibri" pitchFamily="34" charset="-120"/>
              </a:rPr>
              <a:t>- FORUS COLOMBIA</a:t>
            </a:r>
            <a:endParaRPr lang="en-US" sz="1200" dirty="0"/>
          </a:p>
        </p:txBody>
      </p:sp>
      <p:sp>
        <p:nvSpPr>
          <p:cNvPr id="21" name="Text 19"/>
          <p:cNvSpPr/>
          <p:nvPr/>
        </p:nvSpPr>
        <p:spPr>
          <a:xfrm>
            <a:off x="548640" y="3877056"/>
            <a:ext cx="1783080" cy="320040"/>
          </a:xfrm>
          <a:prstGeom prst="rect">
            <a:avLst/>
          </a:prstGeom>
          <a:noFill/>
          <a:ln/>
        </p:spPr>
        <p:txBody>
          <a:bodyPr wrap="square" lIns="0" tIns="0" rIns="0" bIns="0" rtlCol="0" anchor="ctr"/>
          <a:lstStyle/>
          <a:p>
            <a:pPr indent="0" marL="0">
              <a:buNone/>
            </a:pPr>
            <a:r>
              <a:rPr lang="en-US" sz="1200" dirty="0">
                <a:solidFill>
                  <a:srgbClr val="0F2137"/>
                </a:solidFill>
                <a:latin typeface="Calibri" pitchFamily="34" charset="0"/>
                <a:ea typeface="Calibri" pitchFamily="34" charset="-122"/>
                <a:cs typeface="Calibri" pitchFamily="34" charset="-120"/>
              </a:rPr>
              <a:t>- FORUS PERU</a:t>
            </a:r>
            <a:endParaRPr lang="en-US" sz="1200" dirty="0"/>
          </a:p>
        </p:txBody>
      </p:sp>
      <p:sp>
        <p:nvSpPr>
          <p:cNvPr id="22" name="Text 20"/>
          <p:cNvSpPr/>
          <p:nvPr/>
        </p:nvSpPr>
        <p:spPr>
          <a:xfrm>
            <a:off x="2377440" y="3877056"/>
            <a:ext cx="1783080" cy="320040"/>
          </a:xfrm>
          <a:prstGeom prst="rect">
            <a:avLst/>
          </a:prstGeom>
          <a:noFill/>
          <a:ln/>
        </p:spPr>
        <p:txBody>
          <a:bodyPr wrap="square" lIns="0" tIns="0" rIns="0" bIns="0" rtlCol="0" anchor="ctr"/>
          <a:lstStyle/>
          <a:p>
            <a:pPr indent="0" marL="0">
              <a:buNone/>
            </a:pPr>
            <a:r>
              <a:rPr lang="en-US" sz="1200" dirty="0">
                <a:solidFill>
                  <a:srgbClr val="0F2137"/>
                </a:solidFill>
                <a:latin typeface="Calibri" pitchFamily="34" charset="0"/>
                <a:ea typeface="Calibri" pitchFamily="34" charset="-122"/>
                <a:cs typeface="Calibri" pitchFamily="34" charset="-120"/>
              </a:rPr>
              <a:t>- GINO (Chile)</a:t>
            </a:r>
            <a:endParaRPr lang="en-US" sz="1200" dirty="0"/>
          </a:p>
        </p:txBody>
      </p:sp>
      <p:sp>
        <p:nvSpPr>
          <p:cNvPr id="23" name="Text 21"/>
          <p:cNvSpPr/>
          <p:nvPr/>
        </p:nvSpPr>
        <p:spPr>
          <a:xfrm>
            <a:off x="548640" y="4242816"/>
            <a:ext cx="1783080" cy="320040"/>
          </a:xfrm>
          <a:prstGeom prst="rect">
            <a:avLst/>
          </a:prstGeom>
          <a:noFill/>
          <a:ln/>
        </p:spPr>
        <p:txBody>
          <a:bodyPr wrap="square" lIns="0" tIns="0" rIns="0" bIns="0" rtlCol="0" anchor="ctr"/>
          <a:lstStyle/>
          <a:p>
            <a:pPr indent="0" marL="0">
              <a:buNone/>
            </a:pPr>
            <a:r>
              <a:rPr lang="en-US" sz="1200" dirty="0">
                <a:solidFill>
                  <a:srgbClr val="0F2137"/>
                </a:solidFill>
                <a:latin typeface="Calibri" pitchFamily="34" charset="0"/>
                <a:ea typeface="Calibri" pitchFamily="34" charset="-122"/>
                <a:cs typeface="Calibri" pitchFamily="34" charset="-120"/>
              </a:rPr>
              <a:t>- LOUNGE S/A (Chile)</a:t>
            </a:r>
            <a:endParaRPr lang="en-US" sz="1200" dirty="0"/>
          </a:p>
        </p:txBody>
      </p:sp>
      <p:sp>
        <p:nvSpPr>
          <p:cNvPr id="24" name="Text 22"/>
          <p:cNvSpPr/>
          <p:nvPr/>
        </p:nvSpPr>
        <p:spPr>
          <a:xfrm>
            <a:off x="2377440" y="4242816"/>
            <a:ext cx="1783080" cy="320040"/>
          </a:xfrm>
          <a:prstGeom prst="rect">
            <a:avLst/>
          </a:prstGeom>
          <a:noFill/>
          <a:ln/>
        </p:spPr>
        <p:txBody>
          <a:bodyPr wrap="square" lIns="0" tIns="0" rIns="0" bIns="0" rtlCol="0" anchor="ctr"/>
          <a:lstStyle/>
          <a:p>
            <a:pPr indent="0" marL="0">
              <a:buNone/>
            </a:pPr>
            <a:r>
              <a:rPr lang="en-US" sz="1200" dirty="0">
                <a:solidFill>
                  <a:srgbClr val="0F2137"/>
                </a:solidFill>
                <a:latin typeface="Calibri" pitchFamily="34" charset="0"/>
                <a:ea typeface="Calibri" pitchFamily="34" charset="-122"/>
                <a:cs typeface="Calibri" pitchFamily="34" charset="-120"/>
              </a:rPr>
              <a:t>- MAISA (Chile)</a:t>
            </a:r>
            <a:endParaRPr lang="en-US" sz="1200" dirty="0"/>
          </a:p>
        </p:txBody>
      </p:sp>
      <p:sp>
        <p:nvSpPr>
          <p:cNvPr id="25" name="Shape 23"/>
          <p:cNvSpPr/>
          <p:nvPr/>
        </p:nvSpPr>
        <p:spPr>
          <a:xfrm>
            <a:off x="4462272" y="2578608"/>
            <a:ext cx="4315968" cy="2423160"/>
          </a:xfrm>
          <a:prstGeom prst="roundRect">
            <a:avLst>
              <a:gd name="adj" fmla="val 3774"/>
            </a:avLst>
          </a:prstGeom>
          <a:solidFill>
            <a:srgbClr val="FEF2F2"/>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6" name="Text 24"/>
          <p:cNvSpPr/>
          <p:nvPr/>
        </p:nvSpPr>
        <p:spPr>
          <a:xfrm>
            <a:off x="4617720" y="2651760"/>
            <a:ext cx="402336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Clientes criticos confirmados</a:t>
            </a:r>
            <a:endParaRPr lang="en-US" sz="1300" dirty="0"/>
          </a:p>
        </p:txBody>
      </p:sp>
      <p:sp>
        <p:nvSpPr>
          <p:cNvPr id="27" name="Text 25"/>
          <p:cNvSpPr/>
          <p:nvPr/>
        </p:nvSpPr>
        <p:spPr>
          <a:xfrm>
            <a:off x="4617720" y="3054096"/>
            <a:ext cx="1920240" cy="32004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Cuenta A — Uruguay</a:t>
            </a:r>
            <a:endParaRPr lang="en-US" sz="1200" dirty="0"/>
          </a:p>
        </p:txBody>
      </p:sp>
      <p:sp>
        <p:nvSpPr>
          <p:cNvPr id="28" name="Text 26"/>
          <p:cNvSpPr/>
          <p:nvPr/>
        </p:nvSpPr>
        <p:spPr>
          <a:xfrm>
            <a:off x="6565392" y="3054096"/>
            <a:ext cx="2057400" cy="320040"/>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NPS -100  |  Fuente: TrackSale</a:t>
            </a:r>
            <a:endParaRPr lang="en-US" sz="1100" dirty="0"/>
          </a:p>
        </p:txBody>
      </p:sp>
      <p:sp>
        <p:nvSpPr>
          <p:cNvPr id="29" name="Text 27"/>
          <p:cNvSpPr/>
          <p:nvPr/>
        </p:nvSpPr>
        <p:spPr>
          <a:xfrm>
            <a:off x="4617720" y="3438144"/>
            <a:ext cx="1920240" cy="32004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Cuenta B — Chile</a:t>
            </a:r>
            <a:endParaRPr lang="en-US" sz="1200" dirty="0"/>
          </a:p>
        </p:txBody>
      </p:sp>
      <p:sp>
        <p:nvSpPr>
          <p:cNvPr id="30" name="Text 28"/>
          <p:cNvSpPr/>
          <p:nvPr/>
        </p:nvSpPr>
        <p:spPr>
          <a:xfrm>
            <a:off x="6565392" y="3438144"/>
            <a:ext cx="2057400" cy="320040"/>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NPS -100  |  Fuente: TrackSale</a:t>
            </a:r>
            <a:endParaRPr lang="en-US" sz="1100" dirty="0"/>
          </a:p>
        </p:txBody>
      </p:sp>
      <p:sp>
        <p:nvSpPr>
          <p:cNvPr id="31" name="Text 29"/>
          <p:cNvSpPr/>
          <p:nvPr/>
        </p:nvSpPr>
        <p:spPr>
          <a:xfrm>
            <a:off x="4617720" y="3822192"/>
            <a:ext cx="1920240" cy="32004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Cuenta C — Colombia</a:t>
            </a:r>
            <a:endParaRPr lang="en-US" sz="1200" dirty="0"/>
          </a:p>
        </p:txBody>
      </p:sp>
      <p:sp>
        <p:nvSpPr>
          <p:cNvPr id="32" name="Text 30"/>
          <p:cNvSpPr/>
          <p:nvPr/>
        </p:nvSpPr>
        <p:spPr>
          <a:xfrm>
            <a:off x="6565392" y="3822192"/>
            <a:ext cx="2057400" cy="320040"/>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Migracion bloqueada en marketplace</a:t>
            </a:r>
            <a:endParaRPr lang="en-US" sz="1100" dirty="0"/>
          </a:p>
        </p:txBody>
      </p:sp>
      <p:sp>
        <p:nvSpPr>
          <p:cNvPr id="33" name="Text 31"/>
          <p:cNvSpPr/>
          <p:nvPr/>
        </p:nvSpPr>
        <p:spPr>
          <a:xfrm>
            <a:off x="4617720" y="4206240"/>
            <a:ext cx="1920240" cy="320040"/>
          </a:xfrm>
          <a:prstGeom prst="rect">
            <a:avLst/>
          </a:prstGeom>
          <a:noFill/>
          <a:ln/>
        </p:spPr>
        <p:txBody>
          <a:bodyPr wrap="square" lIns="0" tIns="0" rIns="0" bIns="0" rtlCol="0" anchor="ctr"/>
          <a:lstStyle/>
          <a:p>
            <a:pPr indent="0" marL="0">
              <a:buNone/>
            </a:pPr>
            <a:r>
              <a:rPr lang="en-US" sz="1200" b="1" dirty="0">
                <a:solidFill>
                  <a:srgbClr val="7B93AA"/>
                </a:solidFill>
                <a:latin typeface="Calibri" pitchFamily="34" charset="0"/>
                <a:ea typeface="Calibri" pitchFamily="34" charset="-122"/>
                <a:cs typeface="Calibri" pitchFamily="34" charset="-120"/>
              </a:rPr>
              <a:t>Cuenta D — Mexico</a:t>
            </a:r>
            <a:endParaRPr lang="en-US" sz="1200" dirty="0"/>
          </a:p>
        </p:txBody>
      </p:sp>
      <p:sp>
        <p:nvSpPr>
          <p:cNvPr id="34" name="Text 32"/>
          <p:cNvSpPr/>
          <p:nvPr/>
        </p:nvSpPr>
        <p:spPr>
          <a:xfrm>
            <a:off x="6565392" y="4206240"/>
            <a:ext cx="2057400" cy="320040"/>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Sin actividad en AnyMarket</a:t>
            </a:r>
            <a:endParaRPr lang="en-US" sz="1100" dirty="0"/>
          </a:p>
        </p:txBody>
      </p:sp>
      <p:sp>
        <p:nvSpPr>
          <p:cNvPr id="35" name="Text 33"/>
          <p:cNvSpPr/>
          <p:nvPr/>
        </p:nvSpPr>
        <p:spPr>
          <a:xfrm>
            <a:off x="4617720" y="4590288"/>
            <a:ext cx="1920240" cy="320040"/>
          </a:xfrm>
          <a:prstGeom prst="rect">
            <a:avLst/>
          </a:prstGeom>
          <a:noFill/>
          <a:ln/>
        </p:spPr>
        <p:txBody>
          <a:bodyPr wrap="square" lIns="0" tIns="0" rIns="0" bIns="0" rtlCol="0" anchor="ctr"/>
          <a:lstStyle/>
          <a:p>
            <a:pPr indent="0" marL="0">
              <a:buNone/>
            </a:pPr>
            <a:r>
              <a:rPr lang="en-US" sz="1200" b="1" dirty="0">
                <a:solidFill>
                  <a:srgbClr val="7B93AA"/>
                </a:solidFill>
                <a:latin typeface="Calibri" pitchFamily="34" charset="0"/>
                <a:ea typeface="Calibri" pitchFamily="34" charset="-122"/>
                <a:cs typeface="Calibri" pitchFamily="34" charset="-120"/>
              </a:rPr>
              <a:t>Cuenta E — Global</a:t>
            </a:r>
            <a:endParaRPr lang="en-US" sz="1200" dirty="0"/>
          </a:p>
        </p:txBody>
      </p:sp>
      <p:sp>
        <p:nvSpPr>
          <p:cNvPr id="36" name="Text 34"/>
          <p:cNvSpPr/>
          <p:nvPr/>
        </p:nvSpPr>
        <p:spPr>
          <a:xfrm>
            <a:off x="6565392" y="4590288"/>
            <a:ext cx="2057400" cy="320040"/>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Sin actividad en AnyMarket</a:t>
            </a:r>
            <a:endParaRPr lang="en-US" sz="1100" dirty="0"/>
          </a:p>
        </p:txBody>
      </p:sp>
      <p:sp>
        <p:nvSpPr>
          <p:cNvPr id="37" name="Text 35"/>
          <p:cNvSpPr/>
          <p:nvPr/>
        </p:nvSpPr>
        <p:spPr>
          <a:xfrm>
            <a:off x="457200" y="4846320"/>
            <a:ext cx="8229600" cy="228600"/>
          </a:xfrm>
          <a:prstGeom prst="rect">
            <a:avLst/>
          </a:prstGeom>
          <a:noFill/>
          <a:ln/>
        </p:spPr>
        <p:txBody>
          <a:bodyPr wrap="square" lIns="0" tIns="0" rIns="0" bIns="0" rtlCol="0" anchor="ctr"/>
          <a:lstStyle/>
          <a:p>
            <a:pPr indent="0" marL="0">
              <a:buNone/>
            </a:pPr>
            <a:r>
              <a:rPr lang="en-US" sz="900" i="1" dirty="0">
                <a:solidFill>
                  <a:srgbClr val="7B93AA"/>
                </a:solidFill>
                <a:latin typeface="Calibri" pitchFamily="34" charset="0"/>
                <a:ea typeface="Calibri" pitchFamily="34" charset="-122"/>
                <a:cs typeface="Calibri" pitchFamily="34" charset="-120"/>
              </a:rPr>
              <a:t>Fuentes: CLAUDE.md (portafolio), TrackSale (NPS), Power BI (actividad plataforma). Datos de julio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ADOPCION USE POINTS — DATOS REALES</a:t>
            </a:r>
            <a:endParaRPr lang="en-US" sz="1000" dirty="0"/>
          </a:p>
        </p:txBody>
      </p:sp>
      <p:sp>
        <p:nvSpPr>
          <p:cNvPr id="3" name="Text 1"/>
          <p:cNvSpPr/>
          <p:nvPr/>
        </p:nvSpPr>
        <p:spPr>
          <a:xfrm>
            <a:off x="457200" y="411480"/>
            <a:ext cx="8229600" cy="530352"/>
          </a:xfrm>
          <a:prstGeom prst="rect">
            <a:avLst/>
          </a:prstGeom>
          <a:noFill/>
          <a:ln/>
        </p:spPr>
        <p:txBody>
          <a:bodyPr wrap="square" lIns="0" tIns="0" rIns="0" bIns="0" rtlCol="0" anchor="ctr"/>
          <a:lstStyle/>
          <a:p>
            <a:pPr indent="0" marL="0">
              <a:buNone/>
            </a:pPr>
            <a:r>
              <a:rPr lang="en-US" sz="2800" b="1" dirty="0">
                <a:solidFill>
                  <a:srgbClr val="0F2137"/>
                </a:solidFill>
                <a:latin typeface="Calibri" pitchFamily="34" charset="0"/>
                <a:ea typeface="Calibri" pitchFamily="34" charset="-122"/>
                <a:cs typeface="Calibri" pitchFamily="34" charset="-120"/>
              </a:rPr>
              <a:t>Snapshot Power BI — julio 2026</a:t>
            </a:r>
            <a:endParaRPr lang="en-US" sz="2800" dirty="0"/>
          </a:p>
        </p:txBody>
      </p:sp>
      <p:sp>
        <p:nvSpPr>
          <p:cNvPr id="4" name="Shape 2"/>
          <p:cNvSpPr/>
          <p:nvPr/>
        </p:nvSpPr>
        <p:spPr>
          <a:xfrm>
            <a:off x="365760" y="1051560"/>
            <a:ext cx="1938528" cy="1261872"/>
          </a:xfrm>
          <a:prstGeom prst="roundRect">
            <a:avLst>
              <a:gd name="adj" fmla="val 7246"/>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5" name="Text 3"/>
          <p:cNvSpPr/>
          <p:nvPr/>
        </p:nvSpPr>
        <p:spPr>
          <a:xfrm>
            <a:off x="457200" y="1078992"/>
            <a:ext cx="1755648" cy="621792"/>
          </a:xfrm>
          <a:prstGeom prst="rect">
            <a:avLst/>
          </a:prstGeom>
          <a:noFill/>
          <a:ln/>
        </p:spPr>
        <p:txBody>
          <a:bodyPr wrap="square" lIns="0" tIns="0" rIns="0" bIns="0" rtlCol="0" anchor="ctr"/>
          <a:lstStyle/>
          <a:p>
            <a:pPr algn="ctr" indent="0" marL="0">
              <a:buNone/>
            </a:pPr>
            <a:r>
              <a:rPr lang="en-US" sz="3800" b="1" dirty="0">
                <a:solidFill>
                  <a:srgbClr val="F59E0B"/>
                </a:solidFill>
                <a:latin typeface="Calibri" pitchFamily="34" charset="0"/>
                <a:ea typeface="Calibri" pitchFamily="34" charset="-122"/>
                <a:cs typeface="Calibri" pitchFamily="34" charset="-120"/>
              </a:rPr>
              <a:t>34%</a:t>
            </a:r>
            <a:endParaRPr lang="en-US" sz="3800" dirty="0"/>
          </a:p>
        </p:txBody>
      </p:sp>
      <p:sp>
        <p:nvSpPr>
          <p:cNvPr id="6" name="Text 4"/>
          <p:cNvSpPr/>
          <p:nvPr/>
        </p:nvSpPr>
        <p:spPr>
          <a:xfrm>
            <a:off x="457200" y="1664208"/>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Promedio cartera activa</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(29 clientes con datos)</a:t>
            </a:r>
            <a:endParaRPr lang="en-US" sz="1100" dirty="0"/>
          </a:p>
        </p:txBody>
      </p:sp>
      <p:sp>
        <p:nvSpPr>
          <p:cNvPr id="7" name="Shape 5"/>
          <p:cNvSpPr/>
          <p:nvPr/>
        </p:nvSpPr>
        <p:spPr>
          <a:xfrm>
            <a:off x="2487168" y="1051560"/>
            <a:ext cx="1938528" cy="1261872"/>
          </a:xfrm>
          <a:prstGeom prst="roundRect">
            <a:avLst>
              <a:gd name="adj" fmla="val 7246"/>
            </a:avLst>
          </a:prstGeom>
          <a:solidFill>
            <a:srgbClr val="FEF2F2"/>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8" name="Text 6"/>
          <p:cNvSpPr/>
          <p:nvPr/>
        </p:nvSpPr>
        <p:spPr>
          <a:xfrm>
            <a:off x="2578608" y="1078992"/>
            <a:ext cx="1755648" cy="621792"/>
          </a:xfrm>
          <a:prstGeom prst="rect">
            <a:avLst/>
          </a:prstGeom>
          <a:noFill/>
          <a:ln/>
        </p:spPr>
        <p:txBody>
          <a:bodyPr wrap="square" lIns="0" tIns="0" rIns="0" bIns="0" rtlCol="0" anchor="ctr"/>
          <a:lstStyle/>
          <a:p>
            <a:pPr algn="ctr" indent="0" marL="0">
              <a:buNone/>
            </a:pPr>
            <a:r>
              <a:rPr lang="en-US" sz="3800" b="1" dirty="0">
                <a:solidFill>
                  <a:srgbClr val="EF4444"/>
                </a:solidFill>
                <a:latin typeface="Calibri" pitchFamily="34" charset="0"/>
                <a:ea typeface="Calibri" pitchFamily="34" charset="-122"/>
                <a:cs typeface="Calibri" pitchFamily="34" charset="-120"/>
              </a:rPr>
              <a:t>0</a:t>
            </a:r>
            <a:endParaRPr lang="en-US" sz="3800" dirty="0"/>
          </a:p>
        </p:txBody>
      </p:sp>
      <p:sp>
        <p:nvSpPr>
          <p:cNvPr id="9" name="Text 7"/>
          <p:cNvSpPr/>
          <p:nvPr/>
        </p:nvSpPr>
        <p:spPr>
          <a:xfrm>
            <a:off x="2578608" y="1664208"/>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en nivel ALTO</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&gt;70% UP consumidos</a:t>
            </a:r>
            <a:endParaRPr lang="en-US" sz="1100" dirty="0"/>
          </a:p>
        </p:txBody>
      </p:sp>
      <p:sp>
        <p:nvSpPr>
          <p:cNvPr id="10" name="Shape 8"/>
          <p:cNvSpPr/>
          <p:nvPr/>
        </p:nvSpPr>
        <p:spPr>
          <a:xfrm>
            <a:off x="4608576" y="1051560"/>
            <a:ext cx="1938528" cy="1261872"/>
          </a:xfrm>
          <a:prstGeom prst="roundRect">
            <a:avLst>
              <a:gd name="adj" fmla="val 7246"/>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1" name="Text 9"/>
          <p:cNvSpPr/>
          <p:nvPr/>
        </p:nvSpPr>
        <p:spPr>
          <a:xfrm>
            <a:off x="4700016" y="1078992"/>
            <a:ext cx="1755648" cy="621792"/>
          </a:xfrm>
          <a:prstGeom prst="rect">
            <a:avLst/>
          </a:prstGeom>
          <a:noFill/>
          <a:ln/>
        </p:spPr>
        <p:txBody>
          <a:bodyPr wrap="square" lIns="0" tIns="0" rIns="0" bIns="0" rtlCol="0" anchor="ctr"/>
          <a:lstStyle/>
          <a:p>
            <a:pPr algn="ctr" indent="0" marL="0">
              <a:buNone/>
            </a:pPr>
            <a:r>
              <a:rPr lang="en-US" sz="3800" b="1" dirty="0">
                <a:solidFill>
                  <a:srgbClr val="F59E0B"/>
                </a:solidFill>
                <a:latin typeface="Calibri" pitchFamily="34" charset="0"/>
                <a:ea typeface="Calibri" pitchFamily="34" charset="-122"/>
                <a:cs typeface="Calibri" pitchFamily="34" charset="-120"/>
              </a:rPr>
              <a:t>4</a:t>
            </a:r>
            <a:endParaRPr lang="en-US" sz="3800" dirty="0"/>
          </a:p>
        </p:txBody>
      </p:sp>
      <p:sp>
        <p:nvSpPr>
          <p:cNvPr id="12" name="Text 10"/>
          <p:cNvSpPr/>
          <p:nvPr/>
        </p:nvSpPr>
        <p:spPr>
          <a:xfrm>
            <a:off x="4700016" y="1664208"/>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nivel MEDIO</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40-70% UP consumidos</a:t>
            </a:r>
            <a:endParaRPr lang="en-US" sz="1100" dirty="0"/>
          </a:p>
        </p:txBody>
      </p:sp>
      <p:sp>
        <p:nvSpPr>
          <p:cNvPr id="13" name="Shape 11"/>
          <p:cNvSpPr/>
          <p:nvPr/>
        </p:nvSpPr>
        <p:spPr>
          <a:xfrm>
            <a:off x="6729984" y="1051560"/>
            <a:ext cx="1938528" cy="1261872"/>
          </a:xfrm>
          <a:prstGeom prst="roundRect">
            <a:avLst>
              <a:gd name="adj" fmla="val 7246"/>
            </a:avLst>
          </a:prstGeom>
          <a:solidFill>
            <a:srgbClr val="FEF2F2"/>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4" name="Text 12"/>
          <p:cNvSpPr/>
          <p:nvPr/>
        </p:nvSpPr>
        <p:spPr>
          <a:xfrm>
            <a:off x="6821424" y="1078992"/>
            <a:ext cx="1755648" cy="621792"/>
          </a:xfrm>
          <a:prstGeom prst="rect">
            <a:avLst/>
          </a:prstGeom>
          <a:noFill/>
          <a:ln/>
        </p:spPr>
        <p:txBody>
          <a:bodyPr wrap="square" lIns="0" tIns="0" rIns="0" bIns="0" rtlCol="0" anchor="ctr"/>
          <a:lstStyle/>
          <a:p>
            <a:pPr algn="ctr" indent="0" marL="0">
              <a:buNone/>
            </a:pPr>
            <a:r>
              <a:rPr lang="en-US" sz="3800" b="1" dirty="0">
                <a:solidFill>
                  <a:srgbClr val="EF4444"/>
                </a:solidFill>
                <a:latin typeface="Calibri" pitchFamily="34" charset="0"/>
                <a:ea typeface="Calibri" pitchFamily="34" charset="-122"/>
                <a:cs typeface="Calibri" pitchFamily="34" charset="-120"/>
              </a:rPr>
              <a:t>3</a:t>
            </a:r>
            <a:endParaRPr lang="en-US" sz="3800" dirty="0"/>
          </a:p>
        </p:txBody>
      </p:sp>
      <p:sp>
        <p:nvSpPr>
          <p:cNvPr id="15" name="Text 13"/>
          <p:cNvSpPr/>
          <p:nvPr/>
        </p:nvSpPr>
        <p:spPr>
          <a:xfrm>
            <a:off x="6821424" y="1664208"/>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nivel CRITICO</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&lt;15% UP consumidos</a:t>
            </a:r>
            <a:endParaRPr lang="en-US" sz="1100" dirty="0"/>
          </a:p>
        </p:txBody>
      </p:sp>
      <p:graphicFrame>
        <p:nvGraphicFramePr>
          <p:cNvPr id="16" name="Chart 0" descr=""/>
          <p:cNvGraphicFramePr/>
          <p:nvPr/>
        </p:nvGraphicFramePr>
        <p:xfrm>
          <a:off x="320040" y="2423160"/>
          <a:ext cx="8503920" cy="242316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365760" y="4846320"/>
            <a:ext cx="8412480" cy="256032"/>
          </a:xfrm>
          <a:prstGeom prst="rect">
            <a:avLst/>
          </a:prstGeom>
          <a:noFill/>
          <a:ln/>
        </p:spPr>
        <p:txBody>
          <a:bodyPr wrap="square" lIns="0" tIns="0" rIns="0" bIns="0" rtlCol="0" anchor="ctr"/>
          <a:lstStyle/>
          <a:p>
            <a:pPr indent="0" marL="0">
              <a:buNone/>
            </a:pPr>
            <a:r>
              <a:rPr lang="en-US" sz="900" i="1" dirty="0">
                <a:solidFill>
                  <a:srgbClr val="7B93AA"/>
                </a:solidFill>
                <a:latin typeface="Calibri" pitchFamily="34" charset="0"/>
                <a:ea typeface="Calibri" pitchFamily="34" charset="-122"/>
                <a:cs typeface="Calibri" pitchFamily="34" charset="-120"/>
              </a:rPr>
              <a:t>Verde = MEDIO (&gt;40%)  |  Naranja = BAJO (15-40%)  |  Rojo = CRITICO (&lt;20%)  |  Clientes Centry y LACOSTE / TRAMONTINA MX / WHIRLPOOL excluidos (sin datos confirmados)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457200" y="201168"/>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BRECHAS DE INFORMACION</a:t>
            </a:r>
            <a:endParaRPr lang="en-US" sz="1000" dirty="0"/>
          </a:p>
        </p:txBody>
      </p:sp>
      <p:sp>
        <p:nvSpPr>
          <p:cNvPr id="5" name="Text 3"/>
          <p:cNvSpPr/>
          <p:nvPr/>
        </p:nvSpPr>
        <p:spPr>
          <a:xfrm>
            <a:off x="457200" y="457200"/>
            <a:ext cx="822960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Lo que el equipo no puede medir hoy</a:t>
            </a:r>
            <a:endParaRPr lang="en-US" sz="2800" dirty="0"/>
          </a:p>
        </p:txBody>
      </p:sp>
      <p:sp>
        <p:nvSpPr>
          <p:cNvPr id="6" name="Shape 4"/>
          <p:cNvSpPr/>
          <p:nvPr/>
        </p:nvSpPr>
        <p:spPr>
          <a:xfrm>
            <a:off x="365760" y="1261872"/>
            <a:ext cx="8412480" cy="777240"/>
          </a:xfrm>
          <a:prstGeom prst="roundRect">
            <a:avLst>
              <a:gd name="adj" fmla="val 11765"/>
            </a:avLst>
          </a:prstGeom>
          <a:solidFill>
            <a:srgbClr val="162840"/>
          </a:solidFill>
          <a:ln w="12700">
            <a:solidFill>
              <a:srgbClr val="EF4444"/>
            </a:solidFill>
            <a:prstDash val="solid"/>
          </a:ln>
        </p:spPr>
      </p:sp>
      <p:sp>
        <p:nvSpPr>
          <p:cNvPr id="7" name="Shape 5"/>
          <p:cNvSpPr/>
          <p:nvPr/>
        </p:nvSpPr>
        <p:spPr>
          <a:xfrm>
            <a:off x="365760" y="1261872"/>
            <a:ext cx="411480" cy="777240"/>
          </a:xfrm>
          <a:prstGeom prst="roundRect">
            <a:avLst>
              <a:gd name="adj" fmla="val 17778"/>
            </a:avLst>
          </a:prstGeom>
          <a:solidFill>
            <a:srgbClr val="EF4444"/>
          </a:solidFill>
          <a:ln w="12700">
            <a:solidFill>
              <a:srgbClr val="EF4444"/>
            </a:solidFill>
            <a:prstDash val="solid"/>
          </a:ln>
        </p:spPr>
      </p:sp>
      <p:sp>
        <p:nvSpPr>
          <p:cNvPr id="8" name="Text 6"/>
          <p:cNvSpPr/>
          <p:nvPr/>
        </p:nvSpPr>
        <p:spPr>
          <a:xfrm>
            <a:off x="896112" y="1316736"/>
            <a:ext cx="29260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GMV por cliente</a:t>
            </a:r>
            <a:endParaRPr lang="en-US" sz="1300" dirty="0"/>
          </a:p>
        </p:txBody>
      </p:sp>
      <p:sp>
        <p:nvSpPr>
          <p:cNvPr id="9" name="Text 7"/>
          <p:cNvSpPr/>
          <p:nvPr/>
        </p:nvSpPr>
        <p:spPr>
          <a:xfrm>
            <a:off x="896112" y="1591056"/>
            <a:ext cx="2926080" cy="256032"/>
          </a:xfrm>
          <a:prstGeom prst="rect">
            <a:avLst/>
          </a:prstGeom>
          <a:noFill/>
          <a:ln/>
        </p:spPr>
        <p:txBody>
          <a:bodyPr wrap="square" lIns="0" tIns="0" rIns="0" bIns="0" rtlCol="0" anchor="ctr"/>
          <a:lstStyle/>
          <a:p>
            <a:pPr indent="0" marL="0">
              <a:buNone/>
            </a:pPr>
            <a:r>
              <a:rPr lang="en-US" sz="1100" dirty="0">
                <a:solidFill>
                  <a:srgbClr val="7B93AA"/>
                </a:solidFill>
                <a:latin typeface="Calibri" pitchFamily="34" charset="0"/>
                <a:ea typeface="Calibri" pitchFamily="34" charset="-122"/>
                <a:cs typeface="Calibri" pitchFamily="34" charset="-120"/>
              </a:rPr>
              <a:t>Sin consultar esta semana</a:t>
            </a:r>
            <a:endParaRPr lang="en-US" sz="1100" dirty="0"/>
          </a:p>
        </p:txBody>
      </p:sp>
      <p:sp>
        <p:nvSpPr>
          <p:cNvPr id="10" name="Text 8"/>
          <p:cNvSpPr/>
          <p:nvPr/>
        </p:nvSpPr>
        <p:spPr>
          <a:xfrm>
            <a:off x="3931920" y="1353312"/>
            <a:ext cx="3749040" cy="384048"/>
          </a:xfrm>
          <a:prstGeom prst="rect">
            <a:avLst/>
          </a:prstGeom>
          <a:noFill/>
          <a:ln/>
        </p:spPr>
        <p:txBody>
          <a:bodyPr wrap="square" lIns="0" tIns="0" rIns="0" bIns="0" rtlCol="0" anchor="ctr"/>
          <a:lstStyle/>
          <a:p>
            <a:pPr indent="0" marL="0">
              <a:buNone/>
            </a:pPr>
            <a:r>
              <a:rPr lang="en-US" sz="1150" dirty="0">
                <a:solidFill>
                  <a:srgbClr val="7B93AA"/>
                </a:solidFill>
                <a:latin typeface="Calibri" pitchFamily="34" charset="0"/>
                <a:ea typeface="Calibri" pitchFamily="34" charset="-122"/>
                <a:cs typeface="Calibri" pitchFamily="34" charset="-120"/>
              </a:rPr>
              <a:t>Impacto: No se puede calcular Health Score confiable para ningun cliente</a:t>
            </a:r>
            <a:endParaRPr lang="en-US" sz="1150" dirty="0"/>
          </a:p>
        </p:txBody>
      </p:sp>
      <p:sp>
        <p:nvSpPr>
          <p:cNvPr id="11" name="Text 9"/>
          <p:cNvSpPr/>
          <p:nvPr/>
        </p:nvSpPr>
        <p:spPr>
          <a:xfrm>
            <a:off x="3931920" y="1764792"/>
            <a:ext cx="3657600" cy="219456"/>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Fuente: Power BI GMV</a:t>
            </a:r>
            <a:endParaRPr lang="en-US" sz="1000" dirty="0"/>
          </a:p>
        </p:txBody>
      </p:sp>
      <p:sp>
        <p:nvSpPr>
          <p:cNvPr id="12" name="Text 10"/>
          <p:cNvSpPr/>
          <p:nvPr/>
        </p:nvSpPr>
        <p:spPr>
          <a:xfrm>
            <a:off x="7772400" y="1490472"/>
            <a:ext cx="822960" cy="274320"/>
          </a:xfrm>
          <a:prstGeom prst="rect">
            <a:avLst/>
          </a:prstGeom>
          <a:noFill/>
          <a:ln/>
        </p:spPr>
        <p:txBody>
          <a:bodyPr wrap="square" lIns="0" tIns="0" rIns="0" bIns="0" rtlCol="0" anchor="ctr"/>
          <a:lstStyle/>
          <a:p>
            <a:pPr algn="ctr" indent="0" marL="0">
              <a:buNone/>
            </a:pPr>
            <a:r>
              <a:rPr lang="en-US" sz="1300" b="1" dirty="0">
                <a:solidFill>
                  <a:srgbClr val="EF4444"/>
                </a:solidFill>
                <a:latin typeface="Calibri" pitchFamily="34" charset="0"/>
                <a:ea typeface="Calibri" pitchFamily="34" charset="-122"/>
                <a:cs typeface="Calibri" pitchFamily="34" charset="-120"/>
              </a:rPr>
              <a:t>null</a:t>
            </a:r>
            <a:endParaRPr lang="en-US" sz="1300" dirty="0"/>
          </a:p>
        </p:txBody>
      </p:sp>
      <p:sp>
        <p:nvSpPr>
          <p:cNvPr id="13" name="Shape 11"/>
          <p:cNvSpPr/>
          <p:nvPr/>
        </p:nvSpPr>
        <p:spPr>
          <a:xfrm>
            <a:off x="365760" y="2157984"/>
            <a:ext cx="8412480" cy="777240"/>
          </a:xfrm>
          <a:prstGeom prst="roundRect">
            <a:avLst>
              <a:gd name="adj" fmla="val 11765"/>
            </a:avLst>
          </a:prstGeom>
          <a:solidFill>
            <a:srgbClr val="162840"/>
          </a:solidFill>
          <a:ln w="12700">
            <a:solidFill>
              <a:srgbClr val="EF4444"/>
            </a:solidFill>
            <a:prstDash val="solid"/>
          </a:ln>
        </p:spPr>
      </p:sp>
      <p:sp>
        <p:nvSpPr>
          <p:cNvPr id="14" name="Shape 12"/>
          <p:cNvSpPr/>
          <p:nvPr/>
        </p:nvSpPr>
        <p:spPr>
          <a:xfrm>
            <a:off x="365760" y="2157984"/>
            <a:ext cx="411480" cy="777240"/>
          </a:xfrm>
          <a:prstGeom prst="roundRect">
            <a:avLst>
              <a:gd name="adj" fmla="val 17778"/>
            </a:avLst>
          </a:prstGeom>
          <a:solidFill>
            <a:srgbClr val="EF4444"/>
          </a:solidFill>
          <a:ln w="12700">
            <a:solidFill>
              <a:srgbClr val="EF4444"/>
            </a:solidFill>
            <a:prstDash val="solid"/>
          </a:ln>
        </p:spPr>
      </p:sp>
      <p:sp>
        <p:nvSpPr>
          <p:cNvPr id="15" name="Text 13"/>
          <p:cNvSpPr/>
          <p:nvPr/>
        </p:nvSpPr>
        <p:spPr>
          <a:xfrm>
            <a:off x="896112" y="2212848"/>
            <a:ext cx="29260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NPS — 33 de 35 clientes</a:t>
            </a:r>
            <a:endParaRPr lang="en-US" sz="1300" dirty="0"/>
          </a:p>
        </p:txBody>
      </p:sp>
      <p:sp>
        <p:nvSpPr>
          <p:cNvPr id="16" name="Text 14"/>
          <p:cNvSpPr/>
          <p:nvPr/>
        </p:nvSpPr>
        <p:spPr>
          <a:xfrm>
            <a:off x="896112" y="2487168"/>
            <a:ext cx="2926080" cy="256032"/>
          </a:xfrm>
          <a:prstGeom prst="rect">
            <a:avLst/>
          </a:prstGeom>
          <a:noFill/>
          <a:ln/>
        </p:spPr>
        <p:txBody>
          <a:bodyPr wrap="square" lIns="0" tIns="0" rIns="0" bIns="0" rtlCol="0" anchor="ctr"/>
          <a:lstStyle/>
          <a:p>
            <a:pPr indent="0" marL="0">
              <a:buNone/>
            </a:pPr>
            <a:r>
              <a:rPr lang="en-US" sz="1100" dirty="0">
                <a:solidFill>
                  <a:srgbClr val="7B93AA"/>
                </a:solidFill>
                <a:latin typeface="Calibri" pitchFamily="34" charset="0"/>
                <a:ea typeface="Calibri" pitchFamily="34" charset="-122"/>
                <a:cs typeface="Calibri" pitchFamily="34" charset="-120"/>
              </a:rPr>
              <a:t>Solo 2 confirmados (BOTIGA -100, FORUS SA -100)</a:t>
            </a:r>
            <a:endParaRPr lang="en-US" sz="1100" dirty="0"/>
          </a:p>
        </p:txBody>
      </p:sp>
      <p:sp>
        <p:nvSpPr>
          <p:cNvPr id="17" name="Text 15"/>
          <p:cNvSpPr/>
          <p:nvPr/>
        </p:nvSpPr>
        <p:spPr>
          <a:xfrm>
            <a:off x="3931920" y="2249424"/>
            <a:ext cx="3749040" cy="384048"/>
          </a:xfrm>
          <a:prstGeom prst="rect">
            <a:avLst/>
          </a:prstGeom>
          <a:noFill/>
          <a:ln/>
        </p:spPr>
        <p:txBody>
          <a:bodyPr wrap="square" lIns="0" tIns="0" rIns="0" bIns="0" rtlCol="0" anchor="ctr"/>
          <a:lstStyle/>
          <a:p>
            <a:pPr indent="0" marL="0">
              <a:buNone/>
            </a:pPr>
            <a:r>
              <a:rPr lang="en-US" sz="1150" dirty="0">
                <a:solidFill>
                  <a:srgbClr val="7B93AA"/>
                </a:solidFill>
                <a:latin typeface="Calibri" pitchFamily="34" charset="0"/>
                <a:ea typeface="Calibri" pitchFamily="34" charset="-122"/>
                <a:cs typeface="Calibri" pitchFamily="34" charset="-120"/>
              </a:rPr>
              <a:t>Impacto: Sin NPS real no se puede detectar riesgo de churn de forma sistematica</a:t>
            </a:r>
            <a:endParaRPr lang="en-US" sz="1150" dirty="0"/>
          </a:p>
        </p:txBody>
      </p:sp>
      <p:sp>
        <p:nvSpPr>
          <p:cNvPr id="18" name="Text 16"/>
          <p:cNvSpPr/>
          <p:nvPr/>
        </p:nvSpPr>
        <p:spPr>
          <a:xfrm>
            <a:off x="3931920" y="2660904"/>
            <a:ext cx="3657600" cy="219456"/>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Fuente: TrackSale</a:t>
            </a:r>
            <a:endParaRPr lang="en-US" sz="1000" dirty="0"/>
          </a:p>
        </p:txBody>
      </p:sp>
      <p:sp>
        <p:nvSpPr>
          <p:cNvPr id="19" name="Text 17"/>
          <p:cNvSpPr/>
          <p:nvPr/>
        </p:nvSpPr>
        <p:spPr>
          <a:xfrm>
            <a:off x="7772400" y="2386584"/>
            <a:ext cx="822960" cy="274320"/>
          </a:xfrm>
          <a:prstGeom prst="rect">
            <a:avLst/>
          </a:prstGeom>
          <a:noFill/>
          <a:ln/>
        </p:spPr>
        <p:txBody>
          <a:bodyPr wrap="square" lIns="0" tIns="0" rIns="0" bIns="0" rtlCol="0" anchor="ctr"/>
          <a:lstStyle/>
          <a:p>
            <a:pPr algn="ctr" indent="0" marL="0">
              <a:buNone/>
            </a:pPr>
            <a:r>
              <a:rPr lang="en-US" sz="1300" b="1" dirty="0">
                <a:solidFill>
                  <a:srgbClr val="EF4444"/>
                </a:solidFill>
                <a:latin typeface="Calibri" pitchFamily="34" charset="0"/>
                <a:ea typeface="Calibri" pitchFamily="34" charset="-122"/>
                <a:cs typeface="Calibri" pitchFamily="34" charset="-120"/>
              </a:rPr>
              <a:t>null</a:t>
            </a:r>
            <a:endParaRPr lang="en-US" sz="1300" dirty="0"/>
          </a:p>
        </p:txBody>
      </p:sp>
      <p:sp>
        <p:nvSpPr>
          <p:cNvPr id="20" name="Shape 18"/>
          <p:cNvSpPr/>
          <p:nvPr/>
        </p:nvSpPr>
        <p:spPr>
          <a:xfrm>
            <a:off x="365760" y="3054096"/>
            <a:ext cx="8412480" cy="777240"/>
          </a:xfrm>
          <a:prstGeom prst="roundRect">
            <a:avLst>
              <a:gd name="adj" fmla="val 11765"/>
            </a:avLst>
          </a:prstGeom>
          <a:solidFill>
            <a:srgbClr val="162840"/>
          </a:solidFill>
          <a:ln w="12700">
            <a:solidFill>
              <a:srgbClr val="F59E0B"/>
            </a:solidFill>
            <a:prstDash val="solid"/>
          </a:ln>
        </p:spPr>
      </p:sp>
      <p:sp>
        <p:nvSpPr>
          <p:cNvPr id="21" name="Shape 19"/>
          <p:cNvSpPr/>
          <p:nvPr/>
        </p:nvSpPr>
        <p:spPr>
          <a:xfrm>
            <a:off x="365760" y="3054096"/>
            <a:ext cx="411480" cy="777240"/>
          </a:xfrm>
          <a:prstGeom prst="roundRect">
            <a:avLst>
              <a:gd name="adj" fmla="val 17778"/>
            </a:avLst>
          </a:prstGeom>
          <a:solidFill>
            <a:srgbClr val="F59E0B"/>
          </a:solidFill>
          <a:ln w="12700">
            <a:solidFill>
              <a:srgbClr val="F59E0B"/>
            </a:solidFill>
            <a:prstDash val="solid"/>
          </a:ln>
        </p:spPr>
      </p:sp>
      <p:sp>
        <p:nvSpPr>
          <p:cNvPr id="22" name="Text 20"/>
          <p:cNvSpPr/>
          <p:nvPr/>
        </p:nvSpPr>
        <p:spPr>
          <a:xfrm>
            <a:off x="896112" y="3108960"/>
            <a:ext cx="29260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Ultimo contacto — mayoria de cartera</a:t>
            </a:r>
            <a:endParaRPr lang="en-US" sz="1300" dirty="0"/>
          </a:p>
        </p:txBody>
      </p:sp>
      <p:sp>
        <p:nvSpPr>
          <p:cNvPr id="23" name="Text 21"/>
          <p:cNvSpPr/>
          <p:nvPr/>
        </p:nvSpPr>
        <p:spPr>
          <a:xfrm>
            <a:off x="896112" y="3383280"/>
            <a:ext cx="2926080" cy="256032"/>
          </a:xfrm>
          <a:prstGeom prst="rect">
            <a:avLst/>
          </a:prstGeom>
          <a:noFill/>
          <a:ln/>
        </p:spPr>
        <p:txBody>
          <a:bodyPr wrap="square" lIns="0" tIns="0" rIns="0" bIns="0" rtlCol="0" anchor="ctr"/>
          <a:lstStyle/>
          <a:p>
            <a:pPr indent="0" marL="0">
              <a:buNone/>
            </a:pPr>
            <a:r>
              <a:rPr lang="en-US" sz="1100" dirty="0">
                <a:solidFill>
                  <a:srgbClr val="7B93AA"/>
                </a:solidFill>
                <a:latin typeface="Calibri" pitchFamily="34" charset="0"/>
                <a:ea typeface="Calibri" pitchFamily="34" charset="-122"/>
                <a:cs typeface="Calibri" pitchFamily="34" charset="-120"/>
              </a:rPr>
              <a:t>No hay registro sistematico en HubSpot</a:t>
            </a:r>
            <a:endParaRPr lang="en-US" sz="1100" dirty="0"/>
          </a:p>
        </p:txBody>
      </p:sp>
      <p:sp>
        <p:nvSpPr>
          <p:cNvPr id="24" name="Text 22"/>
          <p:cNvSpPr/>
          <p:nvPr/>
        </p:nvSpPr>
        <p:spPr>
          <a:xfrm>
            <a:off x="3931920" y="3145536"/>
            <a:ext cx="3749040" cy="384048"/>
          </a:xfrm>
          <a:prstGeom prst="rect">
            <a:avLst/>
          </a:prstGeom>
          <a:noFill/>
          <a:ln/>
        </p:spPr>
        <p:txBody>
          <a:bodyPr wrap="square" lIns="0" tIns="0" rIns="0" bIns="0" rtlCol="0" anchor="ctr"/>
          <a:lstStyle/>
          <a:p>
            <a:pPr indent="0" marL="0">
              <a:buNone/>
            </a:pPr>
            <a:r>
              <a:rPr lang="en-US" sz="1150" dirty="0">
                <a:solidFill>
                  <a:srgbClr val="7B93AA"/>
                </a:solidFill>
                <a:latin typeface="Calibri" pitchFamily="34" charset="0"/>
                <a:ea typeface="Calibri" pitchFamily="34" charset="-122"/>
                <a:cs typeface="Calibri" pitchFamily="34" charset="-120"/>
              </a:rPr>
              <a:t>Impacto: No sabemos cuantos clientes tienen mas de 30 o 60 dias sin contacto</a:t>
            </a:r>
            <a:endParaRPr lang="en-US" sz="1150" dirty="0"/>
          </a:p>
        </p:txBody>
      </p:sp>
      <p:sp>
        <p:nvSpPr>
          <p:cNvPr id="25" name="Text 23"/>
          <p:cNvSpPr/>
          <p:nvPr/>
        </p:nvSpPr>
        <p:spPr>
          <a:xfrm>
            <a:off x="3931920" y="3557016"/>
            <a:ext cx="3657600" cy="219456"/>
          </a:xfrm>
          <a:prstGeom prst="rect">
            <a:avLst/>
          </a:prstGeom>
          <a:noFill/>
          <a:ln/>
        </p:spPr>
        <p:txBody>
          <a:bodyPr wrap="square" lIns="0" tIns="0" rIns="0" bIns="0" rtlCol="0" anchor="ctr"/>
          <a:lstStyle/>
          <a:p>
            <a:pPr indent="0" marL="0">
              <a:buNone/>
            </a:pPr>
            <a:r>
              <a:rPr lang="en-US" sz="1000" dirty="0">
                <a:solidFill>
                  <a:srgbClr val="F59E0B"/>
                </a:solidFill>
                <a:latin typeface="Calibri" pitchFamily="34" charset="0"/>
                <a:ea typeface="Calibri" pitchFamily="34" charset="-122"/>
                <a:cs typeface="Calibri" pitchFamily="34" charset="-120"/>
              </a:rPr>
              <a:t>Fuente: HubSpot</a:t>
            </a:r>
            <a:endParaRPr lang="en-US" sz="1000" dirty="0"/>
          </a:p>
        </p:txBody>
      </p:sp>
      <p:sp>
        <p:nvSpPr>
          <p:cNvPr id="26" name="Text 24"/>
          <p:cNvSpPr/>
          <p:nvPr/>
        </p:nvSpPr>
        <p:spPr>
          <a:xfrm>
            <a:off x="7772400" y="3282696"/>
            <a:ext cx="822960" cy="274320"/>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null</a:t>
            </a:r>
            <a:endParaRPr lang="en-US" sz="1300" dirty="0"/>
          </a:p>
        </p:txBody>
      </p:sp>
      <p:sp>
        <p:nvSpPr>
          <p:cNvPr id="27" name="Shape 25"/>
          <p:cNvSpPr/>
          <p:nvPr/>
        </p:nvSpPr>
        <p:spPr>
          <a:xfrm>
            <a:off x="365760" y="3950208"/>
            <a:ext cx="8412480" cy="777240"/>
          </a:xfrm>
          <a:prstGeom prst="roundRect">
            <a:avLst>
              <a:gd name="adj" fmla="val 11765"/>
            </a:avLst>
          </a:prstGeom>
          <a:solidFill>
            <a:srgbClr val="162840"/>
          </a:solidFill>
          <a:ln w="12700">
            <a:solidFill>
              <a:srgbClr val="F59E0B"/>
            </a:solidFill>
            <a:prstDash val="solid"/>
          </a:ln>
        </p:spPr>
      </p:sp>
      <p:sp>
        <p:nvSpPr>
          <p:cNvPr id="28" name="Shape 26"/>
          <p:cNvSpPr/>
          <p:nvPr/>
        </p:nvSpPr>
        <p:spPr>
          <a:xfrm>
            <a:off x="365760" y="3950208"/>
            <a:ext cx="411480" cy="777240"/>
          </a:xfrm>
          <a:prstGeom prst="roundRect">
            <a:avLst>
              <a:gd name="adj" fmla="val 17778"/>
            </a:avLst>
          </a:prstGeom>
          <a:solidFill>
            <a:srgbClr val="F59E0B"/>
          </a:solidFill>
          <a:ln w="12700">
            <a:solidFill>
              <a:srgbClr val="F59E0B"/>
            </a:solidFill>
            <a:prstDash val="solid"/>
          </a:ln>
        </p:spPr>
      </p:sp>
      <p:sp>
        <p:nvSpPr>
          <p:cNvPr id="29" name="Text 27"/>
          <p:cNvSpPr/>
          <p:nvPr/>
        </p:nvSpPr>
        <p:spPr>
          <a:xfrm>
            <a:off x="896112" y="4005072"/>
            <a:ext cx="29260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Tickets actuales — cartera completa</a:t>
            </a:r>
            <a:endParaRPr lang="en-US" sz="1300" dirty="0"/>
          </a:p>
        </p:txBody>
      </p:sp>
      <p:sp>
        <p:nvSpPr>
          <p:cNvPr id="30" name="Text 28"/>
          <p:cNvSpPr/>
          <p:nvPr/>
        </p:nvSpPr>
        <p:spPr>
          <a:xfrm>
            <a:off x="896112" y="4279392"/>
            <a:ext cx="2926080" cy="256032"/>
          </a:xfrm>
          <a:prstGeom prst="rect">
            <a:avLst/>
          </a:prstGeom>
          <a:noFill/>
          <a:ln/>
        </p:spPr>
        <p:txBody>
          <a:bodyPr wrap="square" lIns="0" tIns="0" rIns="0" bIns="0" rtlCol="0" anchor="ctr"/>
          <a:lstStyle/>
          <a:p>
            <a:pPr indent="0" marL="0">
              <a:buNone/>
            </a:pPr>
            <a:r>
              <a:rPr lang="en-US" sz="1100" dirty="0">
                <a:solidFill>
                  <a:srgbClr val="7B93AA"/>
                </a:solidFill>
                <a:latin typeface="Calibri" pitchFamily="34" charset="0"/>
                <a:ea typeface="Calibri" pitchFamily="34" charset="-122"/>
                <a:cs typeface="Calibri" pitchFamily="34" charset="-120"/>
              </a:rPr>
              <a:t>No consultado en esta sesion</a:t>
            </a:r>
            <a:endParaRPr lang="en-US" sz="1100" dirty="0"/>
          </a:p>
        </p:txBody>
      </p:sp>
      <p:sp>
        <p:nvSpPr>
          <p:cNvPr id="31" name="Text 29"/>
          <p:cNvSpPr/>
          <p:nvPr/>
        </p:nvSpPr>
        <p:spPr>
          <a:xfrm>
            <a:off x="3931920" y="4041648"/>
            <a:ext cx="3749040" cy="384048"/>
          </a:xfrm>
          <a:prstGeom prst="rect">
            <a:avLst/>
          </a:prstGeom>
          <a:noFill/>
          <a:ln/>
        </p:spPr>
        <p:txBody>
          <a:bodyPr wrap="square" lIns="0" tIns="0" rIns="0" bIns="0" rtlCol="0" anchor="ctr"/>
          <a:lstStyle/>
          <a:p>
            <a:pPr indent="0" marL="0">
              <a:buNone/>
            </a:pPr>
            <a:r>
              <a:rPr lang="en-US" sz="1150" dirty="0">
                <a:solidFill>
                  <a:srgbClr val="7B93AA"/>
                </a:solidFill>
                <a:latin typeface="Calibri" pitchFamily="34" charset="0"/>
                <a:ea typeface="Calibri" pitchFamily="34" charset="-122"/>
                <a:cs typeface="Calibri" pitchFamily="34" charset="-120"/>
              </a:rPr>
              <a:t>Impacto: No hay visibilidad de carga de soporte por cliente en tiempo real</a:t>
            </a:r>
            <a:endParaRPr lang="en-US" sz="1150" dirty="0"/>
          </a:p>
        </p:txBody>
      </p:sp>
      <p:sp>
        <p:nvSpPr>
          <p:cNvPr id="32" name="Text 30"/>
          <p:cNvSpPr/>
          <p:nvPr/>
        </p:nvSpPr>
        <p:spPr>
          <a:xfrm>
            <a:off x="3931920" y="4453128"/>
            <a:ext cx="3657600" cy="219456"/>
          </a:xfrm>
          <a:prstGeom prst="rect">
            <a:avLst/>
          </a:prstGeom>
          <a:noFill/>
          <a:ln/>
        </p:spPr>
        <p:txBody>
          <a:bodyPr wrap="square" lIns="0" tIns="0" rIns="0" bIns="0" rtlCol="0" anchor="ctr"/>
          <a:lstStyle/>
          <a:p>
            <a:pPr indent="0" marL="0">
              <a:buNone/>
            </a:pPr>
            <a:r>
              <a:rPr lang="en-US" sz="1000" dirty="0">
                <a:solidFill>
                  <a:srgbClr val="F59E0B"/>
                </a:solidFill>
                <a:latin typeface="Calibri" pitchFamily="34" charset="0"/>
                <a:ea typeface="Calibri" pitchFamily="34" charset="-122"/>
                <a:cs typeface="Calibri" pitchFamily="34" charset="-120"/>
              </a:rPr>
              <a:t>Fuente: Zendesk</a:t>
            </a:r>
            <a:endParaRPr lang="en-US" sz="1000" dirty="0"/>
          </a:p>
        </p:txBody>
      </p:sp>
      <p:sp>
        <p:nvSpPr>
          <p:cNvPr id="33" name="Text 31"/>
          <p:cNvSpPr/>
          <p:nvPr/>
        </p:nvSpPr>
        <p:spPr>
          <a:xfrm>
            <a:off x="7772400" y="4178808"/>
            <a:ext cx="822960" cy="274320"/>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null</a:t>
            </a:r>
            <a:endParaRPr lang="en-US" sz="1300" dirty="0"/>
          </a:p>
        </p:txBody>
      </p:sp>
      <p:sp>
        <p:nvSpPr>
          <p:cNvPr id="34" name="Text 32"/>
          <p:cNvSpPr/>
          <p:nvPr/>
        </p:nvSpPr>
        <p:spPr>
          <a:xfrm>
            <a:off x="457200" y="4864608"/>
            <a:ext cx="8229600" cy="256032"/>
          </a:xfrm>
          <a:prstGeom prst="rect">
            <a:avLst/>
          </a:prstGeom>
          <a:noFill/>
          <a:ln/>
        </p:spPr>
        <p:txBody>
          <a:bodyPr wrap="square" lIns="0" tIns="0" rIns="0" bIns="0" rtlCol="0" anchor="ctr"/>
          <a:lstStyle/>
          <a:p>
            <a:pPr algn="ctr" indent="0" marL="0">
              <a:buNone/>
            </a:pPr>
            <a:r>
              <a:rPr lang="en-US" sz="1200" i="1" dirty="0">
                <a:solidFill>
                  <a:srgbClr val="F2A71B"/>
                </a:solidFill>
                <a:latin typeface="Calibri" pitchFamily="34" charset="0"/>
                <a:ea typeface="Calibri" pitchFamily="34" charset="-122"/>
                <a:cs typeface="Calibri" pitchFamily="34" charset="-120"/>
              </a:rPr>
              <a:t>La incapacidad de medir es en si misma un problema operativo — no un problema del cliente.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DESAFIOS REALES DEL EQUIPO</a:t>
            </a:r>
            <a:endParaRPr lang="en-US" sz="1000" dirty="0"/>
          </a:p>
        </p:txBody>
      </p:sp>
      <p:sp>
        <p:nvSpPr>
          <p:cNvPr id="3" name="Text 1"/>
          <p:cNvSpPr/>
          <p:nvPr/>
        </p:nvSpPr>
        <p:spPr>
          <a:xfrm>
            <a:off x="457200" y="411480"/>
            <a:ext cx="8229600" cy="530352"/>
          </a:xfrm>
          <a:prstGeom prst="rect">
            <a:avLst/>
          </a:prstGeom>
          <a:noFill/>
          <a:ln/>
        </p:spPr>
        <p:txBody>
          <a:bodyPr wrap="square" lIns="0" tIns="0" rIns="0" bIns="0" rtlCol="0" anchor="ctr"/>
          <a:lstStyle/>
          <a:p>
            <a:pPr indent="0" marL="0">
              <a:buNone/>
            </a:pPr>
            <a:r>
              <a:rPr lang="en-US" sz="2700" b="1" dirty="0">
                <a:solidFill>
                  <a:srgbClr val="0F2137"/>
                </a:solidFill>
                <a:latin typeface="Calibri" pitchFamily="34" charset="0"/>
                <a:ea typeface="Calibri" pitchFamily="34" charset="-122"/>
                <a:cs typeface="Calibri" pitchFamily="34" charset="-120"/>
              </a:rPr>
              <a:t>Problemas confirmados por la evidencia de datos</a:t>
            </a:r>
            <a:endParaRPr lang="en-US" sz="2700" dirty="0"/>
          </a:p>
        </p:txBody>
      </p:sp>
      <p:sp>
        <p:nvSpPr>
          <p:cNvPr id="4" name="Shape 2"/>
          <p:cNvSpPr/>
          <p:nvPr/>
        </p:nvSpPr>
        <p:spPr>
          <a:xfrm>
            <a:off x="365760" y="960120"/>
            <a:ext cx="8412480" cy="749808"/>
          </a:xfrm>
          <a:prstGeom prst="roundRect">
            <a:avLst>
              <a:gd name="adj" fmla="val 12195"/>
            </a:avLst>
          </a:prstGeom>
          <a:solidFill>
            <a:srgbClr val="FAFAFA"/>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5" name="Shape 3"/>
          <p:cNvSpPr/>
          <p:nvPr/>
        </p:nvSpPr>
        <p:spPr>
          <a:xfrm>
            <a:off x="365760" y="960120"/>
            <a:ext cx="457200" cy="749808"/>
          </a:xfrm>
          <a:prstGeom prst="roundRect">
            <a:avLst>
              <a:gd name="adj" fmla="val 18000"/>
            </a:avLst>
          </a:prstGeom>
          <a:solidFill>
            <a:srgbClr val="EF4444"/>
          </a:solidFill>
          <a:ln w="12700">
            <a:solidFill>
              <a:srgbClr val="EF4444"/>
            </a:solidFill>
            <a:prstDash val="solid"/>
          </a:ln>
        </p:spPr>
      </p:sp>
      <p:sp>
        <p:nvSpPr>
          <p:cNvPr id="6" name="Text 4"/>
          <p:cNvSpPr/>
          <p:nvPr/>
        </p:nvSpPr>
        <p:spPr>
          <a:xfrm>
            <a:off x="365760" y="960120"/>
            <a:ext cx="457200" cy="74980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01</a:t>
            </a:r>
            <a:endParaRPr lang="en-US" sz="1700" dirty="0"/>
          </a:p>
        </p:txBody>
      </p:sp>
      <p:sp>
        <p:nvSpPr>
          <p:cNvPr id="7" name="Text 5"/>
          <p:cNvSpPr/>
          <p:nvPr/>
        </p:nvSpPr>
        <p:spPr>
          <a:xfrm>
            <a:off x="932688" y="996696"/>
            <a:ext cx="7717536" cy="219456"/>
          </a:xfrm>
          <a:prstGeom prst="rect">
            <a:avLst/>
          </a:prstGeom>
          <a:noFill/>
          <a:ln/>
        </p:spPr>
        <p:txBody>
          <a:bodyPr wrap="square" lIns="0" tIns="0" rIns="0" bIns="0" rtlCol="0" anchor="ctr"/>
          <a:lstStyle/>
          <a:p>
            <a:pPr indent="0" marL="0">
              <a:buNone/>
            </a:pPr>
            <a:r>
              <a:rPr lang="en-US" sz="1100" b="1" dirty="0">
                <a:solidFill>
                  <a:srgbClr val="0F2137"/>
                </a:solidFill>
                <a:latin typeface="Calibri" pitchFamily="34" charset="0"/>
                <a:ea typeface="Calibri" pitchFamily="34" charset="-122"/>
                <a:cs typeface="Calibri" pitchFamily="34" charset="-120"/>
              </a:rPr>
              <a:t>Centry bloquea la visibilidad de 6 cuentas</a:t>
            </a:r>
            <a:endParaRPr lang="en-US" sz="1100" dirty="0"/>
          </a:p>
        </p:txBody>
      </p:sp>
      <p:sp>
        <p:nvSpPr>
          <p:cNvPr id="8" name="Text 6"/>
          <p:cNvSpPr/>
          <p:nvPr/>
        </p:nvSpPr>
        <p:spPr>
          <a:xfrm>
            <a:off x="932688" y="1216152"/>
            <a:ext cx="7717536"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Evidencia: FORUS SA, FORUS CO, FORUS PE, GINO, LOUNGE, MAISA estan en sistema legado.</a:t>
            </a:r>
            <a:endParaRPr lang="en-US" sz="1000" dirty="0"/>
          </a:p>
        </p:txBody>
      </p:sp>
      <p:sp>
        <p:nvSpPr>
          <p:cNvPr id="9" name="Text 7"/>
          <p:cNvSpPr/>
          <p:nvPr/>
        </p:nvSpPr>
        <p:spPr>
          <a:xfrm>
            <a:off x="932688" y="1472184"/>
            <a:ext cx="7717536" cy="219456"/>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Impacto: CS no puede calcular Health Score, GMV ni adopcion para estas cuentas. Son invisibles para el equipo.</a:t>
            </a:r>
            <a:endParaRPr lang="en-US" sz="1000" dirty="0"/>
          </a:p>
        </p:txBody>
      </p:sp>
      <p:sp>
        <p:nvSpPr>
          <p:cNvPr id="10" name="Shape 8"/>
          <p:cNvSpPr/>
          <p:nvPr/>
        </p:nvSpPr>
        <p:spPr>
          <a:xfrm>
            <a:off x="365760" y="1801368"/>
            <a:ext cx="8412480" cy="749808"/>
          </a:xfrm>
          <a:prstGeom prst="roundRect">
            <a:avLst>
              <a:gd name="adj" fmla="val 12195"/>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1" name="Shape 9"/>
          <p:cNvSpPr/>
          <p:nvPr/>
        </p:nvSpPr>
        <p:spPr>
          <a:xfrm>
            <a:off x="365760" y="1801368"/>
            <a:ext cx="457200" cy="749808"/>
          </a:xfrm>
          <a:prstGeom prst="roundRect">
            <a:avLst>
              <a:gd name="adj" fmla="val 18000"/>
            </a:avLst>
          </a:prstGeom>
          <a:solidFill>
            <a:srgbClr val="EF4444"/>
          </a:solidFill>
          <a:ln w="12700">
            <a:solidFill>
              <a:srgbClr val="EF4444"/>
            </a:solidFill>
            <a:prstDash val="solid"/>
          </a:ln>
        </p:spPr>
      </p:sp>
      <p:sp>
        <p:nvSpPr>
          <p:cNvPr id="12" name="Text 10"/>
          <p:cNvSpPr/>
          <p:nvPr/>
        </p:nvSpPr>
        <p:spPr>
          <a:xfrm>
            <a:off x="365760" y="1801368"/>
            <a:ext cx="457200" cy="74980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02</a:t>
            </a:r>
            <a:endParaRPr lang="en-US" sz="1700" dirty="0"/>
          </a:p>
        </p:txBody>
      </p:sp>
      <p:sp>
        <p:nvSpPr>
          <p:cNvPr id="13" name="Text 11"/>
          <p:cNvSpPr/>
          <p:nvPr/>
        </p:nvSpPr>
        <p:spPr>
          <a:xfrm>
            <a:off x="932688" y="1837944"/>
            <a:ext cx="7717536" cy="219456"/>
          </a:xfrm>
          <a:prstGeom prst="rect">
            <a:avLst/>
          </a:prstGeom>
          <a:noFill/>
          <a:ln/>
        </p:spPr>
        <p:txBody>
          <a:bodyPr wrap="square" lIns="0" tIns="0" rIns="0" bIns="0" rtlCol="0" anchor="ctr"/>
          <a:lstStyle/>
          <a:p>
            <a:pPr indent="0" marL="0">
              <a:buNone/>
            </a:pPr>
            <a:r>
              <a:rPr lang="en-US" sz="1100" b="1" dirty="0">
                <a:solidFill>
                  <a:srgbClr val="0F2137"/>
                </a:solidFill>
                <a:latin typeface="Calibri" pitchFamily="34" charset="0"/>
                <a:ea typeface="Calibri" pitchFamily="34" charset="-122"/>
                <a:cs typeface="Calibri" pitchFamily="34" charset="-120"/>
              </a:rPr>
              <a:t>0 clientes en nivel ALTO de adopcion</a:t>
            </a:r>
            <a:endParaRPr lang="en-US" sz="1100" dirty="0"/>
          </a:p>
        </p:txBody>
      </p:sp>
      <p:sp>
        <p:nvSpPr>
          <p:cNvPr id="14" name="Text 12"/>
          <p:cNvSpPr/>
          <p:nvPr/>
        </p:nvSpPr>
        <p:spPr>
          <a:xfrm>
            <a:off x="932688" y="2057400"/>
            <a:ext cx="7717536"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Evidencia: Promedio cartera activa: 34% (Power BI, julio 2026). Mejor cliente: KAYSER 55.6%. Ningun cliente supera 70%.</a:t>
            </a:r>
            <a:endParaRPr lang="en-US" sz="1000" dirty="0"/>
          </a:p>
        </p:txBody>
      </p:sp>
      <p:sp>
        <p:nvSpPr>
          <p:cNvPr id="15" name="Text 13"/>
          <p:cNvSpPr/>
          <p:nvPr/>
        </p:nvSpPr>
        <p:spPr>
          <a:xfrm>
            <a:off x="932688" y="2313432"/>
            <a:ext cx="7717536" cy="219456"/>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Impacto: Clientes pagan por capacidades que no usan. Riesgo directo de objeciones en renovacion.</a:t>
            </a:r>
            <a:endParaRPr lang="en-US" sz="1000" dirty="0"/>
          </a:p>
        </p:txBody>
      </p:sp>
      <p:sp>
        <p:nvSpPr>
          <p:cNvPr id="16" name="Shape 14"/>
          <p:cNvSpPr/>
          <p:nvPr/>
        </p:nvSpPr>
        <p:spPr>
          <a:xfrm>
            <a:off x="365760" y="2642616"/>
            <a:ext cx="8412480" cy="749808"/>
          </a:xfrm>
          <a:prstGeom prst="roundRect">
            <a:avLst>
              <a:gd name="adj" fmla="val 12195"/>
            </a:avLst>
          </a:prstGeom>
          <a:solidFill>
            <a:srgbClr val="FAFAFA"/>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7" name="Shape 15"/>
          <p:cNvSpPr/>
          <p:nvPr/>
        </p:nvSpPr>
        <p:spPr>
          <a:xfrm>
            <a:off x="365760" y="2642616"/>
            <a:ext cx="457200" cy="749808"/>
          </a:xfrm>
          <a:prstGeom prst="roundRect">
            <a:avLst>
              <a:gd name="adj" fmla="val 18000"/>
            </a:avLst>
          </a:prstGeom>
          <a:solidFill>
            <a:srgbClr val="EF4444"/>
          </a:solidFill>
          <a:ln w="12700">
            <a:solidFill>
              <a:srgbClr val="EF4444"/>
            </a:solidFill>
            <a:prstDash val="solid"/>
          </a:ln>
        </p:spPr>
      </p:sp>
      <p:sp>
        <p:nvSpPr>
          <p:cNvPr id="18" name="Text 16"/>
          <p:cNvSpPr/>
          <p:nvPr/>
        </p:nvSpPr>
        <p:spPr>
          <a:xfrm>
            <a:off x="365760" y="2642616"/>
            <a:ext cx="457200" cy="74980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03</a:t>
            </a:r>
            <a:endParaRPr lang="en-US" sz="1700" dirty="0"/>
          </a:p>
        </p:txBody>
      </p:sp>
      <p:sp>
        <p:nvSpPr>
          <p:cNvPr id="19" name="Text 17"/>
          <p:cNvSpPr/>
          <p:nvPr/>
        </p:nvSpPr>
        <p:spPr>
          <a:xfrm>
            <a:off x="932688" y="2679192"/>
            <a:ext cx="7717536" cy="219456"/>
          </a:xfrm>
          <a:prstGeom prst="rect">
            <a:avLst/>
          </a:prstGeom>
          <a:noFill/>
          <a:ln/>
        </p:spPr>
        <p:txBody>
          <a:bodyPr wrap="square" lIns="0" tIns="0" rIns="0" bIns="0" rtlCol="0" anchor="ctr"/>
          <a:lstStyle/>
          <a:p>
            <a:pPr indent="0" marL="0">
              <a:buNone/>
            </a:pPr>
            <a:r>
              <a:rPr lang="en-US" sz="1100" b="1" dirty="0">
                <a:solidFill>
                  <a:srgbClr val="0F2137"/>
                </a:solidFill>
                <a:latin typeface="Calibri" pitchFamily="34" charset="0"/>
                <a:ea typeface="Calibri" pitchFamily="34" charset="-122"/>
                <a:cs typeface="Calibri" pitchFamily="34" charset="-120"/>
              </a:rPr>
              <a:t>Dos detractores activos sin plan de recuperacion</a:t>
            </a:r>
            <a:endParaRPr lang="en-US" sz="1100" dirty="0"/>
          </a:p>
        </p:txBody>
      </p:sp>
      <p:sp>
        <p:nvSpPr>
          <p:cNvPr id="20" name="Text 18"/>
          <p:cNvSpPr/>
          <p:nvPr/>
        </p:nvSpPr>
        <p:spPr>
          <a:xfrm>
            <a:off x="932688" y="2898648"/>
            <a:ext cx="7717536"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Evidencia: 2 cuentas con NPS -100 confirmado (TrackSale, jul 2026). Sin plan de recuperacion activo documentado.</a:t>
            </a:r>
            <a:endParaRPr lang="en-US" sz="1000" dirty="0"/>
          </a:p>
        </p:txBody>
      </p:sp>
      <p:sp>
        <p:nvSpPr>
          <p:cNvPr id="21" name="Text 19"/>
          <p:cNvSpPr/>
          <p:nvPr/>
        </p:nvSpPr>
        <p:spPr>
          <a:xfrm>
            <a:off x="932688" y="3154680"/>
            <a:ext cx="7717536" cy="219456"/>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Impacto: Sin plan activo documentado al inicio de julio 2026. Riesgo de churn inmediato en ambas cuentas.</a:t>
            </a:r>
            <a:endParaRPr lang="en-US" sz="1000" dirty="0"/>
          </a:p>
        </p:txBody>
      </p:sp>
      <p:sp>
        <p:nvSpPr>
          <p:cNvPr id="22" name="Shape 20"/>
          <p:cNvSpPr/>
          <p:nvPr/>
        </p:nvSpPr>
        <p:spPr>
          <a:xfrm>
            <a:off x="365760" y="3483864"/>
            <a:ext cx="8412480" cy="749808"/>
          </a:xfrm>
          <a:prstGeom prst="roundRect">
            <a:avLst>
              <a:gd name="adj" fmla="val 12195"/>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3" name="Shape 21"/>
          <p:cNvSpPr/>
          <p:nvPr/>
        </p:nvSpPr>
        <p:spPr>
          <a:xfrm>
            <a:off x="365760" y="3483864"/>
            <a:ext cx="457200" cy="749808"/>
          </a:xfrm>
          <a:prstGeom prst="roundRect">
            <a:avLst>
              <a:gd name="adj" fmla="val 18000"/>
            </a:avLst>
          </a:prstGeom>
          <a:solidFill>
            <a:srgbClr val="EF4444"/>
          </a:solidFill>
          <a:ln w="12700">
            <a:solidFill>
              <a:srgbClr val="EF4444"/>
            </a:solidFill>
            <a:prstDash val="solid"/>
          </a:ln>
        </p:spPr>
      </p:sp>
      <p:sp>
        <p:nvSpPr>
          <p:cNvPr id="24" name="Text 22"/>
          <p:cNvSpPr/>
          <p:nvPr/>
        </p:nvSpPr>
        <p:spPr>
          <a:xfrm>
            <a:off x="365760" y="3483864"/>
            <a:ext cx="457200" cy="74980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04</a:t>
            </a:r>
            <a:endParaRPr lang="en-US" sz="1700" dirty="0"/>
          </a:p>
        </p:txBody>
      </p:sp>
      <p:sp>
        <p:nvSpPr>
          <p:cNvPr id="25" name="Text 23"/>
          <p:cNvSpPr/>
          <p:nvPr/>
        </p:nvSpPr>
        <p:spPr>
          <a:xfrm>
            <a:off x="932688" y="3520440"/>
            <a:ext cx="7717536" cy="219456"/>
          </a:xfrm>
          <a:prstGeom prst="rect">
            <a:avLst/>
          </a:prstGeom>
          <a:noFill/>
          <a:ln/>
        </p:spPr>
        <p:txBody>
          <a:bodyPr wrap="square" lIns="0" tIns="0" rIns="0" bIns="0" rtlCol="0" anchor="ctr"/>
          <a:lstStyle/>
          <a:p>
            <a:pPr indent="0" marL="0">
              <a:buNone/>
            </a:pPr>
            <a:r>
              <a:rPr lang="en-US" sz="1100" b="1" dirty="0">
                <a:solidFill>
                  <a:srgbClr val="0F2137"/>
                </a:solidFill>
                <a:latin typeface="Calibri" pitchFamily="34" charset="0"/>
                <a:ea typeface="Calibri" pitchFamily="34" charset="-122"/>
                <a:cs typeface="Calibri" pitchFamily="34" charset="-120"/>
              </a:rPr>
              <a:t>Bugs en Falabella y Ripley Flex afectan el GMV</a:t>
            </a:r>
            <a:endParaRPr lang="en-US" sz="1100" dirty="0"/>
          </a:p>
        </p:txBody>
      </p:sp>
      <p:sp>
        <p:nvSpPr>
          <p:cNvPr id="26" name="Text 24"/>
          <p:cNvSpPr/>
          <p:nvPr/>
        </p:nvSpPr>
        <p:spPr>
          <a:xfrm>
            <a:off x="932688" y="3739896"/>
            <a:ext cx="7717536"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Evidencia: Ticket #26293 abierto 36 dias sin resolver. Bug Ripley Flex activo confirmado en 2 clientes esta semana (#35113, #34862).</a:t>
            </a:r>
            <a:endParaRPr lang="en-US" sz="1000" dirty="0"/>
          </a:p>
        </p:txBody>
      </p:sp>
      <p:sp>
        <p:nvSpPr>
          <p:cNvPr id="27" name="Text 25"/>
          <p:cNvSpPr/>
          <p:nvPr/>
        </p:nvSpPr>
        <p:spPr>
          <a:xfrm>
            <a:off x="932688" y="3995928"/>
            <a:ext cx="7717536" cy="219456"/>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Impacto: CS absorbe bugs que no puede resolver. Cada falla no resuelta erosiona confianza y anticipa churn en canales principales.</a:t>
            </a:r>
            <a:endParaRPr lang="en-US" sz="1000" dirty="0"/>
          </a:p>
        </p:txBody>
      </p:sp>
      <p:sp>
        <p:nvSpPr>
          <p:cNvPr id="28" name="Shape 26"/>
          <p:cNvSpPr/>
          <p:nvPr/>
        </p:nvSpPr>
        <p:spPr>
          <a:xfrm>
            <a:off x="365760" y="4325112"/>
            <a:ext cx="8412480" cy="749808"/>
          </a:xfrm>
          <a:prstGeom prst="roundRect">
            <a:avLst>
              <a:gd name="adj" fmla="val 12195"/>
            </a:avLst>
          </a:prstGeom>
          <a:solidFill>
            <a:srgbClr val="FAFAFA"/>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9" name="Shape 27"/>
          <p:cNvSpPr/>
          <p:nvPr/>
        </p:nvSpPr>
        <p:spPr>
          <a:xfrm>
            <a:off x="365760" y="4325112"/>
            <a:ext cx="457200" cy="749808"/>
          </a:xfrm>
          <a:prstGeom prst="roundRect">
            <a:avLst>
              <a:gd name="adj" fmla="val 18000"/>
            </a:avLst>
          </a:prstGeom>
          <a:solidFill>
            <a:srgbClr val="EF4444"/>
          </a:solidFill>
          <a:ln w="12700">
            <a:solidFill>
              <a:srgbClr val="EF4444"/>
            </a:solidFill>
            <a:prstDash val="solid"/>
          </a:ln>
        </p:spPr>
      </p:sp>
      <p:sp>
        <p:nvSpPr>
          <p:cNvPr id="30" name="Text 28"/>
          <p:cNvSpPr/>
          <p:nvPr/>
        </p:nvSpPr>
        <p:spPr>
          <a:xfrm>
            <a:off x="365760" y="4325112"/>
            <a:ext cx="457200" cy="74980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05</a:t>
            </a:r>
            <a:endParaRPr lang="en-US" sz="1700" dirty="0"/>
          </a:p>
        </p:txBody>
      </p:sp>
      <p:sp>
        <p:nvSpPr>
          <p:cNvPr id="31" name="Text 29"/>
          <p:cNvSpPr/>
          <p:nvPr/>
        </p:nvSpPr>
        <p:spPr>
          <a:xfrm>
            <a:off x="932688" y="4361688"/>
            <a:ext cx="7717536" cy="219456"/>
          </a:xfrm>
          <a:prstGeom prst="rect">
            <a:avLst/>
          </a:prstGeom>
          <a:noFill/>
          <a:ln/>
        </p:spPr>
        <p:txBody>
          <a:bodyPr wrap="square" lIns="0" tIns="0" rIns="0" bIns="0" rtlCol="0" anchor="ctr"/>
          <a:lstStyle/>
          <a:p>
            <a:pPr indent="0" marL="0">
              <a:buNone/>
            </a:pPr>
            <a:r>
              <a:rPr lang="en-US" sz="1100" b="1" dirty="0">
                <a:solidFill>
                  <a:srgbClr val="0F2137"/>
                </a:solidFill>
                <a:latin typeface="Calibri" pitchFamily="34" charset="0"/>
                <a:ea typeface="Calibri" pitchFamily="34" charset="-122"/>
                <a:cs typeface="Calibri" pitchFamily="34" charset="-120"/>
              </a:rPr>
              <a:t>50% de los tickets son pedidos sin llegar al ERP</a:t>
            </a:r>
            <a:endParaRPr lang="en-US" sz="1100" dirty="0"/>
          </a:p>
        </p:txBody>
      </p:sp>
      <p:sp>
        <p:nvSpPr>
          <p:cNvPr id="32" name="Text 30"/>
          <p:cNvSpPr/>
          <p:nvPr/>
        </p:nvSpPr>
        <p:spPr>
          <a:xfrm>
            <a:off x="932688" y="4581144"/>
            <a:ext cx="7717536"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Evidencia: 13/26 tickets (Zendesk 10-jul) son pedidos sin sincronizar a SAP, Magento o BSale. 3 tickets llevan mas de 30 dias sin resolver.</a:t>
            </a:r>
            <a:endParaRPr lang="en-US" sz="1000" dirty="0"/>
          </a:p>
        </p:txBody>
      </p:sp>
      <p:sp>
        <p:nvSpPr>
          <p:cNvPr id="33" name="Text 31"/>
          <p:cNvSpPr/>
          <p:nvPr/>
        </p:nvSpPr>
        <p:spPr>
          <a:xfrm>
            <a:off x="932688" y="4837176"/>
            <a:ext cx="7717536" cy="219456"/>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Impacto: Sin SLA ni protocolo CS → Soporte. El CSM pierde tiempo proactivo en seguimiento de incidentes que no puede resolver.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RADIOGRAFIA DE SOPORTE — DATOS REALES</a:t>
            </a:r>
            <a:endParaRPr lang="en-US" sz="1000" dirty="0"/>
          </a:p>
        </p:txBody>
      </p:sp>
      <p:sp>
        <p:nvSpPr>
          <p:cNvPr id="3" name="Text 1"/>
          <p:cNvSpPr/>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0F2137"/>
                </a:solidFill>
                <a:latin typeface="Calibri" pitchFamily="34" charset="0"/>
                <a:ea typeface="Calibri" pitchFamily="34" charset="-122"/>
                <a:cs typeface="Calibri" pitchFamily="34" charset="-120"/>
              </a:rPr>
              <a:t>26 tickets abiertos — Zendesk — 10 julio 2026</a:t>
            </a:r>
            <a:endParaRPr lang="en-US" sz="2600" dirty="0"/>
          </a:p>
        </p:txBody>
      </p:sp>
      <p:sp>
        <p:nvSpPr>
          <p:cNvPr id="4" name="Shape 2"/>
          <p:cNvSpPr/>
          <p:nvPr/>
        </p:nvSpPr>
        <p:spPr>
          <a:xfrm>
            <a:off x="320040" y="1024128"/>
            <a:ext cx="1965960" cy="1325880"/>
          </a:xfrm>
          <a:prstGeom prst="roundRect">
            <a:avLst>
              <a:gd name="adj" fmla="val 6897"/>
            </a:avLst>
          </a:prstGeom>
          <a:solidFill>
            <a:srgbClr val="FEF2F2"/>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5" name="Text 3"/>
          <p:cNvSpPr/>
          <p:nvPr/>
        </p:nvSpPr>
        <p:spPr>
          <a:xfrm>
            <a:off x="320040" y="1042416"/>
            <a:ext cx="1005840" cy="685800"/>
          </a:xfrm>
          <a:prstGeom prst="rect">
            <a:avLst/>
          </a:prstGeom>
          <a:noFill/>
          <a:ln/>
        </p:spPr>
        <p:txBody>
          <a:bodyPr wrap="square" lIns="0" tIns="0" rIns="0" bIns="0" rtlCol="0" anchor="ctr"/>
          <a:lstStyle/>
          <a:p>
            <a:pPr algn="ctr" indent="0" marL="0">
              <a:buNone/>
            </a:pPr>
            <a:r>
              <a:rPr lang="en-US" sz="4400" b="1" dirty="0">
                <a:solidFill>
                  <a:srgbClr val="EF4444"/>
                </a:solidFill>
                <a:latin typeface="Calibri" pitchFamily="34" charset="0"/>
                <a:ea typeface="Calibri" pitchFamily="34" charset="-122"/>
                <a:cs typeface="Calibri" pitchFamily="34" charset="-120"/>
              </a:rPr>
              <a:t>13</a:t>
            </a:r>
            <a:endParaRPr lang="en-US" sz="4400" dirty="0"/>
          </a:p>
        </p:txBody>
      </p:sp>
      <p:sp>
        <p:nvSpPr>
          <p:cNvPr id="6" name="Text 4"/>
          <p:cNvSpPr/>
          <p:nvPr/>
        </p:nvSpPr>
        <p:spPr>
          <a:xfrm>
            <a:off x="1325880" y="1152144"/>
            <a:ext cx="822960" cy="329184"/>
          </a:xfrm>
          <a:prstGeom prst="rect">
            <a:avLst/>
          </a:prstGeom>
          <a:noFill/>
          <a:ln/>
        </p:spPr>
        <p:txBody>
          <a:bodyPr wrap="square" lIns="0" tIns="0" rIns="0" bIns="0" rtlCol="0" anchor="ctr"/>
          <a:lstStyle/>
          <a:p>
            <a:pPr algn="ctr" indent="0" marL="0">
              <a:buNone/>
            </a:pPr>
            <a:r>
              <a:rPr lang="en-US" sz="1800" b="1" dirty="0">
                <a:solidFill>
                  <a:srgbClr val="EF4444"/>
                </a:solidFill>
                <a:latin typeface="Calibri" pitchFamily="34" charset="0"/>
                <a:ea typeface="Calibri" pitchFamily="34" charset="-122"/>
                <a:cs typeface="Calibri" pitchFamily="34" charset="-120"/>
              </a:rPr>
              <a:t>50%</a:t>
            </a:r>
            <a:endParaRPr lang="en-US" sz="1800" dirty="0"/>
          </a:p>
        </p:txBody>
      </p:sp>
      <p:sp>
        <p:nvSpPr>
          <p:cNvPr id="7" name="Text 5"/>
          <p:cNvSpPr/>
          <p:nvPr/>
        </p:nvSpPr>
        <p:spPr>
          <a:xfrm>
            <a:off x="411480" y="1700784"/>
            <a:ext cx="1783080"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Pedidos sin llegar</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al ERP del cliente</a:t>
            </a:r>
            <a:endParaRPr lang="en-US" sz="1100" dirty="0"/>
          </a:p>
        </p:txBody>
      </p:sp>
      <p:sp>
        <p:nvSpPr>
          <p:cNvPr id="8" name="Shape 6"/>
          <p:cNvSpPr/>
          <p:nvPr/>
        </p:nvSpPr>
        <p:spPr>
          <a:xfrm>
            <a:off x="2450592" y="1024128"/>
            <a:ext cx="1965960" cy="1325880"/>
          </a:xfrm>
          <a:prstGeom prst="roundRect">
            <a:avLst>
              <a:gd name="adj" fmla="val 6897"/>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9" name="Text 7"/>
          <p:cNvSpPr/>
          <p:nvPr/>
        </p:nvSpPr>
        <p:spPr>
          <a:xfrm>
            <a:off x="2450592" y="1042416"/>
            <a:ext cx="1005840" cy="685800"/>
          </a:xfrm>
          <a:prstGeom prst="rect">
            <a:avLst/>
          </a:prstGeom>
          <a:noFill/>
          <a:ln/>
        </p:spPr>
        <p:txBody>
          <a:bodyPr wrap="square" lIns="0" tIns="0" rIns="0" bIns="0" rtlCol="0" anchor="ctr"/>
          <a:lstStyle/>
          <a:p>
            <a:pPr algn="ctr" indent="0" marL="0">
              <a:buNone/>
            </a:pPr>
            <a:r>
              <a:rPr lang="en-US" sz="4400" b="1" dirty="0">
                <a:solidFill>
                  <a:srgbClr val="F59E0B"/>
                </a:solidFill>
                <a:latin typeface="Calibri" pitchFamily="34" charset="0"/>
                <a:ea typeface="Calibri" pitchFamily="34" charset="-122"/>
                <a:cs typeface="Calibri" pitchFamily="34" charset="-120"/>
              </a:rPr>
              <a:t>6</a:t>
            </a:r>
            <a:endParaRPr lang="en-US" sz="4400" dirty="0"/>
          </a:p>
        </p:txBody>
      </p:sp>
      <p:sp>
        <p:nvSpPr>
          <p:cNvPr id="10" name="Text 8"/>
          <p:cNvSpPr/>
          <p:nvPr/>
        </p:nvSpPr>
        <p:spPr>
          <a:xfrm>
            <a:off x="3456432" y="1152144"/>
            <a:ext cx="822960" cy="329184"/>
          </a:xfrm>
          <a:prstGeom prst="rect">
            <a:avLst/>
          </a:prstGeom>
          <a:noFill/>
          <a:ln/>
        </p:spPr>
        <p:txBody>
          <a:bodyPr wrap="square" lIns="0" tIns="0" rIns="0" bIns="0" rtlCol="0" anchor="ctr"/>
          <a:lstStyle/>
          <a:p>
            <a:pPr algn="ctr" indent="0" marL="0">
              <a:buNone/>
            </a:pPr>
            <a:r>
              <a:rPr lang="en-US" sz="1800" b="1" dirty="0">
                <a:solidFill>
                  <a:srgbClr val="F59E0B"/>
                </a:solidFill>
                <a:latin typeface="Calibri" pitchFamily="34" charset="0"/>
                <a:ea typeface="Calibri" pitchFamily="34" charset="-122"/>
                <a:cs typeface="Calibri" pitchFamily="34" charset="-120"/>
              </a:rPr>
              <a:t>23%</a:t>
            </a:r>
            <a:endParaRPr lang="en-US" sz="1800" dirty="0"/>
          </a:p>
        </p:txBody>
      </p:sp>
      <p:sp>
        <p:nvSpPr>
          <p:cNvPr id="11" name="Text 9"/>
          <p:cNvSpPr/>
          <p:nvPr/>
        </p:nvSpPr>
        <p:spPr>
          <a:xfrm>
            <a:off x="2542032" y="1700784"/>
            <a:ext cx="1783080"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Productos y</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publicaciones fallidas</a:t>
            </a:r>
            <a:endParaRPr lang="en-US" sz="1100" dirty="0"/>
          </a:p>
        </p:txBody>
      </p:sp>
      <p:sp>
        <p:nvSpPr>
          <p:cNvPr id="12" name="Shape 10"/>
          <p:cNvSpPr/>
          <p:nvPr/>
        </p:nvSpPr>
        <p:spPr>
          <a:xfrm>
            <a:off x="4581144" y="1024128"/>
            <a:ext cx="1965960" cy="1325880"/>
          </a:xfrm>
          <a:prstGeom prst="roundRect">
            <a:avLst>
              <a:gd name="adj" fmla="val 6897"/>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3" name="Text 11"/>
          <p:cNvSpPr/>
          <p:nvPr/>
        </p:nvSpPr>
        <p:spPr>
          <a:xfrm>
            <a:off x="4581144" y="1042416"/>
            <a:ext cx="1005840" cy="685800"/>
          </a:xfrm>
          <a:prstGeom prst="rect">
            <a:avLst/>
          </a:prstGeom>
          <a:noFill/>
          <a:ln/>
        </p:spPr>
        <p:txBody>
          <a:bodyPr wrap="square" lIns="0" tIns="0" rIns="0" bIns="0" rtlCol="0" anchor="ctr"/>
          <a:lstStyle/>
          <a:p>
            <a:pPr algn="ctr" indent="0" marL="0">
              <a:buNone/>
            </a:pPr>
            <a:r>
              <a:rPr lang="en-US" sz="4400" b="1" dirty="0">
                <a:solidFill>
                  <a:srgbClr val="F59E0B"/>
                </a:solidFill>
                <a:latin typeface="Calibri" pitchFamily="34" charset="0"/>
                <a:ea typeface="Calibri" pitchFamily="34" charset="-122"/>
                <a:cs typeface="Calibri" pitchFamily="34" charset="-120"/>
              </a:rPr>
              <a:t>5</a:t>
            </a:r>
            <a:endParaRPr lang="en-US" sz="4400" dirty="0"/>
          </a:p>
        </p:txBody>
      </p:sp>
      <p:sp>
        <p:nvSpPr>
          <p:cNvPr id="14" name="Text 12"/>
          <p:cNvSpPr/>
          <p:nvPr/>
        </p:nvSpPr>
        <p:spPr>
          <a:xfrm>
            <a:off x="5586984" y="1152144"/>
            <a:ext cx="822960" cy="329184"/>
          </a:xfrm>
          <a:prstGeom prst="rect">
            <a:avLst/>
          </a:prstGeom>
          <a:noFill/>
          <a:ln/>
        </p:spPr>
        <p:txBody>
          <a:bodyPr wrap="square" lIns="0" tIns="0" rIns="0" bIns="0" rtlCol="0" anchor="ctr"/>
          <a:lstStyle/>
          <a:p>
            <a:pPr algn="ctr" indent="0" marL="0">
              <a:buNone/>
            </a:pPr>
            <a:r>
              <a:rPr lang="en-US" sz="1800" b="1" dirty="0">
                <a:solidFill>
                  <a:srgbClr val="F59E0B"/>
                </a:solidFill>
                <a:latin typeface="Calibri" pitchFamily="34" charset="0"/>
                <a:ea typeface="Calibri" pitchFamily="34" charset="-122"/>
                <a:cs typeface="Calibri" pitchFamily="34" charset="-120"/>
              </a:rPr>
              <a:t>19%</a:t>
            </a:r>
            <a:endParaRPr lang="en-US" sz="1800" dirty="0"/>
          </a:p>
        </p:txBody>
      </p:sp>
      <p:sp>
        <p:nvSpPr>
          <p:cNvPr id="15" name="Text 13"/>
          <p:cNvSpPr/>
          <p:nvPr/>
        </p:nvSpPr>
        <p:spPr>
          <a:xfrm>
            <a:off x="4672584" y="1700784"/>
            <a:ext cx="1783080"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Integraciones</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ERP / eCommerce rotas</a:t>
            </a:r>
            <a:endParaRPr lang="en-US" sz="1100" dirty="0"/>
          </a:p>
        </p:txBody>
      </p:sp>
      <p:sp>
        <p:nvSpPr>
          <p:cNvPr id="16" name="Shape 14"/>
          <p:cNvSpPr/>
          <p:nvPr/>
        </p:nvSpPr>
        <p:spPr>
          <a:xfrm>
            <a:off x="6711696" y="1024128"/>
            <a:ext cx="1965960" cy="1325880"/>
          </a:xfrm>
          <a:prstGeom prst="roundRect">
            <a:avLst>
              <a:gd name="adj" fmla="val 6897"/>
            </a:avLst>
          </a:prstGeom>
          <a:solidFill>
            <a:srgbClr val="EFF6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7" name="Text 15"/>
          <p:cNvSpPr/>
          <p:nvPr/>
        </p:nvSpPr>
        <p:spPr>
          <a:xfrm>
            <a:off x="6711696" y="1042416"/>
            <a:ext cx="1005840" cy="685800"/>
          </a:xfrm>
          <a:prstGeom prst="rect">
            <a:avLst/>
          </a:prstGeom>
          <a:noFill/>
          <a:ln/>
        </p:spPr>
        <p:txBody>
          <a:bodyPr wrap="square" lIns="0" tIns="0" rIns="0" bIns="0" rtlCol="0" anchor="ctr"/>
          <a:lstStyle/>
          <a:p>
            <a:pPr algn="ctr" indent="0" marL="0">
              <a:buNone/>
            </a:pPr>
            <a:r>
              <a:rPr lang="en-US" sz="4400" b="1" dirty="0">
                <a:solidFill>
                  <a:srgbClr val="3B82F6"/>
                </a:solidFill>
                <a:latin typeface="Calibri" pitchFamily="34" charset="0"/>
                <a:ea typeface="Calibri" pitchFamily="34" charset="-122"/>
                <a:cs typeface="Calibri" pitchFamily="34" charset="-120"/>
              </a:rPr>
              <a:t>2</a:t>
            </a:r>
            <a:endParaRPr lang="en-US" sz="4400" dirty="0"/>
          </a:p>
        </p:txBody>
      </p:sp>
      <p:sp>
        <p:nvSpPr>
          <p:cNvPr id="18" name="Text 16"/>
          <p:cNvSpPr/>
          <p:nvPr/>
        </p:nvSpPr>
        <p:spPr>
          <a:xfrm>
            <a:off x="7717536" y="1152144"/>
            <a:ext cx="822960" cy="329184"/>
          </a:xfrm>
          <a:prstGeom prst="rect">
            <a:avLst/>
          </a:prstGeom>
          <a:noFill/>
          <a:ln/>
        </p:spPr>
        <p:txBody>
          <a:bodyPr wrap="square" lIns="0" tIns="0" rIns="0" bIns="0" rtlCol="0" anchor="ctr"/>
          <a:lstStyle/>
          <a:p>
            <a:pPr algn="ctr" indent="0" marL="0">
              <a:buNone/>
            </a:pPr>
            <a:r>
              <a:rPr lang="en-US" sz="1800" b="1" dirty="0">
                <a:solidFill>
                  <a:srgbClr val="3B82F6"/>
                </a:solidFill>
                <a:latin typeface="Calibri" pitchFamily="34" charset="0"/>
                <a:ea typeface="Calibri" pitchFamily="34" charset="-122"/>
                <a:cs typeface="Calibri" pitchFamily="34" charset="-120"/>
              </a:rPr>
              <a:t>8%</a:t>
            </a:r>
            <a:endParaRPr lang="en-US" sz="1800" dirty="0"/>
          </a:p>
        </p:txBody>
      </p:sp>
      <p:sp>
        <p:nvSpPr>
          <p:cNvPr id="19" name="Text 17"/>
          <p:cNvSpPr/>
          <p:nvPr/>
        </p:nvSpPr>
        <p:spPr>
          <a:xfrm>
            <a:off x="6803136" y="1700784"/>
            <a:ext cx="1783080"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Precios incorrectos</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en marketplace</a:t>
            </a:r>
            <a:endParaRPr lang="en-US" sz="1100" dirty="0"/>
          </a:p>
        </p:txBody>
      </p:sp>
      <p:sp>
        <p:nvSpPr>
          <p:cNvPr id="20" name="Shape 18"/>
          <p:cNvSpPr/>
          <p:nvPr/>
        </p:nvSpPr>
        <p:spPr>
          <a:xfrm>
            <a:off x="320040" y="2487168"/>
            <a:ext cx="2697480" cy="960120"/>
          </a:xfrm>
          <a:prstGeom prst="roundRect">
            <a:avLst>
              <a:gd name="adj" fmla="val 9524"/>
            </a:avLst>
          </a:prstGeom>
          <a:solidFill>
            <a:srgbClr val="FEF2F2"/>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1" name="Shape 19"/>
          <p:cNvSpPr/>
          <p:nvPr/>
        </p:nvSpPr>
        <p:spPr>
          <a:xfrm>
            <a:off x="320040" y="2487168"/>
            <a:ext cx="2697480" cy="292608"/>
          </a:xfrm>
          <a:prstGeom prst="roundRect">
            <a:avLst>
              <a:gd name="adj" fmla="val 25000"/>
            </a:avLst>
          </a:prstGeom>
          <a:solidFill>
            <a:srgbClr val="EF4444"/>
          </a:solidFill>
          <a:ln w="12700">
            <a:solidFill>
              <a:srgbClr val="EF4444"/>
            </a:solidFill>
            <a:prstDash val="solid"/>
          </a:ln>
        </p:spPr>
      </p:sp>
      <p:sp>
        <p:nvSpPr>
          <p:cNvPr id="22" name="Text 20"/>
          <p:cNvSpPr/>
          <p:nvPr/>
        </p:nvSpPr>
        <p:spPr>
          <a:xfrm>
            <a:off x="411480" y="2487168"/>
            <a:ext cx="2514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Falabella: bug recurrente — 36 dias sin resolver</a:t>
            </a:r>
            <a:endParaRPr lang="en-US" sz="1050" dirty="0"/>
          </a:p>
        </p:txBody>
      </p:sp>
      <p:sp>
        <p:nvSpPr>
          <p:cNvPr id="23" name="Text 21"/>
          <p:cNvSpPr/>
          <p:nvPr/>
        </p:nvSpPr>
        <p:spPr>
          <a:xfrm>
            <a:off x="429768" y="2807208"/>
            <a:ext cx="2478024" cy="594360"/>
          </a:xfrm>
          <a:prstGeom prst="rect">
            <a:avLst/>
          </a:prstGeom>
          <a:noFill/>
          <a:ln/>
        </p:spPr>
        <p:txBody>
          <a:bodyPr wrap="square" lIns="0" tIns="0" rIns="0" bIns="0" rtlCol="0" anchor="ctr"/>
          <a:lstStyle/>
          <a:p>
            <a:pPr indent="0" marL="0">
              <a:buNone/>
            </a:pPr>
            <a:r>
              <a:rPr lang="en-US" sz="1050" dirty="0">
                <a:solidFill>
                  <a:srgbClr val="0F2137"/>
                </a:solidFill>
                <a:latin typeface="Calibri" pitchFamily="34" charset="0"/>
                <a:ea typeface="Calibri" pitchFamily="34" charset="-122"/>
                <a:cs typeface="Calibri" pitchFamily="34" charset="-120"/>
              </a:rPr>
              <a:t>BEITGROUP PE: 2 tickets activos (publicaciones + imagenes).</a:t>
            </a:r>
            <a:endParaRPr lang="en-US" sz="1050" dirty="0"/>
          </a:p>
          <a:p>
            <a:pPr indent="0" marL="0">
              <a:buNone/>
            </a:pPr>
            <a:r>
              <a:rPr lang="en-US" sz="1050" dirty="0">
                <a:solidFill>
                  <a:srgbClr val="0F2137"/>
                </a:solidFill>
                <a:latin typeface="Calibri" pitchFamily="34" charset="0"/>
                <a:ea typeface="Calibri" pitchFamily="34" charset="-122"/>
                <a:cs typeface="Calibri" pitchFamily="34" charset="-120"/>
              </a:rPr>
              <a:t>Ticket #26293: Error transmision carteras — 36 dias abierto.</a:t>
            </a:r>
            <a:endParaRPr lang="en-US" sz="1050" dirty="0"/>
          </a:p>
        </p:txBody>
      </p:sp>
      <p:sp>
        <p:nvSpPr>
          <p:cNvPr id="24" name="Shape 22"/>
          <p:cNvSpPr/>
          <p:nvPr/>
        </p:nvSpPr>
        <p:spPr>
          <a:xfrm>
            <a:off x="3154680" y="2487168"/>
            <a:ext cx="2697480" cy="960120"/>
          </a:xfrm>
          <a:prstGeom prst="roundRect">
            <a:avLst>
              <a:gd name="adj" fmla="val 9524"/>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5" name="Shape 23"/>
          <p:cNvSpPr/>
          <p:nvPr/>
        </p:nvSpPr>
        <p:spPr>
          <a:xfrm>
            <a:off x="3154680" y="2487168"/>
            <a:ext cx="2697480" cy="292608"/>
          </a:xfrm>
          <a:prstGeom prst="roundRect">
            <a:avLst>
              <a:gd name="adj" fmla="val 25000"/>
            </a:avLst>
          </a:prstGeom>
          <a:solidFill>
            <a:srgbClr val="F59E0B"/>
          </a:solidFill>
          <a:ln w="12700">
            <a:solidFill>
              <a:srgbClr val="F59E0B"/>
            </a:solidFill>
            <a:prstDash val="solid"/>
          </a:ln>
        </p:spPr>
      </p:sp>
      <p:sp>
        <p:nvSpPr>
          <p:cNvPr id="26" name="Text 24"/>
          <p:cNvSpPr/>
          <p:nvPr/>
        </p:nvSpPr>
        <p:spPr>
          <a:xfrm>
            <a:off x="3246120" y="2487168"/>
            <a:ext cx="2514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Ripley Flex: mismo bug en 2 clientes distintos</a:t>
            </a:r>
            <a:endParaRPr lang="en-US" sz="1050" dirty="0"/>
          </a:p>
        </p:txBody>
      </p:sp>
      <p:sp>
        <p:nvSpPr>
          <p:cNvPr id="27" name="Text 25"/>
          <p:cNvSpPr/>
          <p:nvPr/>
        </p:nvSpPr>
        <p:spPr>
          <a:xfrm>
            <a:off x="3264408" y="2807208"/>
            <a:ext cx="2478024" cy="594360"/>
          </a:xfrm>
          <a:prstGeom prst="rect">
            <a:avLst/>
          </a:prstGeom>
          <a:noFill/>
          <a:ln/>
        </p:spPr>
        <p:txBody>
          <a:bodyPr wrap="square" lIns="0" tIns="0" rIns="0" bIns="0" rtlCol="0" anchor="ctr"/>
          <a:lstStyle/>
          <a:p>
            <a:pPr indent="0" marL="0">
              <a:buNone/>
            </a:pPr>
            <a:r>
              <a:rPr lang="en-US" sz="1050" dirty="0">
                <a:solidFill>
                  <a:srgbClr val="0F2137"/>
                </a:solidFill>
                <a:latin typeface="Calibri" pitchFamily="34" charset="0"/>
                <a:ea typeface="Calibri" pitchFamily="34" charset="-122"/>
                <a:cs typeface="Calibri" pitchFamily="34" charset="-120"/>
              </a:rPr>
              <a:t>Tickets #35113 y #34862: pedidos no se importan en Magento.</a:t>
            </a:r>
            <a:endParaRPr lang="en-US" sz="1050" dirty="0"/>
          </a:p>
          <a:p>
            <a:pPr indent="0" marL="0">
              <a:buNone/>
            </a:pPr>
            <a:r>
              <a:rPr lang="en-US" sz="1050" dirty="0">
                <a:solidFill>
                  <a:srgbClr val="0F2137"/>
                </a:solidFill>
                <a:latin typeface="Calibri" pitchFamily="34" charset="0"/>
                <a:ea typeface="Calibri" pitchFamily="34" charset="-122"/>
                <a:cs typeface="Calibri" pitchFamily="34" charset="-120"/>
              </a:rPr>
              <a:t>Mismo error tecnico reportado 2 veces esta semana.</a:t>
            </a:r>
            <a:endParaRPr lang="en-US" sz="1050" dirty="0"/>
          </a:p>
        </p:txBody>
      </p:sp>
      <p:sp>
        <p:nvSpPr>
          <p:cNvPr id="28" name="Shape 26"/>
          <p:cNvSpPr/>
          <p:nvPr/>
        </p:nvSpPr>
        <p:spPr>
          <a:xfrm>
            <a:off x="5989320" y="2487168"/>
            <a:ext cx="2697480" cy="960120"/>
          </a:xfrm>
          <a:prstGeom prst="roundRect">
            <a:avLst>
              <a:gd name="adj" fmla="val 9524"/>
            </a:avLst>
          </a:prstGeom>
          <a:solidFill>
            <a:srgbClr val="F5F3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9" name="Shape 27"/>
          <p:cNvSpPr/>
          <p:nvPr/>
        </p:nvSpPr>
        <p:spPr>
          <a:xfrm>
            <a:off x="5989320" y="2487168"/>
            <a:ext cx="2697480" cy="292608"/>
          </a:xfrm>
          <a:prstGeom prst="roundRect">
            <a:avLst>
              <a:gd name="adj" fmla="val 25000"/>
            </a:avLst>
          </a:prstGeom>
          <a:solidFill>
            <a:srgbClr val="7C3AED"/>
          </a:solidFill>
          <a:ln w="12700">
            <a:solidFill>
              <a:srgbClr val="7C3AED"/>
            </a:solidFill>
            <a:prstDash val="solid"/>
          </a:ln>
        </p:spPr>
      </p:sp>
      <p:sp>
        <p:nvSpPr>
          <p:cNvPr id="30" name="Text 28"/>
          <p:cNvSpPr/>
          <p:nvPr/>
        </p:nvSpPr>
        <p:spPr>
          <a:xfrm>
            <a:off x="6080760" y="2487168"/>
            <a:ext cx="2514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 tickets con mas de 30 dias sin resolucion</a:t>
            </a:r>
            <a:endParaRPr lang="en-US" sz="1050" dirty="0"/>
          </a:p>
        </p:txBody>
      </p:sp>
      <p:sp>
        <p:nvSpPr>
          <p:cNvPr id="31" name="Text 29"/>
          <p:cNvSpPr/>
          <p:nvPr/>
        </p:nvSpPr>
        <p:spPr>
          <a:xfrm>
            <a:off x="6099048" y="2807208"/>
            <a:ext cx="2478024" cy="594360"/>
          </a:xfrm>
          <a:prstGeom prst="rect">
            <a:avLst/>
          </a:prstGeom>
          <a:noFill/>
          <a:ln/>
        </p:spPr>
        <p:txBody>
          <a:bodyPr wrap="square" lIns="0" tIns="0" rIns="0" bIns="0" rtlCol="0" anchor="ctr"/>
          <a:lstStyle/>
          <a:p>
            <a:pPr indent="0" marL="0">
              <a:buNone/>
            </a:pPr>
            <a:r>
              <a:rPr lang="en-US" sz="1050" dirty="0">
                <a:solidFill>
                  <a:srgbClr val="0F2137"/>
                </a:solidFill>
                <a:latin typeface="Calibri" pitchFamily="34" charset="0"/>
                <a:ea typeface="Calibri" pitchFamily="34" charset="-122"/>
                <a:cs typeface="Calibri" pitchFamily="34" charset="-120"/>
              </a:rPr>
              <a:t>#26293 (36d) · #25822 (37d) · #24448 (43d, 2 CSAT negativos).</a:t>
            </a:r>
            <a:endParaRPr lang="en-US" sz="1050" dirty="0"/>
          </a:p>
          <a:p>
            <a:pPr indent="0" marL="0">
              <a:buNone/>
            </a:pPr>
            <a:r>
              <a:rPr lang="en-US" sz="1050" dirty="0">
                <a:solidFill>
                  <a:srgbClr val="0F2137"/>
                </a:solidFill>
                <a:latin typeface="Calibri" pitchFamily="34" charset="0"/>
                <a:ea typeface="Calibri" pitchFamily="34" charset="-122"/>
                <a:cs typeface="Calibri" pitchFamily="34" charset="-120"/>
              </a:rPr>
              <a:t>Falla de SLA que el equipo CS termina absorbiendo.</a:t>
            </a:r>
            <a:endParaRPr lang="en-US" sz="1050" dirty="0"/>
          </a:p>
        </p:txBody>
      </p:sp>
      <p:sp>
        <p:nvSpPr>
          <p:cNvPr id="32" name="Shape 30"/>
          <p:cNvSpPr/>
          <p:nvPr/>
        </p:nvSpPr>
        <p:spPr>
          <a:xfrm>
            <a:off x="320040" y="3566160"/>
            <a:ext cx="8458200" cy="1325880"/>
          </a:xfrm>
          <a:prstGeom prst="roundRect">
            <a:avLst>
              <a:gd name="adj" fmla="val 6897"/>
            </a:avLst>
          </a:prstGeom>
          <a:solidFill>
            <a:srgbClr val="F4F7F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3" name="Text 31"/>
          <p:cNvSpPr/>
          <p:nvPr/>
        </p:nvSpPr>
        <p:spPr>
          <a:xfrm>
            <a:off x="502920" y="3611880"/>
            <a:ext cx="8229600" cy="274320"/>
          </a:xfrm>
          <a:prstGeom prst="rect">
            <a:avLst/>
          </a:prstGeom>
          <a:noFill/>
          <a:ln/>
        </p:spPr>
        <p:txBody>
          <a:bodyPr wrap="square" lIns="0" tIns="0" rIns="0" bIns="0" rtlCol="0" anchor="ctr"/>
          <a:lstStyle/>
          <a:p>
            <a:pPr indent="0" marL="0">
              <a:buNone/>
            </a:pPr>
            <a:r>
              <a:rPr lang="en-US" sz="1200" b="1" dirty="0">
                <a:solidFill>
                  <a:srgbClr val="0F2137"/>
                </a:solidFill>
                <a:latin typeface="Calibri" pitchFamily="34" charset="0"/>
                <a:ea typeface="Calibri" pitchFamily="34" charset="-122"/>
                <a:cs typeface="Calibri" pitchFamily="34" charset="-120"/>
              </a:rPr>
              <a:t>Clientes de la cartera CS con tickets abiertos esta semana:</a:t>
            </a:r>
            <a:endParaRPr lang="en-US" sz="1200" dirty="0"/>
          </a:p>
        </p:txBody>
      </p:sp>
      <p:sp>
        <p:nvSpPr>
          <p:cNvPr id="34" name="Shape 32"/>
          <p:cNvSpPr/>
          <p:nvPr/>
        </p:nvSpPr>
        <p:spPr>
          <a:xfrm>
            <a:off x="457200" y="3950208"/>
            <a:ext cx="2651760" cy="822960"/>
          </a:xfrm>
          <a:prstGeom prst="roundRect">
            <a:avLst>
              <a:gd name="adj" fmla="val 11111"/>
            </a:avLst>
          </a:prstGeom>
          <a:solidFill>
            <a:srgbClr val="FFFFFF"/>
          </a:solidFill>
          <a:ln w="15240">
            <a:solidFill>
              <a:srgbClr val="EF4444"/>
            </a:solidFill>
            <a:prstDash val="solid"/>
          </a:ln>
          <a:effectLst>
            <a:outerShdw sx="100000" sy="100000" kx="0" ky="0" algn="bl" rotWithShape="0" blurRad="101600" dist="38100" dir="2700000">
              <a:srgbClr val="000000">
                <a:alpha val="15000"/>
              </a:srgbClr>
            </a:outerShdw>
          </a:effectLst>
        </p:spPr>
      </p:sp>
      <p:sp>
        <p:nvSpPr>
          <p:cNvPr id="35" name="Text 33"/>
          <p:cNvSpPr/>
          <p:nvPr/>
        </p:nvSpPr>
        <p:spPr>
          <a:xfrm>
            <a:off x="566928" y="3995928"/>
            <a:ext cx="2432304" cy="256032"/>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Cuenta — Peru</a:t>
            </a:r>
            <a:endParaRPr lang="en-US" sz="1200" dirty="0"/>
          </a:p>
        </p:txBody>
      </p:sp>
      <p:sp>
        <p:nvSpPr>
          <p:cNvPr id="36" name="Text 34"/>
          <p:cNvSpPr/>
          <p:nvPr/>
        </p:nvSpPr>
        <p:spPr>
          <a:xfrm>
            <a:off x="566928" y="4233672"/>
            <a:ext cx="2432304" cy="201168"/>
          </a:xfrm>
          <a:prstGeom prst="rect">
            <a:avLst/>
          </a:prstGeom>
          <a:noFill/>
          <a:ln/>
        </p:spPr>
        <p:txBody>
          <a:bodyPr wrap="square" lIns="0" tIns="0" rIns="0" bIns="0" rtlCol="0" anchor="ctr"/>
          <a:lstStyle/>
          <a:p>
            <a:pPr indent="0" marL="0">
              <a:buNone/>
            </a:pPr>
            <a:r>
              <a:rPr lang="en-US" sz="1050" b="1" dirty="0">
                <a:solidFill>
                  <a:srgbClr val="0F2137"/>
                </a:solidFill>
                <a:latin typeface="Calibri" pitchFamily="34" charset="0"/>
                <a:ea typeface="Calibri" pitchFamily="34" charset="-122"/>
                <a:cs typeface="Calibri" pitchFamily="34" charset="-120"/>
              </a:rPr>
              <a:t>2 tickets activos</a:t>
            </a:r>
            <a:endParaRPr lang="en-US" sz="1050" dirty="0"/>
          </a:p>
        </p:txBody>
      </p:sp>
      <p:sp>
        <p:nvSpPr>
          <p:cNvPr id="37" name="Text 35"/>
          <p:cNvSpPr/>
          <p:nvPr/>
        </p:nvSpPr>
        <p:spPr>
          <a:xfrm>
            <a:off x="566928" y="4434840"/>
            <a:ext cx="2432304"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Falabella: publicaciones + imagenes no cargan</a:t>
            </a:r>
            <a:endParaRPr lang="en-US" sz="1000" dirty="0"/>
          </a:p>
        </p:txBody>
      </p:sp>
      <p:sp>
        <p:nvSpPr>
          <p:cNvPr id="38" name="Shape 36"/>
          <p:cNvSpPr/>
          <p:nvPr/>
        </p:nvSpPr>
        <p:spPr>
          <a:xfrm>
            <a:off x="3246120" y="3950208"/>
            <a:ext cx="2651760" cy="822960"/>
          </a:xfrm>
          <a:prstGeom prst="roundRect">
            <a:avLst>
              <a:gd name="adj" fmla="val 11111"/>
            </a:avLst>
          </a:prstGeom>
          <a:solidFill>
            <a:srgbClr val="FFFFFF"/>
          </a:solidFill>
          <a:ln w="15240">
            <a:solidFill>
              <a:srgbClr val="F59E0B"/>
            </a:solidFill>
            <a:prstDash val="solid"/>
          </a:ln>
          <a:effectLst>
            <a:outerShdw sx="100000" sy="100000" kx="0" ky="0" algn="bl" rotWithShape="0" blurRad="101600" dist="38100" dir="2700000">
              <a:srgbClr val="000000">
                <a:alpha val="15000"/>
              </a:srgbClr>
            </a:outerShdw>
          </a:effectLst>
        </p:spPr>
      </p:sp>
      <p:sp>
        <p:nvSpPr>
          <p:cNvPr id="39" name="Text 37"/>
          <p:cNvSpPr/>
          <p:nvPr/>
        </p:nvSpPr>
        <p:spPr>
          <a:xfrm>
            <a:off x="3355848" y="3995928"/>
            <a:ext cx="2432304"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Cuenta — Chile</a:t>
            </a:r>
            <a:endParaRPr lang="en-US" sz="1200" dirty="0"/>
          </a:p>
        </p:txBody>
      </p:sp>
      <p:sp>
        <p:nvSpPr>
          <p:cNvPr id="40" name="Text 38"/>
          <p:cNvSpPr/>
          <p:nvPr/>
        </p:nvSpPr>
        <p:spPr>
          <a:xfrm>
            <a:off x="3355848" y="4233672"/>
            <a:ext cx="2432304" cy="201168"/>
          </a:xfrm>
          <a:prstGeom prst="rect">
            <a:avLst/>
          </a:prstGeom>
          <a:noFill/>
          <a:ln/>
        </p:spPr>
        <p:txBody>
          <a:bodyPr wrap="square" lIns="0" tIns="0" rIns="0" bIns="0" rtlCol="0" anchor="ctr"/>
          <a:lstStyle/>
          <a:p>
            <a:pPr indent="0" marL="0">
              <a:buNone/>
            </a:pPr>
            <a:r>
              <a:rPr lang="en-US" sz="1050" b="1" dirty="0">
                <a:solidFill>
                  <a:srgbClr val="0F2137"/>
                </a:solidFill>
                <a:latin typeface="Calibri" pitchFamily="34" charset="0"/>
                <a:ea typeface="Calibri" pitchFamily="34" charset="-122"/>
                <a:cs typeface="Calibri" pitchFamily="34" charset="-120"/>
              </a:rPr>
              <a:t>1 ticket — 10 dias</a:t>
            </a:r>
            <a:endParaRPr lang="en-US" sz="1050" dirty="0"/>
          </a:p>
        </p:txBody>
      </p:sp>
      <p:sp>
        <p:nvSpPr>
          <p:cNvPr id="41" name="Text 39"/>
          <p:cNvSpPr/>
          <p:nvPr/>
        </p:nvSpPr>
        <p:spPr>
          <a:xfrm>
            <a:off x="3355848" y="4434840"/>
            <a:ext cx="2432304"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Carga de documentos/pedidos — en analisis</a:t>
            </a:r>
            <a:endParaRPr lang="en-US" sz="1000" dirty="0"/>
          </a:p>
        </p:txBody>
      </p:sp>
      <p:sp>
        <p:nvSpPr>
          <p:cNvPr id="42" name="Shape 40"/>
          <p:cNvSpPr/>
          <p:nvPr/>
        </p:nvSpPr>
        <p:spPr>
          <a:xfrm>
            <a:off x="6035040" y="3950208"/>
            <a:ext cx="2651760" cy="822960"/>
          </a:xfrm>
          <a:prstGeom prst="roundRect">
            <a:avLst>
              <a:gd name="adj" fmla="val 11111"/>
            </a:avLst>
          </a:prstGeom>
          <a:solidFill>
            <a:srgbClr val="FFFFFF"/>
          </a:solidFill>
          <a:ln w="15240">
            <a:solidFill>
              <a:srgbClr val="334E68"/>
            </a:solidFill>
            <a:prstDash val="solid"/>
          </a:ln>
          <a:effectLst>
            <a:outerShdw sx="100000" sy="100000" kx="0" ky="0" algn="bl" rotWithShape="0" blurRad="101600" dist="38100" dir="2700000">
              <a:srgbClr val="000000">
                <a:alpha val="15000"/>
              </a:srgbClr>
            </a:outerShdw>
          </a:effectLst>
        </p:spPr>
      </p:sp>
      <p:sp>
        <p:nvSpPr>
          <p:cNvPr id="43" name="Text 41"/>
          <p:cNvSpPr/>
          <p:nvPr/>
        </p:nvSpPr>
        <p:spPr>
          <a:xfrm>
            <a:off x="6144768" y="3995928"/>
            <a:ext cx="2432304" cy="256032"/>
          </a:xfrm>
          <a:prstGeom prst="rect">
            <a:avLst/>
          </a:prstGeom>
          <a:noFill/>
          <a:ln/>
        </p:spPr>
        <p:txBody>
          <a:bodyPr wrap="square" lIns="0" tIns="0" rIns="0" bIns="0" rtlCol="0" anchor="ctr"/>
          <a:lstStyle/>
          <a:p>
            <a:pPr indent="0" marL="0">
              <a:buNone/>
            </a:pPr>
            <a:r>
              <a:rPr lang="en-US" sz="1200" b="1" dirty="0">
                <a:solidFill>
                  <a:srgbClr val="334E68"/>
                </a:solidFill>
                <a:latin typeface="Calibri" pitchFamily="34" charset="0"/>
                <a:ea typeface="Calibri" pitchFamily="34" charset="-122"/>
                <a:cs typeface="Calibri" pitchFamily="34" charset="-120"/>
              </a:rPr>
              <a:t>Cuenta — Chile (Centry)</a:t>
            </a:r>
            <a:endParaRPr lang="en-US" sz="1200" dirty="0"/>
          </a:p>
        </p:txBody>
      </p:sp>
      <p:sp>
        <p:nvSpPr>
          <p:cNvPr id="44" name="Text 42"/>
          <p:cNvSpPr/>
          <p:nvPr/>
        </p:nvSpPr>
        <p:spPr>
          <a:xfrm>
            <a:off x="6144768" y="4233672"/>
            <a:ext cx="2432304" cy="201168"/>
          </a:xfrm>
          <a:prstGeom prst="rect">
            <a:avLst/>
          </a:prstGeom>
          <a:noFill/>
          <a:ln/>
        </p:spPr>
        <p:txBody>
          <a:bodyPr wrap="square" lIns="0" tIns="0" rIns="0" bIns="0" rtlCol="0" anchor="ctr"/>
          <a:lstStyle/>
          <a:p>
            <a:pPr indent="0" marL="0">
              <a:buNone/>
            </a:pPr>
            <a:r>
              <a:rPr lang="en-US" sz="1050" b="1" dirty="0">
                <a:solidFill>
                  <a:srgbClr val="0F2137"/>
                </a:solidFill>
                <a:latin typeface="Calibri" pitchFamily="34" charset="0"/>
                <a:ea typeface="Calibri" pitchFamily="34" charset="-122"/>
                <a:cs typeface="Calibri" pitchFamily="34" charset="-120"/>
              </a:rPr>
              <a:t>1 ticket activo</a:t>
            </a:r>
            <a:endParaRPr lang="en-US" sz="1050" dirty="0"/>
          </a:p>
        </p:txBody>
      </p:sp>
      <p:sp>
        <p:nvSpPr>
          <p:cNvPr id="45" name="Text 43"/>
          <p:cNvSpPr/>
          <p:nvPr/>
        </p:nvSpPr>
        <p:spPr>
          <a:xfrm>
            <a:off x="6144768" y="4434840"/>
            <a:ext cx="2432304"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Precios en Venta Full MKP</a:t>
            </a:r>
            <a:endParaRPr lang="en-US" sz="1000" dirty="0"/>
          </a:p>
        </p:txBody>
      </p:sp>
      <p:sp>
        <p:nvSpPr>
          <p:cNvPr id="46" name="Text 44"/>
          <p:cNvSpPr/>
          <p:nvPr/>
        </p:nvSpPr>
        <p:spPr>
          <a:xfrm>
            <a:off x="365760" y="4919472"/>
            <a:ext cx="8412480" cy="201168"/>
          </a:xfrm>
          <a:prstGeom prst="rect">
            <a:avLst/>
          </a:prstGeom>
          <a:noFill/>
          <a:ln/>
        </p:spPr>
        <p:txBody>
          <a:bodyPr wrap="square" lIns="0" tIns="0" rIns="0" bIns="0" rtlCol="0" anchor="ctr"/>
          <a:lstStyle/>
          <a:p>
            <a:pPr indent="0" marL="0">
              <a:buNone/>
            </a:pPr>
            <a:r>
              <a:rPr lang="en-US" sz="900" i="1" dirty="0">
                <a:solidFill>
                  <a:srgbClr val="7B93AA"/>
                </a:solidFill>
                <a:latin typeface="Calibri" pitchFamily="34" charset="0"/>
                <a:ea typeface="Calibri" pitchFamily="34" charset="-122"/>
                <a:cs typeface="Calibri" pitchFamily="34" charset="-120"/>
              </a:rPr>
              <a:t>Fuente: Zendesk API — db1globalsoftwaresupport.zendesk.com — 10 julio 2026. Cartera completa LATAM: 26 tickets abiertos.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457200" y="201168"/>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RESPUESTA ESTRATEGICA H2 2026</a:t>
            </a:r>
            <a:endParaRPr lang="en-US" sz="1000" dirty="0"/>
          </a:p>
        </p:txBody>
      </p:sp>
      <p:sp>
        <p:nvSpPr>
          <p:cNvPr id="5" name="Text 3"/>
          <p:cNvSpPr/>
          <p:nvPr/>
        </p:nvSpPr>
        <p:spPr>
          <a:xfrm>
            <a:off x="457200" y="457200"/>
            <a:ext cx="8229600" cy="56692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Los 5 OKRs del equipo CS</a:t>
            </a:r>
            <a:endParaRPr lang="en-US" sz="3000" dirty="0"/>
          </a:p>
        </p:txBody>
      </p:sp>
      <p:sp>
        <p:nvSpPr>
          <p:cNvPr id="6" name="Shape 4"/>
          <p:cNvSpPr/>
          <p:nvPr/>
        </p:nvSpPr>
        <p:spPr>
          <a:xfrm>
            <a:off x="365760" y="1261872"/>
            <a:ext cx="4206240" cy="1691640"/>
          </a:xfrm>
          <a:prstGeom prst="roundRect">
            <a:avLst>
              <a:gd name="adj" fmla="val 6486"/>
            </a:avLst>
          </a:prstGeom>
          <a:solidFill>
            <a:srgbClr val="162840"/>
          </a:solidFill>
          <a:ln w="19050">
            <a:solidFill>
              <a:srgbClr val="3B82F6"/>
            </a:solidFill>
            <a:prstDash val="solid"/>
          </a:ln>
        </p:spPr>
      </p:sp>
      <p:sp>
        <p:nvSpPr>
          <p:cNvPr id="7" name="Text 5"/>
          <p:cNvSpPr/>
          <p:nvPr/>
        </p:nvSpPr>
        <p:spPr>
          <a:xfrm>
            <a:off x="530352" y="1353312"/>
            <a:ext cx="3931920" cy="256032"/>
          </a:xfrm>
          <a:prstGeom prst="rect">
            <a:avLst/>
          </a:prstGeom>
          <a:noFill/>
          <a:ln/>
        </p:spPr>
        <p:txBody>
          <a:bodyPr wrap="square" lIns="0" tIns="0" rIns="0" bIns="0" rtlCol="0" anchor="ctr"/>
          <a:lstStyle/>
          <a:p>
            <a:pPr indent="0" marL="0">
              <a:buNone/>
            </a:pPr>
            <a:r>
              <a:rPr lang="en-US" sz="1000" b="1" spc="300" kern="0" dirty="0">
                <a:solidFill>
                  <a:srgbClr val="3B82F6"/>
                </a:solidFill>
                <a:latin typeface="Calibri" pitchFamily="34" charset="0"/>
                <a:ea typeface="Calibri" pitchFamily="34" charset="-122"/>
                <a:cs typeface="Calibri" pitchFamily="34" charset="-120"/>
              </a:rPr>
              <a:t>OKR 1</a:t>
            </a:r>
            <a:endParaRPr lang="en-US" sz="1000" dirty="0"/>
          </a:p>
        </p:txBody>
      </p:sp>
      <p:sp>
        <p:nvSpPr>
          <p:cNvPr id="8" name="Text 6"/>
          <p:cNvSpPr/>
          <p:nvPr/>
        </p:nvSpPr>
        <p:spPr>
          <a:xfrm>
            <a:off x="530352" y="1609344"/>
            <a:ext cx="3931920" cy="43891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Visibilidad Completa</a:t>
            </a:r>
            <a:endParaRPr lang="en-US" sz="1700" dirty="0"/>
          </a:p>
        </p:txBody>
      </p:sp>
      <p:sp>
        <p:nvSpPr>
          <p:cNvPr id="9" name="Text 7"/>
          <p:cNvSpPr/>
          <p:nvPr/>
        </p:nvSpPr>
        <p:spPr>
          <a:xfrm>
            <a:off x="530352" y="2084832"/>
            <a:ext cx="393192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100% cartera con datos basicos</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GMV + NPS + Tickets + Contacto</a:t>
            </a:r>
            <a:endParaRPr lang="en-US" sz="1200" dirty="0"/>
          </a:p>
        </p:txBody>
      </p:sp>
      <p:sp>
        <p:nvSpPr>
          <p:cNvPr id="10" name="Shape 8"/>
          <p:cNvSpPr/>
          <p:nvPr/>
        </p:nvSpPr>
        <p:spPr>
          <a:xfrm>
            <a:off x="4754880" y="1261872"/>
            <a:ext cx="4206240" cy="1691640"/>
          </a:xfrm>
          <a:prstGeom prst="roundRect">
            <a:avLst>
              <a:gd name="adj" fmla="val 6486"/>
            </a:avLst>
          </a:prstGeom>
          <a:solidFill>
            <a:srgbClr val="162840"/>
          </a:solidFill>
          <a:ln w="19050">
            <a:solidFill>
              <a:srgbClr val="0F9B8E"/>
            </a:solidFill>
            <a:prstDash val="solid"/>
          </a:ln>
        </p:spPr>
      </p:sp>
      <p:sp>
        <p:nvSpPr>
          <p:cNvPr id="11" name="Text 9"/>
          <p:cNvSpPr/>
          <p:nvPr/>
        </p:nvSpPr>
        <p:spPr>
          <a:xfrm>
            <a:off x="4919472" y="1353312"/>
            <a:ext cx="3931920" cy="256032"/>
          </a:xfrm>
          <a:prstGeom prst="rect">
            <a:avLst/>
          </a:prstGeom>
          <a:noFill/>
          <a:ln/>
        </p:spPr>
        <p:txBody>
          <a:bodyPr wrap="square" lIns="0" tIns="0" rIns="0" bIns="0" rtlCol="0" anchor="ctr"/>
          <a:lstStyle/>
          <a:p>
            <a:pPr indent="0" marL="0">
              <a:buNone/>
            </a:pPr>
            <a:r>
              <a:rPr lang="en-US" sz="1000" b="1" spc="300" kern="0" dirty="0">
                <a:solidFill>
                  <a:srgbClr val="0F9B8E"/>
                </a:solidFill>
                <a:latin typeface="Calibri" pitchFamily="34" charset="0"/>
                <a:ea typeface="Calibri" pitchFamily="34" charset="-122"/>
                <a:cs typeface="Calibri" pitchFamily="34" charset="-120"/>
              </a:rPr>
              <a:t>OKR 2</a:t>
            </a:r>
            <a:endParaRPr lang="en-US" sz="1000" dirty="0"/>
          </a:p>
        </p:txBody>
      </p:sp>
      <p:sp>
        <p:nvSpPr>
          <p:cNvPr id="12" name="Text 10"/>
          <p:cNvSpPr/>
          <p:nvPr/>
        </p:nvSpPr>
        <p:spPr>
          <a:xfrm>
            <a:off x="4919472" y="1609344"/>
            <a:ext cx="3931920" cy="43891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Activacion y Adopcion</a:t>
            </a:r>
            <a:endParaRPr lang="en-US" sz="1700" dirty="0"/>
          </a:p>
        </p:txBody>
      </p:sp>
      <p:sp>
        <p:nvSpPr>
          <p:cNvPr id="13" name="Text 11"/>
          <p:cNvSpPr/>
          <p:nvPr/>
        </p:nvSpPr>
        <p:spPr>
          <a:xfrm>
            <a:off x="4919472" y="2084832"/>
            <a:ext cx="393192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Adopcion UP: 34% -&gt; 50%</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0 clientes criticos (&lt;15%) sin plan</a:t>
            </a:r>
            <a:endParaRPr lang="en-US" sz="1200" dirty="0"/>
          </a:p>
        </p:txBody>
      </p:sp>
      <p:sp>
        <p:nvSpPr>
          <p:cNvPr id="14" name="Shape 12"/>
          <p:cNvSpPr/>
          <p:nvPr/>
        </p:nvSpPr>
        <p:spPr>
          <a:xfrm>
            <a:off x="365760" y="3063240"/>
            <a:ext cx="2651760" cy="1691640"/>
          </a:xfrm>
          <a:prstGeom prst="roundRect">
            <a:avLst>
              <a:gd name="adj" fmla="val 6486"/>
            </a:avLst>
          </a:prstGeom>
          <a:solidFill>
            <a:srgbClr val="162840"/>
          </a:solidFill>
          <a:ln w="19050">
            <a:solidFill>
              <a:srgbClr val="F59E0B"/>
            </a:solidFill>
            <a:prstDash val="solid"/>
          </a:ln>
        </p:spPr>
      </p:sp>
      <p:sp>
        <p:nvSpPr>
          <p:cNvPr id="15" name="Text 13"/>
          <p:cNvSpPr/>
          <p:nvPr/>
        </p:nvSpPr>
        <p:spPr>
          <a:xfrm>
            <a:off x="530352" y="3154680"/>
            <a:ext cx="2377440" cy="256032"/>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OKR 3</a:t>
            </a:r>
            <a:endParaRPr lang="en-US" sz="1000" dirty="0"/>
          </a:p>
        </p:txBody>
      </p:sp>
      <p:sp>
        <p:nvSpPr>
          <p:cNvPr id="16" name="Text 14"/>
          <p:cNvSpPr/>
          <p:nvPr/>
        </p:nvSpPr>
        <p:spPr>
          <a:xfrm>
            <a:off x="530352" y="3410712"/>
            <a:ext cx="2377440" cy="43891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Proteccion de Revenue</a:t>
            </a:r>
            <a:endParaRPr lang="en-US" sz="1500" dirty="0"/>
          </a:p>
        </p:txBody>
      </p:sp>
      <p:sp>
        <p:nvSpPr>
          <p:cNvPr id="17" name="Text 15"/>
          <p:cNvSpPr/>
          <p:nvPr/>
        </p:nvSpPr>
        <p:spPr>
          <a:xfrm>
            <a:off x="530352" y="3886200"/>
            <a:ext cx="237744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Protocolo operacional CS → Soporte activo</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0 churns no anticipados en H2 2026</a:t>
            </a:r>
            <a:endParaRPr lang="en-US" sz="1200" dirty="0"/>
          </a:p>
        </p:txBody>
      </p:sp>
      <p:sp>
        <p:nvSpPr>
          <p:cNvPr id="18" name="Shape 16"/>
          <p:cNvSpPr/>
          <p:nvPr/>
        </p:nvSpPr>
        <p:spPr>
          <a:xfrm>
            <a:off x="3154680" y="3063240"/>
            <a:ext cx="2651760" cy="1691640"/>
          </a:xfrm>
          <a:prstGeom prst="roundRect">
            <a:avLst>
              <a:gd name="adj" fmla="val 6486"/>
            </a:avLst>
          </a:prstGeom>
          <a:solidFill>
            <a:srgbClr val="162840"/>
          </a:solidFill>
          <a:ln w="19050">
            <a:solidFill>
              <a:srgbClr val="7C3AED"/>
            </a:solidFill>
            <a:prstDash val="solid"/>
          </a:ln>
        </p:spPr>
      </p:sp>
      <p:sp>
        <p:nvSpPr>
          <p:cNvPr id="19" name="Text 17"/>
          <p:cNvSpPr/>
          <p:nvPr/>
        </p:nvSpPr>
        <p:spPr>
          <a:xfrm>
            <a:off x="3319272" y="3154680"/>
            <a:ext cx="2377440" cy="256032"/>
          </a:xfrm>
          <a:prstGeom prst="rect">
            <a:avLst/>
          </a:prstGeom>
          <a:noFill/>
          <a:ln/>
        </p:spPr>
        <p:txBody>
          <a:bodyPr wrap="square" lIns="0" tIns="0" rIns="0" bIns="0" rtlCol="0" anchor="ctr"/>
          <a:lstStyle/>
          <a:p>
            <a:pPr indent="0" marL="0">
              <a:buNone/>
            </a:pPr>
            <a:r>
              <a:rPr lang="en-US" sz="1000" b="1" spc="300" kern="0" dirty="0">
                <a:solidFill>
                  <a:srgbClr val="7C3AED"/>
                </a:solidFill>
                <a:latin typeface="Calibri" pitchFamily="34" charset="0"/>
                <a:ea typeface="Calibri" pitchFamily="34" charset="-122"/>
                <a:cs typeface="Calibri" pitchFamily="34" charset="-120"/>
              </a:rPr>
              <a:t>OKR 4</a:t>
            </a:r>
            <a:endParaRPr lang="en-US" sz="1000" dirty="0"/>
          </a:p>
        </p:txBody>
      </p:sp>
      <p:sp>
        <p:nvSpPr>
          <p:cNvPr id="20" name="Text 18"/>
          <p:cNvSpPr/>
          <p:nvPr/>
        </p:nvSpPr>
        <p:spPr>
          <a:xfrm>
            <a:off x="3319272" y="3410712"/>
            <a:ext cx="2377440" cy="43891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Migracion Centry</a:t>
            </a:r>
            <a:endParaRPr lang="en-US" sz="1500" dirty="0"/>
          </a:p>
        </p:txBody>
      </p:sp>
      <p:sp>
        <p:nvSpPr>
          <p:cNvPr id="21" name="Text 19"/>
          <p:cNvSpPr/>
          <p:nvPr/>
        </p:nvSpPr>
        <p:spPr>
          <a:xfrm>
            <a:off x="3319272" y="3886200"/>
            <a:ext cx="237744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6 clientes migrados a AnyMarket</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con adopcion desde dia 1</a:t>
            </a:r>
            <a:endParaRPr lang="en-US" sz="1200" dirty="0"/>
          </a:p>
        </p:txBody>
      </p:sp>
      <p:sp>
        <p:nvSpPr>
          <p:cNvPr id="22" name="Shape 20"/>
          <p:cNvSpPr/>
          <p:nvPr/>
        </p:nvSpPr>
        <p:spPr>
          <a:xfrm>
            <a:off x="5943600" y="3063240"/>
            <a:ext cx="2834640" cy="1691640"/>
          </a:xfrm>
          <a:prstGeom prst="roundRect">
            <a:avLst>
              <a:gd name="adj" fmla="val 6486"/>
            </a:avLst>
          </a:prstGeom>
          <a:solidFill>
            <a:srgbClr val="162840"/>
          </a:solidFill>
          <a:ln w="19050">
            <a:solidFill>
              <a:srgbClr val="F2A71B"/>
            </a:solidFill>
            <a:prstDash val="solid"/>
          </a:ln>
        </p:spPr>
      </p:sp>
      <p:sp>
        <p:nvSpPr>
          <p:cNvPr id="23" name="Text 21"/>
          <p:cNvSpPr/>
          <p:nvPr/>
        </p:nvSpPr>
        <p:spPr>
          <a:xfrm>
            <a:off x="6108192" y="3154680"/>
            <a:ext cx="2560320" cy="256032"/>
          </a:xfrm>
          <a:prstGeom prst="rect">
            <a:avLst/>
          </a:prstGeom>
          <a:noFill/>
          <a:ln/>
        </p:spPr>
        <p:txBody>
          <a:bodyPr wrap="square" lIns="0" tIns="0" rIns="0" bIns="0" rtlCol="0" anchor="ctr"/>
          <a:lstStyle/>
          <a:p>
            <a:pPr indent="0" marL="0">
              <a:buNone/>
            </a:pPr>
            <a:r>
              <a:rPr lang="en-US" sz="1000" b="1" spc="300" kern="0" dirty="0">
                <a:solidFill>
                  <a:srgbClr val="F2A71B"/>
                </a:solidFill>
                <a:latin typeface="Calibri" pitchFamily="34" charset="0"/>
                <a:ea typeface="Calibri" pitchFamily="34" charset="-122"/>
                <a:cs typeface="Calibri" pitchFamily="34" charset="-120"/>
              </a:rPr>
              <a:t>OKR 5</a:t>
            </a:r>
            <a:endParaRPr lang="en-US" sz="1000" dirty="0"/>
          </a:p>
        </p:txBody>
      </p:sp>
      <p:sp>
        <p:nvSpPr>
          <p:cNvPr id="24" name="Text 22"/>
          <p:cNvSpPr/>
          <p:nvPr/>
        </p:nvSpPr>
        <p:spPr>
          <a:xfrm>
            <a:off x="6108192" y="3410712"/>
            <a:ext cx="2560320" cy="43891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Expansion Comprobada</a:t>
            </a:r>
            <a:endParaRPr lang="en-US" sz="1500" dirty="0"/>
          </a:p>
        </p:txBody>
      </p:sp>
      <p:sp>
        <p:nvSpPr>
          <p:cNvPr id="25" name="Text 23"/>
          <p:cNvSpPr/>
          <p:nvPr/>
        </p:nvSpPr>
        <p:spPr>
          <a:xfrm>
            <a:off x="6108192" y="3886200"/>
            <a:ext cx="256032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3 QBRs Enterprise realizados</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3 nuevos contratos AnyTools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3B82F6"/>
                </a:solidFill>
                <a:latin typeface="Calibri" pitchFamily="34" charset="0"/>
                <a:ea typeface="Calibri" pitchFamily="34" charset="-122"/>
                <a:cs typeface="Calibri" pitchFamily="34" charset="-120"/>
              </a:rPr>
              <a:t>OKR 1</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Visibilidad Completa de la Cartera</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Tener datos reales y actualizados de GMV, NPS, tickets y ultimo contacto para el 100% de los clientes activos</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1.1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Consultar y registrar GMV de los 29 clientes activos en Power BI antes del 31 de julio</a:t>
            </a:r>
            <a:endParaRPr lang="en-US" sz="1300" dirty="0"/>
          </a:p>
        </p:txBody>
      </p:sp>
      <p:sp>
        <p:nvSpPr>
          <p:cNvPr id="8" name="Shape 6"/>
          <p:cNvSpPr/>
          <p:nvPr/>
        </p:nvSpPr>
        <p:spPr>
          <a:xfrm>
            <a:off x="6949440" y="1664208"/>
            <a:ext cx="1097280" cy="274320"/>
          </a:xfrm>
          <a:prstGeom prst="roundRect">
            <a:avLst>
              <a:gd name="adj" fmla="val 50000"/>
            </a:avLst>
          </a:prstGeom>
          <a:solidFill>
            <a:srgbClr val="3B82F6"/>
          </a:solidFill>
          <a:ln w="12700">
            <a:solidFill>
              <a:srgbClr val="3B82F6"/>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29 clientes</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1.2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Obtener NPS actualizado de TrackSale para el 100% de la cartera activa antes de agosto</a:t>
            </a:r>
            <a:endParaRPr lang="en-US" sz="1300" dirty="0"/>
          </a:p>
        </p:txBody>
      </p:sp>
      <p:sp>
        <p:nvSpPr>
          <p:cNvPr id="14" name="Shape 12"/>
          <p:cNvSpPr/>
          <p:nvPr/>
        </p:nvSpPr>
        <p:spPr>
          <a:xfrm>
            <a:off x="6949440" y="2459736"/>
            <a:ext cx="1097280" cy="274320"/>
          </a:xfrm>
          <a:prstGeom prst="roundRect">
            <a:avLst>
              <a:gd name="adj" fmla="val 50000"/>
            </a:avLst>
          </a:prstGeom>
          <a:solidFill>
            <a:srgbClr val="3B82F6"/>
          </a:solidFill>
          <a:ln w="12700">
            <a:solidFill>
              <a:srgbClr val="3B82F6"/>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100% NPS</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1.3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Registrar ultimo contacto en HubSpot para todos los clientes — identificar gaps &gt; 45 dias</a:t>
            </a:r>
            <a:endParaRPr lang="en-US" sz="1300" dirty="0"/>
          </a:p>
        </p:txBody>
      </p:sp>
      <p:sp>
        <p:nvSpPr>
          <p:cNvPr id="20" name="Shape 18"/>
          <p:cNvSpPr/>
          <p:nvPr/>
        </p:nvSpPr>
        <p:spPr>
          <a:xfrm>
            <a:off x="6949440" y="3255264"/>
            <a:ext cx="1097280" cy="274320"/>
          </a:xfrm>
          <a:prstGeom prst="roundRect">
            <a:avLst>
              <a:gd name="adj" fmla="val 50000"/>
            </a:avLst>
          </a:prstGeom>
          <a:solidFill>
            <a:srgbClr val="3B82F6"/>
          </a:solidFill>
          <a:ln w="12700">
            <a:solidFill>
              <a:srgbClr val="3B82F6"/>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 gaps</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1.4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Calcular Health Score confiable para el 100% de la cartera activa una vez con datos completos</a:t>
            </a:r>
            <a:endParaRPr lang="en-US" sz="1300" dirty="0"/>
          </a:p>
        </p:txBody>
      </p:sp>
      <p:sp>
        <p:nvSpPr>
          <p:cNvPr id="26" name="Shape 24"/>
          <p:cNvSpPr/>
          <p:nvPr/>
        </p:nvSpPr>
        <p:spPr>
          <a:xfrm>
            <a:off x="6949440" y="4050792"/>
            <a:ext cx="1097280" cy="274320"/>
          </a:xfrm>
          <a:prstGeom prst="roundRect">
            <a:avLst>
              <a:gd name="adj" fmla="val 50000"/>
            </a:avLst>
          </a:prstGeom>
          <a:solidFill>
            <a:srgbClr val="3B82F6"/>
          </a:solidFill>
          <a:ln w="12700">
            <a:solidFill>
              <a:srgbClr val="3B82F6"/>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100% HS</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Lead</a:t>
            </a:r>
            <a:endParaRPr lang="en-US" sz="900" dirty="0"/>
          </a:p>
        </p:txBody>
      </p:sp>
      <p:sp>
        <p:nvSpPr>
          <p:cNvPr id="29" name="Shape 27"/>
          <p:cNvSpPr/>
          <p:nvPr/>
        </p:nvSpPr>
        <p:spPr>
          <a:xfrm>
            <a:off x="365760" y="4736592"/>
            <a:ext cx="8412480" cy="274320"/>
          </a:xfrm>
          <a:prstGeom prst="roundRect">
            <a:avLst>
              <a:gd name="adj" fmla="val 33333"/>
            </a:avLst>
          </a:prstGeom>
          <a:solidFill>
            <a:srgbClr val="EFF6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1E40AF"/>
                </a:solidFill>
                <a:latin typeface="Calibri" pitchFamily="34" charset="0"/>
                <a:ea typeface="Calibri" pitchFamily="34" charset="-122"/>
                <a:cs typeface="Calibri" pitchFamily="34" charset="-120"/>
              </a:rPr>
              <a:t>Estado actual: 0 clientes con Health Score calculable con datos completos. Sin GMV ni NPS verificados, el Health Score del dashboard es referencial, no confiable.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0F9B8E"/>
                </a:solidFill>
                <a:latin typeface="Calibri" pitchFamily="34" charset="0"/>
                <a:ea typeface="Calibri" pitchFamily="34" charset="-122"/>
                <a:cs typeface="Calibri" pitchFamily="34" charset="-120"/>
              </a:rPr>
              <a:t>OKR 2</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Activacion y Adopcion de la Plataforma</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Subir la adopcion promedio de Use Points de 34% a 50% y eliminar los clientes en nivel critico (&lt;15%)</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2.1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Aumentar adopcion promedio UP de 34% a 50% para diciembre 2026 (base: Power BI julio)</a:t>
            </a:r>
            <a:endParaRPr lang="en-US" sz="1300" dirty="0"/>
          </a:p>
        </p:txBody>
      </p:sp>
      <p:sp>
        <p:nvSpPr>
          <p:cNvPr id="8" name="Shape 6"/>
          <p:cNvSpPr/>
          <p:nvPr/>
        </p:nvSpPr>
        <p:spPr>
          <a:xfrm>
            <a:off x="6949440" y="1664208"/>
            <a:ext cx="1097280" cy="274320"/>
          </a:xfrm>
          <a:prstGeom prst="roundRect">
            <a:avLst>
              <a:gd name="adj" fmla="val 50000"/>
            </a:avLst>
          </a:prstGeom>
          <a:solidFill>
            <a:srgbClr val="0F9B8E"/>
          </a:solidFill>
          <a:ln w="12700">
            <a:solidFill>
              <a:srgbClr val="0F9B8E"/>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34% -&gt; 50%</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2.2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Plan de activacion activo para cada cliente con UP &lt; 15% — sesiones personalizadas documentadas</a:t>
            </a:r>
            <a:endParaRPr lang="en-US" sz="1300" dirty="0"/>
          </a:p>
        </p:txBody>
      </p:sp>
      <p:sp>
        <p:nvSpPr>
          <p:cNvPr id="14" name="Shape 12"/>
          <p:cNvSpPr/>
          <p:nvPr/>
        </p:nvSpPr>
        <p:spPr>
          <a:xfrm>
            <a:off x="6949440" y="2459736"/>
            <a:ext cx="1097280" cy="274320"/>
          </a:xfrm>
          <a:prstGeom prst="roundRect">
            <a:avLst>
              <a:gd name="adj" fmla="val 50000"/>
            </a:avLst>
          </a:prstGeom>
          <a:solidFill>
            <a:srgbClr val="0F9B8E"/>
          </a:solidFill>
          <a:ln w="12700">
            <a:solidFill>
              <a:srgbClr val="0F9B8E"/>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 sin plan</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CSM resp.</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2.3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Documentar playbook de activacion basado en los mejores performers del equipo y replicarlo en 3 cuentas</a:t>
            </a:r>
            <a:endParaRPr lang="en-US" sz="1300" dirty="0"/>
          </a:p>
        </p:txBody>
      </p:sp>
      <p:sp>
        <p:nvSpPr>
          <p:cNvPr id="20" name="Shape 18"/>
          <p:cNvSpPr/>
          <p:nvPr/>
        </p:nvSpPr>
        <p:spPr>
          <a:xfrm>
            <a:off x="6949440" y="3255264"/>
            <a:ext cx="1097280" cy="274320"/>
          </a:xfrm>
          <a:prstGeom prst="roundRect">
            <a:avLst>
              <a:gd name="adj" fmla="val 50000"/>
            </a:avLst>
          </a:prstGeom>
          <a:solidFill>
            <a:srgbClr val="0F9B8E"/>
          </a:solidFill>
          <a:ln w="12700">
            <a:solidFill>
              <a:srgbClr val="0F9B8E"/>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playbook</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Lead</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2.4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0 clientes activos con menos de 15% de UP sin un plan de adopcion activo documentado</a:t>
            </a:r>
            <a:endParaRPr lang="en-US" sz="1300" dirty="0"/>
          </a:p>
        </p:txBody>
      </p:sp>
      <p:sp>
        <p:nvSpPr>
          <p:cNvPr id="26" name="Shape 24"/>
          <p:cNvSpPr/>
          <p:nvPr/>
        </p:nvSpPr>
        <p:spPr>
          <a:xfrm>
            <a:off x="6949440" y="4050792"/>
            <a:ext cx="1097280" cy="274320"/>
          </a:xfrm>
          <a:prstGeom prst="roundRect">
            <a:avLst>
              <a:gd name="adj" fmla="val 50000"/>
            </a:avLst>
          </a:prstGeom>
          <a:solidFill>
            <a:srgbClr val="0F9B8E"/>
          </a:solidFill>
          <a:ln w="12700">
            <a:solidFill>
              <a:srgbClr val="0F9B8E"/>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 criticos</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29" name="Shape 27"/>
          <p:cNvSpPr/>
          <p:nvPr/>
        </p:nvSpPr>
        <p:spPr>
          <a:xfrm>
            <a:off x="365760" y="4736592"/>
            <a:ext cx="8412480" cy="274320"/>
          </a:xfrm>
          <a:prstGeom prst="roundRect">
            <a:avLst>
              <a:gd name="adj" fmla="val 33333"/>
            </a:avLst>
          </a:prstGeom>
          <a:solidFill>
            <a:srgbClr val="F0FDFA"/>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0F766E"/>
                </a:solidFill>
                <a:latin typeface="Calibri" pitchFamily="34" charset="0"/>
                <a:ea typeface="Calibri" pitchFamily="34" charset="-122"/>
                <a:cs typeface="Calibri" pitchFamily="34" charset="-120"/>
              </a:rPr>
              <a:t>Base real: promedio cartera activa 34% UP (Power BI julio 2026). 0 clientes en nivel ALTO (&gt;70%). El equipo tiene los benchmarks internos — el objetivo es documentarlos y replicarlos.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OKR 3</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Proteccion de Revenue y Retenccion</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Resolver los casos criticos confirmados y garantizar que ningun churn sea una sorpresa en H2 2026</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KR 3.1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Health Recovery Plan activo en HubSpot para cada cuenta con NPS negativo — primera accion en &lt; 5 dias</a:t>
            </a:r>
            <a:endParaRPr lang="en-US" sz="1300" dirty="0"/>
          </a:p>
        </p:txBody>
      </p:sp>
      <p:sp>
        <p:nvSpPr>
          <p:cNvPr id="8" name="Shape 6"/>
          <p:cNvSpPr/>
          <p:nvPr/>
        </p:nvSpPr>
        <p:spPr>
          <a:xfrm>
            <a:off x="6949440" y="1664208"/>
            <a:ext cx="1097280" cy="274320"/>
          </a:xfrm>
          <a:prstGeom prst="roundRect">
            <a:avLst>
              <a:gd name="adj" fmla="val 50000"/>
            </a:avLst>
          </a:prstGeom>
          <a:solidFill>
            <a:srgbClr val="F59E0B"/>
          </a:solidFill>
          <a:ln w="12700">
            <a:solidFill>
              <a:srgbClr val="F59E0B"/>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Plan activo</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CSM resp.</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KR 3.2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Protocolo formal CS → Soporte para incidentes criticos (pedidos sin ERP, publicaciones) con SLA de escalacion &lt; 4h</a:t>
            </a:r>
            <a:endParaRPr lang="en-US" sz="1300" dirty="0"/>
          </a:p>
        </p:txBody>
      </p:sp>
      <p:sp>
        <p:nvSpPr>
          <p:cNvPr id="14" name="Shape 12"/>
          <p:cNvSpPr/>
          <p:nvPr/>
        </p:nvSpPr>
        <p:spPr>
          <a:xfrm>
            <a:off x="6949440" y="2459736"/>
            <a:ext cx="1097280" cy="274320"/>
          </a:xfrm>
          <a:prstGeom prst="roundRect">
            <a:avLst>
              <a:gd name="adj" fmla="val 50000"/>
            </a:avLst>
          </a:prstGeom>
          <a:solidFill>
            <a:srgbClr val="F59E0B"/>
          </a:solidFill>
          <a:ln w="12700">
            <a:solidFill>
              <a:srgbClr val="F59E0B"/>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SLA 4h</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 Soporte</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KR 3.3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0 tickets de clientes cartera CS con mas de 15 dias abiertos sin follow-up documentado por CS</a:t>
            </a:r>
            <a:endParaRPr lang="en-US" sz="1300" dirty="0"/>
          </a:p>
        </p:txBody>
      </p:sp>
      <p:sp>
        <p:nvSpPr>
          <p:cNvPr id="20" name="Shape 18"/>
          <p:cNvSpPr/>
          <p:nvPr/>
        </p:nvSpPr>
        <p:spPr>
          <a:xfrm>
            <a:off x="6949440" y="3255264"/>
            <a:ext cx="1097280" cy="274320"/>
          </a:xfrm>
          <a:prstGeom prst="roundRect">
            <a:avLst>
              <a:gd name="adj" fmla="val 50000"/>
            </a:avLst>
          </a:prstGeom>
          <a:solidFill>
            <a:srgbClr val="F59E0B"/>
          </a:solidFill>
          <a:ln w="12700">
            <a:solidFill>
              <a:srgbClr val="F59E0B"/>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 cronicos</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KR 3.4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100% de renovaciones del H2 iniciadas con al menos 90 dias de anticipacion</a:t>
            </a:r>
            <a:endParaRPr lang="en-US" sz="1300" dirty="0"/>
          </a:p>
        </p:txBody>
      </p:sp>
      <p:sp>
        <p:nvSpPr>
          <p:cNvPr id="26" name="Shape 24"/>
          <p:cNvSpPr/>
          <p:nvPr/>
        </p:nvSpPr>
        <p:spPr>
          <a:xfrm>
            <a:off x="6949440" y="4050792"/>
            <a:ext cx="1097280" cy="274320"/>
          </a:xfrm>
          <a:prstGeom prst="roundRect">
            <a:avLst>
              <a:gd name="adj" fmla="val 50000"/>
            </a:avLst>
          </a:prstGeom>
          <a:solidFill>
            <a:srgbClr val="F59E0B"/>
          </a:solidFill>
          <a:ln w="12700">
            <a:solidFill>
              <a:srgbClr val="F59E0B"/>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90 dias</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 Comercial</a:t>
            </a:r>
            <a:endParaRPr lang="en-US" sz="900" dirty="0"/>
          </a:p>
        </p:txBody>
      </p:sp>
      <p:sp>
        <p:nvSpPr>
          <p:cNvPr id="29" name="Shape 27"/>
          <p:cNvSpPr/>
          <p:nvPr/>
        </p:nvSpPr>
        <p:spPr>
          <a:xfrm>
            <a:off x="365760" y="4736592"/>
            <a:ext cx="8412480" cy="274320"/>
          </a:xfrm>
          <a:prstGeom prst="roundRect">
            <a:avLst>
              <a:gd name="adj" fmla="val 33333"/>
            </a:avLst>
          </a:prstGeom>
          <a:solidFill>
            <a:srgbClr val="FEF9C3"/>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92400E"/>
                </a:solidFill>
                <a:latin typeface="Calibri" pitchFamily="34" charset="0"/>
                <a:ea typeface="Calibri" pitchFamily="34" charset="-122"/>
                <a:cs typeface="Calibri" pitchFamily="34" charset="-120"/>
              </a:rPr>
              <a:t>Contexto real (Zendesk 10-jul): 26 tickets abiertos, 50% son pedidos sin llegar al ERP. 3 tickets con &gt;30 dias. Sin protocolo CS → Soporte, cada incidente consume tiempo proactivo del CSM.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7C3AED"/>
                </a:solidFill>
                <a:latin typeface="Calibri" pitchFamily="34" charset="0"/>
                <a:ea typeface="Calibri" pitchFamily="34" charset="-122"/>
                <a:cs typeface="Calibri" pitchFamily="34" charset="-120"/>
              </a:rPr>
              <a:t>OKR 4</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Migracion Centry a AnyMarket</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Completar la migracion de los 6 clientes Centry con un plan estructurado y ownership definido</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KR 4.1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Alinear con PM (Persefone) el cronograma firme de migracion por cliente y validar avance semanal desde CS</a:t>
            </a:r>
            <a:endParaRPr lang="en-US" sz="1300" dirty="0"/>
          </a:p>
        </p:txBody>
      </p:sp>
      <p:sp>
        <p:nvSpPr>
          <p:cNvPr id="8" name="Shape 6"/>
          <p:cNvSpPr/>
          <p:nvPr/>
        </p:nvSpPr>
        <p:spPr>
          <a:xfrm>
            <a:off x="6949440" y="1664208"/>
            <a:ext cx="1097280" cy="274320"/>
          </a:xfrm>
          <a:prstGeom prst="roundRect">
            <a:avLst>
              <a:gd name="adj" fmla="val 50000"/>
            </a:avLst>
          </a:prstGeom>
          <a:solidFill>
            <a:srgbClr val="7C3AED"/>
          </a:solidFill>
          <a:ln w="12700">
            <a:solidFill>
              <a:srgbClr val="7C3AED"/>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Seguimiento</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 PM</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KR 4.2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Resolver bloqueo de integracion con marketplace externo con fecha comprometida antes de agosto 2026</a:t>
            </a:r>
            <a:endParaRPr lang="en-US" sz="1300" dirty="0"/>
          </a:p>
        </p:txBody>
      </p:sp>
      <p:sp>
        <p:nvSpPr>
          <p:cNvPr id="14" name="Shape 12"/>
          <p:cNvSpPr/>
          <p:nvPr/>
        </p:nvSpPr>
        <p:spPr>
          <a:xfrm>
            <a:off x="6949440" y="2459736"/>
            <a:ext cx="1097280" cy="274320"/>
          </a:xfrm>
          <a:prstGeom prst="roundRect">
            <a:avLst>
              <a:gd name="adj" fmla="val 50000"/>
            </a:avLst>
          </a:prstGeom>
          <a:solidFill>
            <a:srgbClr val="7C3AED"/>
          </a:solidFill>
          <a:ln w="12700">
            <a:solidFill>
              <a:srgbClr val="7C3AED"/>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ago 2026</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PM + CS</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KR 4.3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Al menos 3 de los 6 clientes Centry migrados y operando en AnyMarket antes de octubre 2026</a:t>
            </a:r>
            <a:endParaRPr lang="en-US" sz="1300" dirty="0"/>
          </a:p>
        </p:txBody>
      </p:sp>
      <p:sp>
        <p:nvSpPr>
          <p:cNvPr id="20" name="Shape 18"/>
          <p:cNvSpPr/>
          <p:nvPr/>
        </p:nvSpPr>
        <p:spPr>
          <a:xfrm>
            <a:off x="6949440" y="3255264"/>
            <a:ext cx="1097280" cy="274320"/>
          </a:xfrm>
          <a:prstGeom prst="roundRect">
            <a:avLst>
              <a:gd name="adj" fmla="val 50000"/>
            </a:avLst>
          </a:prstGeom>
          <a:solidFill>
            <a:srgbClr val="7C3AED"/>
          </a:solidFill>
          <a:ln w="12700">
            <a:solidFill>
              <a:srgbClr val="7C3AED"/>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migrados</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PM + CS</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KR 4.4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Cada cliente migrado debe tener adoption plan desde dia 1 — meta: 20% UP en primer mes</a:t>
            </a:r>
            <a:endParaRPr lang="en-US" sz="1300" dirty="0"/>
          </a:p>
        </p:txBody>
      </p:sp>
      <p:sp>
        <p:nvSpPr>
          <p:cNvPr id="26" name="Shape 24"/>
          <p:cNvSpPr/>
          <p:nvPr/>
        </p:nvSpPr>
        <p:spPr>
          <a:xfrm>
            <a:off x="6949440" y="4050792"/>
            <a:ext cx="1097280" cy="274320"/>
          </a:xfrm>
          <a:prstGeom prst="roundRect">
            <a:avLst>
              <a:gd name="adj" fmla="val 50000"/>
            </a:avLst>
          </a:prstGeom>
          <a:solidFill>
            <a:srgbClr val="7C3AED"/>
          </a:solidFill>
          <a:ln w="12700">
            <a:solidFill>
              <a:srgbClr val="7C3AED"/>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 UP mes1</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CSM resp.</a:t>
            </a:r>
            <a:endParaRPr lang="en-US" sz="900" dirty="0"/>
          </a:p>
        </p:txBody>
      </p:sp>
      <p:sp>
        <p:nvSpPr>
          <p:cNvPr id="29" name="Shape 27"/>
          <p:cNvSpPr/>
          <p:nvPr/>
        </p:nvSpPr>
        <p:spPr>
          <a:xfrm>
            <a:off x="365760" y="4736592"/>
            <a:ext cx="8412480" cy="274320"/>
          </a:xfrm>
          <a:prstGeom prst="roundRect">
            <a:avLst>
              <a:gd name="adj" fmla="val 33333"/>
            </a:avLst>
          </a:prstGeom>
          <a:solidFill>
            <a:srgbClr val="F5F3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5B21B6"/>
                </a:solidFill>
                <a:latin typeface="Calibri" pitchFamily="34" charset="0"/>
                <a:ea typeface="Calibri" pitchFamily="34" charset="-122"/>
                <a:cs typeface="Calibri" pitchFamily="34" charset="-120"/>
              </a:rPr>
              <a:t>Los 6 clientes Centry representan el mayor potencial de nuevo GMV del semestre. Hoy son invisibles para CS. Migrarlos desbloquea adopcion, health score y expansion.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F2A71B"/>
                </a:solidFill>
                <a:latin typeface="Calibri" pitchFamily="34" charset="0"/>
                <a:ea typeface="Calibri" pitchFamily="34" charset="-122"/>
                <a:cs typeface="Calibri" pitchFamily="34" charset="-120"/>
              </a:rPr>
              <a:t>OKR 5</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Expansion Comprobada con AnyTools</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Generar expansion de revenue real usando AnyTools como propuesta de valor comprobada en clientes con alta adopcion</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5.1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Presentar propuesta Predize a los 3 clientes con mayor adopcion UP y mayor volumen en Mercado Libre</a:t>
            </a:r>
            <a:endParaRPr lang="en-US" sz="1300" dirty="0"/>
          </a:p>
        </p:txBody>
      </p:sp>
      <p:sp>
        <p:nvSpPr>
          <p:cNvPr id="8" name="Shape 6"/>
          <p:cNvSpPr/>
          <p:nvPr/>
        </p:nvSpPr>
        <p:spPr>
          <a:xfrm>
            <a:off x="6949440" y="1664208"/>
            <a:ext cx="1097280" cy="274320"/>
          </a:xfrm>
          <a:prstGeom prst="roundRect">
            <a:avLst>
              <a:gd name="adj" fmla="val 50000"/>
            </a:avLst>
          </a:prstGeom>
          <a:solidFill>
            <a:srgbClr val="D4920F"/>
          </a:solidFill>
          <a:ln w="12700">
            <a:solidFill>
              <a:srgbClr val="D4920F"/>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propuestas</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CSM resp.</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5.2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Realizar minimo 3 QBRs con cuentas Enterprise antes de diciembre 2026</a:t>
            </a:r>
            <a:endParaRPr lang="en-US" sz="1300" dirty="0"/>
          </a:p>
        </p:txBody>
      </p:sp>
      <p:sp>
        <p:nvSpPr>
          <p:cNvPr id="14" name="Shape 12"/>
          <p:cNvSpPr/>
          <p:nvPr/>
        </p:nvSpPr>
        <p:spPr>
          <a:xfrm>
            <a:off x="6949440" y="2459736"/>
            <a:ext cx="1097280" cy="274320"/>
          </a:xfrm>
          <a:prstGeom prst="roundRect">
            <a:avLst>
              <a:gd name="adj" fmla="val 50000"/>
            </a:avLst>
          </a:prstGeom>
          <a:solidFill>
            <a:srgbClr val="D4920F"/>
          </a:solidFill>
          <a:ln w="12700">
            <a:solidFill>
              <a:srgbClr val="D4920F"/>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QBRs</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CSM senior</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5.3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Cerrar minimo 2 nuevos contratos AnyTools en H2 2026</a:t>
            </a:r>
            <a:endParaRPr lang="en-US" sz="1300" dirty="0"/>
          </a:p>
        </p:txBody>
      </p:sp>
      <p:sp>
        <p:nvSpPr>
          <p:cNvPr id="20" name="Shape 18"/>
          <p:cNvSpPr/>
          <p:nvPr/>
        </p:nvSpPr>
        <p:spPr>
          <a:xfrm>
            <a:off x="6949440" y="3255264"/>
            <a:ext cx="1097280" cy="274320"/>
          </a:xfrm>
          <a:prstGeom prst="roundRect">
            <a:avLst>
              <a:gd name="adj" fmla="val 50000"/>
            </a:avLst>
          </a:prstGeom>
          <a:solidFill>
            <a:srgbClr val="D4920F"/>
          </a:solidFill>
          <a:ln w="12700">
            <a:solidFill>
              <a:srgbClr val="D4920F"/>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contratos</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 Comercial</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5.4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Definir proceso formal CS -&gt; Comercial para oportunidades de expansion con SLA de handoff claro</a:t>
            </a:r>
            <a:endParaRPr lang="en-US" sz="1300" dirty="0"/>
          </a:p>
        </p:txBody>
      </p:sp>
      <p:sp>
        <p:nvSpPr>
          <p:cNvPr id="26" name="Shape 24"/>
          <p:cNvSpPr/>
          <p:nvPr/>
        </p:nvSpPr>
        <p:spPr>
          <a:xfrm>
            <a:off x="6949440" y="4050792"/>
            <a:ext cx="1097280" cy="274320"/>
          </a:xfrm>
          <a:prstGeom prst="roundRect">
            <a:avLst>
              <a:gd name="adj" fmla="val 50000"/>
            </a:avLst>
          </a:prstGeom>
          <a:solidFill>
            <a:srgbClr val="D4920F"/>
          </a:solidFill>
          <a:ln w="12700">
            <a:solidFill>
              <a:srgbClr val="D4920F"/>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Proceso doc.</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Lead</a:t>
            </a:r>
            <a:endParaRPr lang="en-US" sz="900" dirty="0"/>
          </a:p>
        </p:txBody>
      </p:sp>
      <p:sp>
        <p:nvSpPr>
          <p:cNvPr id="29" name="Shape 27"/>
          <p:cNvSpPr/>
          <p:nvPr/>
        </p:nvSpPr>
        <p:spPr>
          <a:xfrm>
            <a:off x="365760" y="4736592"/>
            <a:ext cx="8412480" cy="274320"/>
          </a:xfrm>
          <a:prstGeom prst="roundRect">
            <a:avLst>
              <a:gd name="adj" fmla="val 33333"/>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92400E"/>
                </a:solidFill>
                <a:latin typeface="Calibri" pitchFamily="34" charset="0"/>
                <a:ea typeface="Calibri" pitchFamily="34" charset="-122"/>
                <a:cs typeface="Calibri" pitchFamily="34" charset="-120"/>
              </a:rPr>
              <a:t>OKR 5 requiere que OKRs 1, 2 y 3 esten en marcha. Un cliente con alta adopcion y cuenta estable es el mejor punto de entrada para Predize y AnyTools.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PLAN DE ACCION — 90 DIAS</a:t>
            </a:r>
            <a:endParaRPr lang="en-US" sz="1000" dirty="0"/>
          </a:p>
        </p:txBody>
      </p:sp>
      <p:sp>
        <p:nvSpPr>
          <p:cNvPr id="3" name="Text 1"/>
          <p:cNvSpPr/>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0F2137"/>
                </a:solidFill>
                <a:latin typeface="Calibri" pitchFamily="34" charset="0"/>
                <a:ea typeface="Calibri" pitchFamily="34" charset="-122"/>
                <a:cs typeface="Calibri" pitchFamily="34" charset="-120"/>
              </a:rPr>
              <a:t>Julio → Septiembre 2026</a:t>
            </a:r>
            <a:endParaRPr lang="en-US" sz="2600" dirty="0"/>
          </a:p>
        </p:txBody>
      </p:sp>
      <p:sp>
        <p:nvSpPr>
          <p:cNvPr id="4" name="Shape 2"/>
          <p:cNvSpPr/>
          <p:nvPr/>
        </p:nvSpPr>
        <p:spPr>
          <a:xfrm>
            <a:off x="320040" y="1024128"/>
            <a:ext cx="2788920" cy="3913632"/>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5" name="Shape 3"/>
          <p:cNvSpPr/>
          <p:nvPr/>
        </p:nvSpPr>
        <p:spPr>
          <a:xfrm>
            <a:off x="320040" y="1024128"/>
            <a:ext cx="2788920" cy="384048"/>
          </a:xfrm>
          <a:prstGeom prst="roundRect">
            <a:avLst>
              <a:gd name="adj" fmla="val 23810"/>
            </a:avLst>
          </a:prstGeom>
          <a:solidFill>
            <a:srgbClr val="EF4444"/>
          </a:solidFill>
          <a:ln w="12700">
            <a:solidFill>
              <a:srgbClr val="EF4444"/>
            </a:solidFill>
            <a:prstDash val="solid"/>
          </a:ln>
        </p:spPr>
      </p:sp>
      <p:sp>
        <p:nvSpPr>
          <p:cNvPr id="6" name="Text 4"/>
          <p:cNvSpPr/>
          <p:nvPr/>
        </p:nvSpPr>
        <p:spPr>
          <a:xfrm>
            <a:off x="320040" y="1024128"/>
            <a:ext cx="27889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JULIO — EMERGENCIAS</a:t>
            </a:r>
            <a:endParaRPr lang="en-US" sz="1200" dirty="0"/>
          </a:p>
        </p:txBody>
      </p:sp>
      <p:sp>
        <p:nvSpPr>
          <p:cNvPr id="7" name="Shape 5"/>
          <p:cNvSpPr/>
          <p:nvPr/>
        </p:nvSpPr>
        <p:spPr>
          <a:xfrm>
            <a:off x="484632" y="1645920"/>
            <a:ext cx="137160" cy="137160"/>
          </a:xfrm>
          <a:prstGeom prst="ellipse">
            <a:avLst/>
          </a:prstGeom>
          <a:solidFill>
            <a:srgbClr val="EF4444"/>
          </a:solidFill>
          <a:ln w="12700">
            <a:solidFill>
              <a:srgbClr val="EF4444"/>
            </a:solidFill>
            <a:prstDash val="solid"/>
          </a:ln>
        </p:spPr>
      </p:sp>
      <p:sp>
        <p:nvSpPr>
          <p:cNvPr id="8" name="Text 6"/>
          <p:cNvSpPr/>
          <p:nvPr/>
        </p:nvSpPr>
        <p:spPr>
          <a:xfrm>
            <a:off x="704088" y="1517904"/>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Planes recuperacion NPS negativo</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 primera accion esta semana</a:t>
            </a:r>
            <a:endParaRPr lang="en-US" sz="1100" dirty="0"/>
          </a:p>
        </p:txBody>
      </p:sp>
      <p:sp>
        <p:nvSpPr>
          <p:cNvPr id="9" name="Shape 7"/>
          <p:cNvSpPr/>
          <p:nvPr/>
        </p:nvSpPr>
        <p:spPr>
          <a:xfrm>
            <a:off x="484632" y="2459736"/>
            <a:ext cx="137160" cy="137160"/>
          </a:xfrm>
          <a:prstGeom prst="ellipse">
            <a:avLst/>
          </a:prstGeom>
          <a:solidFill>
            <a:srgbClr val="EF4444"/>
          </a:solidFill>
          <a:ln w="12700">
            <a:solidFill>
              <a:srgbClr val="EF4444"/>
            </a:solidFill>
            <a:prstDash val="solid"/>
          </a:ln>
        </p:spPr>
      </p:sp>
      <p:sp>
        <p:nvSpPr>
          <p:cNvPr id="10" name="Text 8"/>
          <p:cNvSpPr/>
          <p:nvPr/>
        </p:nvSpPr>
        <p:spPr>
          <a:xfrm>
            <a:off x="704088" y="2331720"/>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Follow-up BEITGROUP PE y MAUI</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 tickets criticos activos</a:t>
            </a:r>
            <a:endParaRPr lang="en-US" sz="1100" dirty="0"/>
          </a:p>
        </p:txBody>
      </p:sp>
      <p:sp>
        <p:nvSpPr>
          <p:cNvPr id="11" name="Shape 9"/>
          <p:cNvSpPr/>
          <p:nvPr/>
        </p:nvSpPr>
        <p:spPr>
          <a:xfrm>
            <a:off x="484632" y="3273552"/>
            <a:ext cx="137160" cy="137160"/>
          </a:xfrm>
          <a:prstGeom prst="ellipse">
            <a:avLst/>
          </a:prstGeom>
          <a:solidFill>
            <a:srgbClr val="EF4444"/>
          </a:solidFill>
          <a:ln w="12700">
            <a:solidFill>
              <a:srgbClr val="EF4444"/>
            </a:solidFill>
            <a:prstDash val="solid"/>
          </a:ln>
        </p:spPr>
      </p:sp>
      <p:sp>
        <p:nvSpPr>
          <p:cNvPr id="12" name="Text 10"/>
          <p:cNvSpPr/>
          <p:nvPr/>
        </p:nvSpPr>
        <p:spPr>
          <a:xfrm>
            <a:off x="704088" y="3145536"/>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Escalar bloqueo integracion</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con PM Persefone — fecha firme</a:t>
            </a:r>
            <a:endParaRPr lang="en-US" sz="1100" dirty="0"/>
          </a:p>
        </p:txBody>
      </p:sp>
      <p:sp>
        <p:nvSpPr>
          <p:cNvPr id="13" name="Shape 11"/>
          <p:cNvSpPr/>
          <p:nvPr/>
        </p:nvSpPr>
        <p:spPr>
          <a:xfrm>
            <a:off x="484632" y="4087368"/>
            <a:ext cx="137160" cy="137160"/>
          </a:xfrm>
          <a:prstGeom prst="ellipse">
            <a:avLst/>
          </a:prstGeom>
          <a:solidFill>
            <a:srgbClr val="EF4444"/>
          </a:solidFill>
          <a:ln w="12700">
            <a:solidFill>
              <a:srgbClr val="EF4444"/>
            </a:solidFill>
            <a:prstDash val="solid"/>
          </a:ln>
        </p:spPr>
      </p:sp>
      <p:sp>
        <p:nvSpPr>
          <p:cNvPr id="14" name="Text 12"/>
          <p:cNvSpPr/>
          <p:nvPr/>
        </p:nvSpPr>
        <p:spPr>
          <a:xfrm>
            <a:off x="704088" y="3959352"/>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Consultar GMV Power BI +</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NPS TrackSale cartera completa</a:t>
            </a:r>
            <a:endParaRPr lang="en-US" sz="1100" dirty="0"/>
          </a:p>
        </p:txBody>
      </p:sp>
      <p:sp>
        <p:nvSpPr>
          <p:cNvPr id="15" name="Shape 13"/>
          <p:cNvSpPr/>
          <p:nvPr/>
        </p:nvSpPr>
        <p:spPr>
          <a:xfrm>
            <a:off x="3246120" y="1024128"/>
            <a:ext cx="2788920" cy="3913632"/>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6" name="Shape 14"/>
          <p:cNvSpPr/>
          <p:nvPr/>
        </p:nvSpPr>
        <p:spPr>
          <a:xfrm>
            <a:off x="3246120" y="1024128"/>
            <a:ext cx="2788920" cy="384048"/>
          </a:xfrm>
          <a:prstGeom prst="roundRect">
            <a:avLst>
              <a:gd name="adj" fmla="val 23810"/>
            </a:avLst>
          </a:prstGeom>
          <a:solidFill>
            <a:srgbClr val="F59E0B"/>
          </a:solidFill>
          <a:ln w="12700">
            <a:solidFill>
              <a:srgbClr val="F59E0B"/>
            </a:solidFill>
            <a:prstDash val="solid"/>
          </a:ln>
        </p:spPr>
      </p:sp>
      <p:sp>
        <p:nvSpPr>
          <p:cNvPr id="17" name="Text 15"/>
          <p:cNvSpPr/>
          <p:nvPr/>
        </p:nvSpPr>
        <p:spPr>
          <a:xfrm>
            <a:off x="3246120" y="1024128"/>
            <a:ext cx="27889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AGOSTO — DATOS Y PROTOCOLO</a:t>
            </a:r>
            <a:endParaRPr lang="en-US" sz="1200" dirty="0"/>
          </a:p>
        </p:txBody>
      </p:sp>
      <p:sp>
        <p:nvSpPr>
          <p:cNvPr id="18" name="Shape 16"/>
          <p:cNvSpPr/>
          <p:nvPr/>
        </p:nvSpPr>
        <p:spPr>
          <a:xfrm>
            <a:off x="3410712" y="1645920"/>
            <a:ext cx="137160" cy="137160"/>
          </a:xfrm>
          <a:prstGeom prst="ellipse">
            <a:avLst/>
          </a:prstGeom>
          <a:solidFill>
            <a:srgbClr val="F59E0B"/>
          </a:solidFill>
          <a:ln w="12700">
            <a:solidFill>
              <a:srgbClr val="F59E0B"/>
            </a:solidFill>
            <a:prstDash val="solid"/>
          </a:ln>
        </p:spPr>
      </p:sp>
      <p:sp>
        <p:nvSpPr>
          <p:cNvPr id="19" name="Text 17"/>
          <p:cNvSpPr/>
          <p:nvPr/>
        </p:nvSpPr>
        <p:spPr>
          <a:xfrm>
            <a:off x="3630168" y="1517904"/>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Health Score real calculado</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para 100% de clientes activos</a:t>
            </a:r>
            <a:endParaRPr lang="en-US" sz="1100" dirty="0"/>
          </a:p>
        </p:txBody>
      </p:sp>
      <p:sp>
        <p:nvSpPr>
          <p:cNvPr id="20" name="Shape 18"/>
          <p:cNvSpPr/>
          <p:nvPr/>
        </p:nvSpPr>
        <p:spPr>
          <a:xfrm>
            <a:off x="3410712" y="2459736"/>
            <a:ext cx="137160" cy="137160"/>
          </a:xfrm>
          <a:prstGeom prst="ellipse">
            <a:avLst/>
          </a:prstGeom>
          <a:solidFill>
            <a:srgbClr val="F59E0B"/>
          </a:solidFill>
          <a:ln w="12700">
            <a:solidFill>
              <a:srgbClr val="F59E0B"/>
            </a:solidFill>
            <a:prstDash val="solid"/>
          </a:ln>
        </p:spPr>
      </p:sp>
      <p:sp>
        <p:nvSpPr>
          <p:cNvPr id="21" name="Text 19"/>
          <p:cNvSpPr/>
          <p:nvPr/>
        </p:nvSpPr>
        <p:spPr>
          <a:xfrm>
            <a:off x="3630168" y="2331720"/>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Protocolo CS → Soporte activo</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SLA &lt; 4h incidentes criticos</a:t>
            </a:r>
            <a:endParaRPr lang="en-US" sz="1100" dirty="0"/>
          </a:p>
        </p:txBody>
      </p:sp>
      <p:sp>
        <p:nvSpPr>
          <p:cNvPr id="22" name="Shape 20"/>
          <p:cNvSpPr/>
          <p:nvPr/>
        </p:nvSpPr>
        <p:spPr>
          <a:xfrm>
            <a:off x="3410712" y="3273552"/>
            <a:ext cx="137160" cy="137160"/>
          </a:xfrm>
          <a:prstGeom prst="ellipse">
            <a:avLst/>
          </a:prstGeom>
          <a:solidFill>
            <a:srgbClr val="F59E0B"/>
          </a:solidFill>
          <a:ln w="12700">
            <a:solidFill>
              <a:srgbClr val="F59E0B"/>
            </a:solidFill>
            <a:prstDash val="solid"/>
          </a:ln>
        </p:spPr>
      </p:sp>
      <p:sp>
        <p:nvSpPr>
          <p:cNvPr id="23" name="Text 21"/>
          <p:cNvSpPr/>
          <p:nvPr/>
        </p:nvSpPr>
        <p:spPr>
          <a:xfrm>
            <a:off x="3630168" y="3145536"/>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Activacion UP &lt; 15%:</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sesiones personalizadas documentadas</a:t>
            </a:r>
            <a:endParaRPr lang="en-US" sz="1100" dirty="0"/>
          </a:p>
        </p:txBody>
      </p:sp>
      <p:sp>
        <p:nvSpPr>
          <p:cNvPr id="24" name="Shape 22"/>
          <p:cNvSpPr/>
          <p:nvPr/>
        </p:nvSpPr>
        <p:spPr>
          <a:xfrm>
            <a:off x="3410712" y="4087368"/>
            <a:ext cx="137160" cy="137160"/>
          </a:xfrm>
          <a:prstGeom prst="ellipse">
            <a:avLst/>
          </a:prstGeom>
          <a:solidFill>
            <a:srgbClr val="F59E0B"/>
          </a:solidFill>
          <a:ln w="12700">
            <a:solidFill>
              <a:srgbClr val="F59E0B"/>
            </a:solidFill>
            <a:prstDash val="solid"/>
          </a:ln>
        </p:spPr>
      </p:sp>
      <p:sp>
        <p:nvSpPr>
          <p:cNvPr id="25" name="Text 23"/>
          <p:cNvSpPr/>
          <p:nvPr/>
        </p:nvSpPr>
        <p:spPr>
          <a:xfrm>
            <a:off x="3630168" y="3959352"/>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Checkpoint migracion Centry</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 validar avance con PM Persefone</a:t>
            </a:r>
            <a:endParaRPr lang="en-US" sz="1100" dirty="0"/>
          </a:p>
        </p:txBody>
      </p:sp>
      <p:sp>
        <p:nvSpPr>
          <p:cNvPr id="26" name="Shape 24"/>
          <p:cNvSpPr/>
          <p:nvPr/>
        </p:nvSpPr>
        <p:spPr>
          <a:xfrm>
            <a:off x="6172200" y="1024128"/>
            <a:ext cx="2788920" cy="3913632"/>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7" name="Shape 25"/>
          <p:cNvSpPr/>
          <p:nvPr/>
        </p:nvSpPr>
        <p:spPr>
          <a:xfrm>
            <a:off x="6172200" y="1024128"/>
            <a:ext cx="2788920" cy="384048"/>
          </a:xfrm>
          <a:prstGeom prst="roundRect">
            <a:avLst>
              <a:gd name="adj" fmla="val 23810"/>
            </a:avLst>
          </a:prstGeom>
          <a:solidFill>
            <a:srgbClr val="10B981"/>
          </a:solidFill>
          <a:ln w="12700">
            <a:solidFill>
              <a:srgbClr val="10B981"/>
            </a:solidFill>
            <a:prstDash val="solid"/>
          </a:ln>
        </p:spPr>
      </p:sp>
      <p:sp>
        <p:nvSpPr>
          <p:cNvPr id="28" name="Text 26"/>
          <p:cNvSpPr/>
          <p:nvPr/>
        </p:nvSpPr>
        <p:spPr>
          <a:xfrm>
            <a:off x="6172200" y="1024128"/>
            <a:ext cx="27889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SEPT — CRECER SOBRE BASE</a:t>
            </a:r>
            <a:endParaRPr lang="en-US" sz="1200" dirty="0"/>
          </a:p>
        </p:txBody>
      </p:sp>
      <p:sp>
        <p:nvSpPr>
          <p:cNvPr id="29" name="Shape 27"/>
          <p:cNvSpPr/>
          <p:nvPr/>
        </p:nvSpPr>
        <p:spPr>
          <a:xfrm>
            <a:off x="6336792" y="1645920"/>
            <a:ext cx="137160" cy="137160"/>
          </a:xfrm>
          <a:prstGeom prst="ellipse">
            <a:avLst/>
          </a:prstGeom>
          <a:solidFill>
            <a:srgbClr val="10B981"/>
          </a:solidFill>
          <a:ln w="12700">
            <a:solidFill>
              <a:srgbClr val="10B981"/>
            </a:solidFill>
            <a:prstDash val="solid"/>
          </a:ln>
        </p:spPr>
      </p:sp>
      <p:sp>
        <p:nvSpPr>
          <p:cNvPr id="30" name="Text 28"/>
          <p:cNvSpPr/>
          <p:nvPr/>
        </p:nvSpPr>
        <p:spPr>
          <a:xfrm>
            <a:off x="6556248" y="1517904"/>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QBR Enterprise — reunion ejecutiva</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con grupo de mayor expansion</a:t>
            </a:r>
            <a:endParaRPr lang="en-US" sz="1100" dirty="0"/>
          </a:p>
        </p:txBody>
      </p:sp>
      <p:sp>
        <p:nvSpPr>
          <p:cNvPr id="31" name="Shape 29"/>
          <p:cNvSpPr/>
          <p:nvPr/>
        </p:nvSpPr>
        <p:spPr>
          <a:xfrm>
            <a:off x="6336792" y="2459736"/>
            <a:ext cx="137160" cy="137160"/>
          </a:xfrm>
          <a:prstGeom prst="ellipse">
            <a:avLst/>
          </a:prstGeom>
          <a:solidFill>
            <a:srgbClr val="10B981"/>
          </a:solidFill>
          <a:ln w="12700">
            <a:solidFill>
              <a:srgbClr val="10B981"/>
            </a:solidFill>
            <a:prstDash val="solid"/>
          </a:ln>
        </p:spPr>
      </p:sp>
      <p:sp>
        <p:nvSpPr>
          <p:cNvPr id="32" name="Text 30"/>
          <p:cNvSpPr/>
          <p:nvPr/>
        </p:nvSpPr>
        <p:spPr>
          <a:xfrm>
            <a:off x="6556248" y="2331720"/>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Propuesta Predize: clientes con</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mayor adopcion y volumen ML</a:t>
            </a:r>
            <a:endParaRPr lang="en-US" sz="1100" dirty="0"/>
          </a:p>
        </p:txBody>
      </p:sp>
      <p:sp>
        <p:nvSpPr>
          <p:cNvPr id="33" name="Shape 31"/>
          <p:cNvSpPr/>
          <p:nvPr/>
        </p:nvSpPr>
        <p:spPr>
          <a:xfrm>
            <a:off x="6336792" y="3273552"/>
            <a:ext cx="137160" cy="137160"/>
          </a:xfrm>
          <a:prstGeom prst="ellipse">
            <a:avLst/>
          </a:prstGeom>
          <a:solidFill>
            <a:srgbClr val="10B981"/>
          </a:solidFill>
          <a:ln w="12700">
            <a:solidFill>
              <a:srgbClr val="10B981"/>
            </a:solidFill>
            <a:prstDash val="solid"/>
          </a:ln>
        </p:spPr>
      </p:sp>
      <p:sp>
        <p:nvSpPr>
          <p:cNvPr id="34" name="Text 32"/>
          <p:cNvSpPr/>
          <p:nvPr/>
        </p:nvSpPr>
        <p:spPr>
          <a:xfrm>
            <a:off x="6556248" y="3145536"/>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Medir delta adopcion:</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comparar julio vs septiembre UP%</a:t>
            </a:r>
            <a:endParaRPr lang="en-US" sz="1100" dirty="0"/>
          </a:p>
        </p:txBody>
      </p:sp>
      <p:sp>
        <p:nvSpPr>
          <p:cNvPr id="35" name="Shape 33"/>
          <p:cNvSpPr/>
          <p:nvPr/>
        </p:nvSpPr>
        <p:spPr>
          <a:xfrm>
            <a:off x="6336792" y="4087368"/>
            <a:ext cx="137160" cy="137160"/>
          </a:xfrm>
          <a:prstGeom prst="ellipse">
            <a:avLst/>
          </a:prstGeom>
          <a:solidFill>
            <a:srgbClr val="10B981"/>
          </a:solidFill>
          <a:ln w="12700">
            <a:solidFill>
              <a:srgbClr val="10B981"/>
            </a:solidFill>
            <a:prstDash val="solid"/>
          </a:ln>
        </p:spPr>
      </p:sp>
      <p:sp>
        <p:nvSpPr>
          <p:cNvPr id="36" name="Text 34"/>
          <p:cNvSpPr/>
          <p:nvPr/>
        </p:nvSpPr>
        <p:spPr>
          <a:xfrm>
            <a:off x="6556248" y="3959352"/>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Revision OKRs con Director:</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resultados H2 + ajuste Q4</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502920" y="347472"/>
            <a:ext cx="8229600" cy="320040"/>
          </a:xfrm>
          <a:prstGeom prst="rect">
            <a:avLst/>
          </a:prstGeom>
          <a:noFill/>
          <a:ln/>
        </p:spPr>
        <p:txBody>
          <a:bodyPr wrap="square" lIns="0" tIns="0" rIns="0" bIns="0" rtlCol="0" anchor="ctr"/>
          <a:lstStyle/>
          <a:p>
            <a:pPr indent="0" marL="0">
              <a:buNone/>
            </a:pPr>
            <a:r>
              <a:rPr lang="en-US" sz="1100" b="1" spc="500" kern="0" dirty="0">
                <a:solidFill>
                  <a:srgbClr val="F2A71B"/>
                </a:solidFill>
                <a:latin typeface="Calibri" pitchFamily="34" charset="0"/>
                <a:ea typeface="Calibri" pitchFamily="34" charset="-122"/>
                <a:cs typeface="Calibri" pitchFamily="34" charset="-120"/>
              </a:rPr>
              <a:t>LO QUE NECESITA EL EQUIPO</a:t>
            </a:r>
            <a:endParaRPr lang="en-US" sz="1100" dirty="0"/>
          </a:p>
        </p:txBody>
      </p:sp>
      <p:sp>
        <p:nvSpPr>
          <p:cNvPr id="5" name="Text 3"/>
          <p:cNvSpPr/>
          <p:nvPr/>
        </p:nvSpPr>
        <p:spPr>
          <a:xfrm>
            <a:off x="502920" y="658368"/>
            <a:ext cx="7315200" cy="80467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3 decisiones que solo puede</a:t>
            </a:r>
            <a:endParaRPr lang="en-US" sz="2200" dirty="0"/>
          </a:p>
          <a:p>
            <a:pPr indent="0" marL="0">
              <a:buNone/>
            </a:pPr>
            <a:r>
              <a:rPr lang="en-US" sz="2200" b="1" dirty="0">
                <a:solidFill>
                  <a:srgbClr val="FFFFFF"/>
                </a:solidFill>
                <a:latin typeface="Calibri" pitchFamily="34" charset="0"/>
                <a:ea typeface="Calibri" pitchFamily="34" charset="-122"/>
                <a:cs typeface="Calibri" pitchFamily="34" charset="-120"/>
              </a:rPr>
              <a:t>tomar la Direccion:</a:t>
            </a:r>
            <a:endParaRPr lang="en-US" sz="2200" dirty="0"/>
          </a:p>
        </p:txBody>
      </p:sp>
      <p:sp>
        <p:nvSpPr>
          <p:cNvPr id="6" name="Shape 4"/>
          <p:cNvSpPr/>
          <p:nvPr/>
        </p:nvSpPr>
        <p:spPr>
          <a:xfrm>
            <a:off x="365760" y="1508760"/>
            <a:ext cx="8412480" cy="932688"/>
          </a:xfrm>
          <a:prstGeom prst="roundRect">
            <a:avLst>
              <a:gd name="adj" fmla="val 9804"/>
            </a:avLst>
          </a:prstGeom>
          <a:solidFill>
            <a:srgbClr val="162840"/>
          </a:solidFill>
          <a:ln w="15240">
            <a:solidFill>
              <a:srgbClr val="7C3AED"/>
            </a:solidFill>
            <a:prstDash val="solid"/>
          </a:ln>
        </p:spPr>
      </p:sp>
      <p:sp>
        <p:nvSpPr>
          <p:cNvPr id="7" name="Text 5"/>
          <p:cNvSpPr/>
          <p:nvPr/>
        </p:nvSpPr>
        <p:spPr>
          <a:xfrm>
            <a:off x="530352" y="1709928"/>
            <a:ext cx="475488" cy="457200"/>
          </a:xfrm>
          <a:prstGeom prst="rect">
            <a:avLst/>
          </a:prstGeom>
          <a:noFill/>
          <a:ln/>
        </p:spPr>
        <p:txBody>
          <a:bodyPr wrap="square" lIns="0" tIns="0" rIns="0" bIns="0" rtlCol="0" anchor="ctr"/>
          <a:lstStyle/>
          <a:p>
            <a:pPr indent="0" marL="0">
              <a:buNone/>
            </a:pPr>
            <a:r>
              <a:rPr lang="en-US" sz="2600" b="1" dirty="0">
                <a:solidFill>
                  <a:srgbClr val="7C3AED"/>
                </a:solidFill>
                <a:latin typeface="Calibri" pitchFamily="34" charset="0"/>
                <a:ea typeface="Calibri" pitchFamily="34" charset="-122"/>
                <a:cs typeface="Calibri" pitchFamily="34" charset="-120"/>
              </a:rPr>
              <a:t>01</a:t>
            </a:r>
            <a:endParaRPr lang="en-US" sz="2600" dirty="0"/>
          </a:p>
        </p:txBody>
      </p:sp>
      <p:sp>
        <p:nvSpPr>
          <p:cNvPr id="8" name="Text 6"/>
          <p:cNvSpPr/>
          <p:nvPr/>
        </p:nvSpPr>
        <p:spPr>
          <a:xfrm>
            <a:off x="1115568" y="1618488"/>
            <a:ext cx="7406640" cy="7132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El cronograma de migracion Centry esta comprometido con PM Persefone. Que nivel de soporte necesita CS para garantizar que los 6 clientes migrados esten operativos en AnyMarket antes de Q4?</a:t>
            </a:r>
            <a:endParaRPr lang="en-US" sz="1250" dirty="0"/>
          </a:p>
        </p:txBody>
      </p:sp>
      <p:sp>
        <p:nvSpPr>
          <p:cNvPr id="9" name="Shape 7"/>
          <p:cNvSpPr/>
          <p:nvPr/>
        </p:nvSpPr>
        <p:spPr>
          <a:xfrm>
            <a:off x="365760" y="2587752"/>
            <a:ext cx="8412480" cy="932688"/>
          </a:xfrm>
          <a:prstGeom prst="roundRect">
            <a:avLst>
              <a:gd name="adj" fmla="val 9804"/>
            </a:avLst>
          </a:prstGeom>
          <a:solidFill>
            <a:srgbClr val="162840"/>
          </a:solidFill>
          <a:ln w="15240">
            <a:solidFill>
              <a:srgbClr val="F59E0B"/>
            </a:solidFill>
            <a:prstDash val="solid"/>
          </a:ln>
        </p:spPr>
      </p:sp>
      <p:sp>
        <p:nvSpPr>
          <p:cNvPr id="10" name="Text 8"/>
          <p:cNvSpPr/>
          <p:nvPr/>
        </p:nvSpPr>
        <p:spPr>
          <a:xfrm>
            <a:off x="530352" y="2788920"/>
            <a:ext cx="475488" cy="457200"/>
          </a:xfrm>
          <a:prstGeom prst="rect">
            <a:avLst/>
          </a:prstGeom>
          <a:noFill/>
          <a:ln/>
        </p:spPr>
        <p:txBody>
          <a:bodyPr wrap="square" lIns="0" tIns="0" rIns="0" bIns="0"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02</a:t>
            </a:r>
            <a:endParaRPr lang="en-US" sz="2600" dirty="0"/>
          </a:p>
        </p:txBody>
      </p:sp>
      <p:sp>
        <p:nvSpPr>
          <p:cNvPr id="11" name="Text 9"/>
          <p:cNvSpPr/>
          <p:nvPr/>
        </p:nvSpPr>
        <p:spPr>
          <a:xfrm>
            <a:off x="1115568" y="2697480"/>
            <a:ext cx="7406640" cy="7132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Que proporcion del tiempo del CSM es proactivo vs. reactivo? Sin definir ese limite, los OKRs de adopcion y expansion siempre perderan contra la urgencia de los tickets.</a:t>
            </a:r>
            <a:endParaRPr lang="en-US" sz="1250" dirty="0"/>
          </a:p>
        </p:txBody>
      </p:sp>
      <p:sp>
        <p:nvSpPr>
          <p:cNvPr id="12" name="Shape 10"/>
          <p:cNvSpPr/>
          <p:nvPr/>
        </p:nvSpPr>
        <p:spPr>
          <a:xfrm>
            <a:off x="365760" y="3666744"/>
            <a:ext cx="8412480" cy="932688"/>
          </a:xfrm>
          <a:prstGeom prst="roundRect">
            <a:avLst>
              <a:gd name="adj" fmla="val 9804"/>
            </a:avLst>
          </a:prstGeom>
          <a:solidFill>
            <a:srgbClr val="162840"/>
          </a:solidFill>
          <a:ln w="15240">
            <a:solidFill>
              <a:srgbClr val="F2A71B"/>
            </a:solidFill>
            <a:prstDash val="solid"/>
          </a:ln>
        </p:spPr>
      </p:sp>
      <p:sp>
        <p:nvSpPr>
          <p:cNvPr id="13" name="Text 11"/>
          <p:cNvSpPr/>
          <p:nvPr/>
        </p:nvSpPr>
        <p:spPr>
          <a:xfrm>
            <a:off x="530352" y="3867912"/>
            <a:ext cx="475488" cy="457200"/>
          </a:xfrm>
          <a:prstGeom prst="rect">
            <a:avLst/>
          </a:prstGeom>
          <a:noFill/>
          <a:ln/>
        </p:spPr>
        <p:txBody>
          <a:bodyPr wrap="square" lIns="0" tIns="0" rIns="0" bIns="0" rtlCol="0" anchor="ctr"/>
          <a:lstStyle/>
          <a:p>
            <a:pPr indent="0" marL="0">
              <a:buNone/>
            </a:pPr>
            <a:r>
              <a:rPr lang="en-US" sz="2600" b="1" dirty="0">
                <a:solidFill>
                  <a:srgbClr val="F2A71B"/>
                </a:solidFill>
                <a:latin typeface="Calibri" pitchFamily="34" charset="0"/>
                <a:ea typeface="Calibri" pitchFamily="34" charset="-122"/>
                <a:cs typeface="Calibri" pitchFamily="34" charset="-120"/>
              </a:rPr>
              <a:t>03</a:t>
            </a:r>
            <a:endParaRPr lang="en-US" sz="2600" dirty="0"/>
          </a:p>
        </p:txBody>
      </p:sp>
      <p:sp>
        <p:nvSpPr>
          <p:cNvPr id="14" name="Text 12"/>
          <p:cNvSpPr/>
          <p:nvPr/>
        </p:nvSpPr>
        <p:spPr>
          <a:xfrm>
            <a:off x="1115568" y="3776472"/>
            <a:ext cx="7406640" cy="7132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Vamos a definir el proceso formal CS - Comercial para expansion en H2? Sin eso, cada oportunidad que detecta CS muere antes de llegar a un contrato.</a:t>
            </a:r>
            <a:endParaRPr lang="en-US" sz="1250" dirty="0"/>
          </a:p>
        </p:txBody>
      </p:sp>
      <p:sp>
        <p:nvSpPr>
          <p:cNvPr id="15" name="Text 13"/>
          <p:cNvSpPr/>
          <p:nvPr/>
        </p:nvSpPr>
        <p:spPr>
          <a:xfrm>
            <a:off x="457200" y="4873752"/>
            <a:ext cx="8229600" cy="228600"/>
          </a:xfrm>
          <a:prstGeom prst="rect">
            <a:avLst/>
          </a:prstGeom>
          <a:noFill/>
          <a:ln/>
        </p:spPr>
        <p:txBody>
          <a:bodyPr wrap="square" lIns="0" tIns="0" rIns="0" bIns="0" rtlCol="0" anchor="ctr"/>
          <a:lstStyle/>
          <a:p>
            <a:pPr algn="ctr" indent="0" marL="0">
              <a:buNone/>
            </a:pPr>
            <a:r>
              <a:rPr lang="en-US" sz="1100" dirty="0">
                <a:solidFill>
                  <a:srgbClr val="7B93AA"/>
                </a:solidFill>
                <a:latin typeface="Calibri" pitchFamily="34" charset="0"/>
                <a:ea typeface="Calibri" pitchFamily="34" charset="-122"/>
                <a:cs typeface="Calibri" pitchFamily="34" charset="-120"/>
              </a:rPr>
              <a:t>AnyMarket LATAM  ·  Customer Success  ·  H2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OKRs CS AnyMarket LATAM H2 2026 — Basado en datos reales</dc:title>
  <dc:subject>PptxGenJS Presentation</dc:subject>
  <dc:creator>CS AnyMarket LATAM</dc:creator>
  <cp:lastModifiedBy>CS AnyMarket LATAM</cp:lastModifiedBy>
  <cp:revision>1</cp:revision>
  <dcterms:created xsi:type="dcterms:W3CDTF">2026-07-10T13:41:49Z</dcterms:created>
  <dcterms:modified xsi:type="dcterms:W3CDTF">2026-07-10T13:41:49Z</dcterms:modified>
</cp:coreProperties>
</file>